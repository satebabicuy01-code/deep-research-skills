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Payback (bulan)</c:v>
                </c:pt>
              </c:strCache>
            </c:strRef>
          </c:tx>
          <c:spPr>
            <a:solidFill>
              <a:srgbClr val="0D3B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3B4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3B4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A02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Flagship</c:v>
                  </c:pt>
                  <c:pt idx="1">
                    <c:v>Krisbow Pro</c:v>
                  </c:pt>
                  <c:pt idx="2">
                    <c:v>Express</c:v>
                  </c:pt>
                  <c:pt idx="3">
                    <c:v>Studio</c:v>
                  </c:pt>
                  <c:pt idx="4">
                    <c:v>Kiosk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16</c:v>
                </c:pt>
                <c:pt idx="2">
                  <c:v>24</c:v>
                </c:pt>
                <c:pt idx="3">
                  <c:v>14</c:v>
                </c:pt>
                <c:pt idx="4">
                  <c:v>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3B4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3B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E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2011680"/>
            <a:ext cx="5029200" cy="5029200"/>
          </a:xfrm>
          <a:prstGeom prst="ellipse">
            <a:avLst/>
          </a:prstGeom>
          <a:solidFill>
            <a:srgbClr val="03263A"/>
          </a:solidFill>
          <a:ln w="12700">
            <a:solidFill>
              <a:srgbClr val="0326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1371600"/>
            <a:ext cx="4114800" cy="4114800"/>
          </a:xfrm>
          <a:prstGeom prst="ellipse">
            <a:avLst/>
          </a:prstGeom>
          <a:solidFill>
            <a:srgbClr val="053D52"/>
          </a:solidFill>
          <a:ln w="12700">
            <a:solidFill>
              <a:srgbClr val="053D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-640080"/>
            <a:ext cx="2926080" cy="2926080"/>
          </a:xfrm>
          <a:prstGeom prst="ellipse">
            <a:avLst/>
          </a:prstGeom>
          <a:solidFill>
            <a:srgbClr val="076180"/>
          </a:solidFill>
          <a:ln w="12700">
            <a:solidFill>
              <a:srgbClr val="0761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57400"/>
            <a:ext cx="82296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KAWAN LAMA GROUP  |  SITE DEVELOPMENT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Ekspansi Cerdas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KLG 2025–2027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57200" y="38587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8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Multi-Format  ·  Hub &amp; Spoke  ·  Kekayaan Owner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Internal Strategy</a:t>
            </a:r>
            <a:endParaRPr lang="en-US" sz="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5486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Hambatan Utama Ekspansi KLG Saat Ini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27432"/>
          </a:xfrm>
          <a:prstGeom prst="rect">
            <a:avLst/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26517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2651760" cy="777240"/>
          </a:xfrm>
          <a:prstGeom prst="rect">
            <a:avLst/>
          </a:prstGeom>
          <a:solidFill>
            <a:srgbClr val="E03535"/>
          </a:solidFill>
          <a:ln w="12700">
            <a:solidFill>
              <a:srgbClr val="E035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033272"/>
            <a:ext cx="640080" cy="640080"/>
          </a:xfrm>
          <a:prstGeom prst="ellipse">
            <a:avLst/>
          </a:prstGeom>
          <a:solidFill>
            <a:srgbClr val="C02828"/>
          </a:solidFill>
          <a:ln w="12700">
            <a:solidFill>
              <a:srgbClr val="C0282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129284"/>
            <a:ext cx="448056" cy="44805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033272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" y="184708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Luas Minimum Susah Dicari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21208" y="2331720"/>
            <a:ext cx="24323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AZKO butuh &gt;1,000 m²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Sulit di ruko tier 2-3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Mall premium sudah jenuh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246120" y="960120"/>
            <a:ext cx="26517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46120" y="960120"/>
            <a:ext cx="2651760" cy="777240"/>
          </a:xfrm>
          <a:prstGeom prst="rect">
            <a:avLst/>
          </a:prstGeom>
          <a:solidFill>
            <a:srgbClr val="E07A20"/>
          </a:solidFill>
          <a:ln w="12700">
            <a:solidFill>
              <a:srgbClr val="E07A2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584448" y="1033272"/>
            <a:ext cx="640080" cy="640080"/>
          </a:xfrm>
          <a:prstGeom prst="ellipse">
            <a:avLst/>
          </a:prstGeom>
          <a:solidFill>
            <a:srgbClr val="C06A18"/>
          </a:solidFill>
          <a:ln w="12700">
            <a:solidFill>
              <a:srgbClr val="C06A1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460" y="1129284"/>
            <a:ext cx="448056" cy="448056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033272"/>
            <a:ext cx="640080" cy="6400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355848" y="184708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Masif, Kapasitas Terbatas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355848" y="2331720"/>
            <a:ext cx="24323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toko/tahun = 5 toko/minggu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saat ini: 2–3 toko/bulan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8× dari target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080760" y="960120"/>
            <a:ext cx="26517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080760" y="960120"/>
            <a:ext cx="265176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19088" y="1033272"/>
            <a:ext cx="640080" cy="640080"/>
          </a:xfrm>
          <a:prstGeom prst="ellipse">
            <a:avLst/>
          </a:prstGeom>
          <a:solidFill>
            <a:srgbClr val="016B77"/>
          </a:solidFill>
          <a:ln w="12700">
            <a:solidFill>
              <a:srgbClr val="016B77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1129284"/>
            <a:ext cx="448056" cy="448056"/>
          </a:xfrm>
          <a:prstGeom prst="rect">
            <a:avLst/>
          </a:prstGeom>
        </p:spPr>
      </p:pic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1033272"/>
            <a:ext cx="640080" cy="6400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190488" y="184708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Sewa = Uang Keluar Tanpa Aset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6190488" y="2331720"/>
            <a:ext cx="24323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600 juta–1 M sewa/bulan/toko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equity dibangun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tahun sewa = hilang Rp 7–12 M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411480" y="4407408"/>
            <a:ext cx="8321040" cy="548640"/>
          </a:xfrm>
          <a:prstGeom prst="rect">
            <a:avLst/>
          </a:prstGeom>
          <a:solidFill>
            <a:srgbClr val="FEF3DC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594360" y="449884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6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Kompetitor Mr. DIY: &gt;1,000 toko  ·  Format 200–500 m²  ·  Buka 10–15 toko/bulan  ·  MAP Group (Ace Hardware) mulai masuk 2026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Mana Uang Indonesia Berputar?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27432"/>
          </a:xfrm>
          <a:prstGeom prst="rect">
            <a:avLst/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59.1%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PDRB Nasional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21.5%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6888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PDRB Nasional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Sumatra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960120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628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2628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PDRB Nasional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Kalimantan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960120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E44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58368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PDRB Nasional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Sulawesi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2542032"/>
            <a:ext cx="1993392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542032"/>
            <a:ext cx="1993392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596896"/>
            <a:ext cx="512064" cy="51206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02920" y="3218688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Jawa Belum Selesai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2920" y="3621024"/>
            <a:ext cx="18105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 kota tier 2-3 Jawa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masih gap coverage AZKO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Karawang, Jember, Kediri…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560320" y="2542032"/>
            <a:ext cx="1993392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560320" y="2542032"/>
            <a:ext cx="1993392" cy="6400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256" y="2596896"/>
            <a:ext cx="512064" cy="51206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2651760" y="3218688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Sumatra Underserved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2651760" y="3621024"/>
            <a:ext cx="18105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Pekanbaru: 1.1 juta penduduk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PDRB/kapita Rp 154 juta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Batam FTZ: logistik mudah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709160" y="2542032"/>
            <a:ext cx="1993392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709160" y="2542032"/>
            <a:ext cx="1993392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096" y="2596896"/>
            <a:ext cx="512064" cy="51206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800600" y="3218688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Kaltim: Lebih Kaya dari Jawa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4800600" y="3621024"/>
            <a:ext cx="18105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PDRB/kapita Rp 215 juta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(Nasional: Rp 75 juta)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Bayu: IKN baru dibangun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6858000" y="2542032"/>
            <a:ext cx="1993392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858000" y="2542032"/>
            <a:ext cx="1993392" cy="640080"/>
          </a:xfrm>
          <a:prstGeom prst="rect">
            <a:avLst/>
          </a:prstGeom>
          <a:solidFill>
            <a:srgbClr val="E07A20"/>
          </a:solidFill>
          <a:ln w="12700">
            <a:solidFill>
              <a:srgbClr val="E07A20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2596896"/>
            <a:ext cx="512064" cy="51206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949440" y="3218688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Peluang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6949440" y="3621024"/>
            <a:ext cx="18105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kota belum optimal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75T+ home improvement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addreasable market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Toko AZKO/INFORMA Tidak Bisa Digantikan Online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27432"/>
          </a:xfrm>
          <a:prstGeom prst="rect">
            <a:avLst/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52120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502920" cy="932688"/>
          </a:xfrm>
          <a:prstGeom prst="rect">
            <a:avLst/>
          </a:prstGeom>
          <a:solidFill>
            <a:srgbClr val="E03535"/>
          </a:solidFill>
          <a:ln w="12700">
            <a:solidFill>
              <a:srgbClr val="E0353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197864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01498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Volumetrik Membunuh Ekonomi Online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24128" y="13533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Lemari 2 pintu: berat aktual 45 kg → volumetrik 261 kg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Ongkir cargo ke Makassar = 28% dari harga produk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Kurir reguler = 2× lebih mahal dari harga produk!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1480" y="1984248"/>
            <a:ext cx="52120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984248"/>
            <a:ext cx="502920" cy="932688"/>
          </a:xfrm>
          <a:prstGeom prst="rect">
            <a:avLst/>
          </a:prstGeom>
          <a:solidFill>
            <a:srgbClr val="E07A20"/>
          </a:solidFill>
          <a:ln w="12700">
            <a:solidFill>
              <a:srgbClr val="E07A2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222199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4128" y="20391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 &amp; Liquid = B3 (Hazmat)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024128" y="2377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Banyak kurir tolak pengiriman cat &amp; solvent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Surcharge B3 tambah 20–50%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Pelanggan wajib ke toko atau tidak beli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11480" y="3008376"/>
            <a:ext cx="52120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11480" y="3008376"/>
            <a:ext cx="502920" cy="9326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2461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30632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 &amp; Install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024128" y="34015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untuk perbaikan darurat: butuh sekarang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Sofa, AC, lemari besar: perlu instalasi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Toko bisa bundling layanan pasang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11480" y="4032504"/>
            <a:ext cx="52120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11480" y="4032504"/>
            <a:ext cx="502920" cy="9326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427024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4128" y="40873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Touch &amp; Feel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024128" y="442569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Warna cat, tekstur sofa, kualitas tools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bisa dinilai dari foto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Konsultasi home improvement = nilai tambah eksklusif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806440" y="960120"/>
            <a:ext cx="2926080" cy="4041648"/>
          </a:xfrm>
          <a:prstGeom prst="rect">
            <a:avLst/>
          </a:prstGeom>
          <a:solidFill>
            <a:srgbClr val="FEF3DC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115568"/>
            <a:ext cx="1463040" cy="1463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897880" y="257860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MOAT</a:t>
            </a:r>
            <a:endParaRPr lang="en-US" sz="2600" dirty="0"/>
          </a:p>
        </p:txBody>
      </p:sp>
      <p:sp>
        <p:nvSpPr>
          <p:cNvPr id="27" name="Text 20"/>
          <p:cNvSpPr/>
          <p:nvPr/>
        </p:nvSpPr>
        <p:spPr>
          <a:xfrm>
            <a:off x="5897880" y="33375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75–80% GMV AZKO/INFORMA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adalah produk di mana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toko fisik SECARA STRUKTURAL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lebih efisien dari online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5897880" y="4663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tidak bisa memenangkan pertarungan ini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Simulasi Nyata: Beli di Toko vs Beli Online (Destinasi Makassar)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27432"/>
          </a:xfrm>
          <a:prstGeom prst="rect">
            <a:avLst/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182880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37160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005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Harga Produk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1880" y="960120"/>
            <a:ext cx="164592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0058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+ Ongkir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57800" y="960120"/>
            <a:ext cx="146304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1005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 di Toko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20840" y="960120"/>
            <a:ext cx="128016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0058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Selisih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960120"/>
            <a:ext cx="150876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0058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1399032"/>
            <a:ext cx="182880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435608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Krisbow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Drill 850W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40280" y="1399032"/>
            <a:ext cx="137160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1435608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649 rb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11880" y="1399032"/>
            <a:ext cx="164592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1435608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772 rb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(+Rp 122rb ongkir)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57800" y="1399032"/>
            <a:ext cx="146304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435608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649 rb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20840" y="1399032"/>
            <a:ext cx="128016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435608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-Rp 123 rb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01000" y="1399032"/>
            <a:ext cx="1508760" cy="859536"/>
          </a:xfrm>
          <a:prstGeom prst="rect">
            <a:avLst/>
          </a:prstGeom>
          <a:solidFill>
            <a:srgbClr val="E8F7EE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1435608"/>
            <a:ext cx="1417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Toko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Lebih Murah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2313432"/>
            <a:ext cx="1828800" cy="859536"/>
          </a:xfrm>
          <a:prstGeom prst="rect">
            <a:avLst/>
          </a:prstGeom>
          <a:solidFill>
            <a:srgbClr val="EBF5F7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350008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 INFORMA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Lemari 2 Pintu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40280" y="2313432"/>
            <a:ext cx="1371600" cy="859536"/>
          </a:xfrm>
          <a:prstGeom prst="rect">
            <a:avLst/>
          </a:prstGeom>
          <a:solidFill>
            <a:srgbClr val="EBF5F7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2350008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2.8 jt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11880" y="2313432"/>
            <a:ext cx="1645920" cy="859536"/>
          </a:xfrm>
          <a:prstGeom prst="rect">
            <a:avLst/>
          </a:prstGeom>
          <a:solidFill>
            <a:srgbClr val="EBF5F7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2350008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3.58 jt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(+Rp 783rb cargo)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257800" y="2313432"/>
            <a:ext cx="1463040" cy="859536"/>
          </a:xfrm>
          <a:prstGeom prst="rect">
            <a:avLst/>
          </a:prstGeom>
          <a:solidFill>
            <a:srgbClr val="EBF5F7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2350008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2.9 jt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(incl. delivery)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720840" y="2313432"/>
            <a:ext cx="1280160" cy="859536"/>
          </a:xfrm>
          <a:prstGeom prst="rect">
            <a:avLst/>
          </a:prstGeom>
          <a:solidFill>
            <a:srgbClr val="EBF5F7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2350008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-Rp 680 rb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001000" y="2313432"/>
            <a:ext cx="1508760" cy="859536"/>
          </a:xfrm>
          <a:prstGeom prst="rect">
            <a:avLst/>
          </a:prstGeom>
          <a:solidFill>
            <a:srgbClr val="E8F7EE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0" y="2350008"/>
            <a:ext cx="1417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Toko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Hemat 19%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11480" y="3227832"/>
            <a:ext cx="182880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264408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🛋️  INFORMA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Sofa 3-Seater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240280" y="3227832"/>
            <a:ext cx="137160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0" y="3264408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9.5 jt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11880" y="3227832"/>
            <a:ext cx="164592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64408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11.3 jt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(+Rp 1.8jt cargo)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257800" y="3227832"/>
            <a:ext cx="146304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0" y="3264408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9.65 jt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(incl. delivery)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720840" y="3227832"/>
            <a:ext cx="128016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0" y="3264408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-Rp 1.65 jt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001000" y="3227832"/>
            <a:ext cx="1508760" cy="859536"/>
          </a:xfrm>
          <a:prstGeom prst="rect">
            <a:avLst/>
          </a:prstGeom>
          <a:solidFill>
            <a:srgbClr val="E8F7EE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46720" y="3264408"/>
            <a:ext cx="1417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Toko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Hemat 14%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11480" y="4142232"/>
            <a:ext cx="1828800" cy="859536"/>
          </a:xfrm>
          <a:prstGeom prst="rect">
            <a:avLst/>
          </a:prstGeom>
          <a:solidFill>
            <a:srgbClr val="EBF5F7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178808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Cat Dulux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Liter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240280" y="4142232"/>
            <a:ext cx="1371600" cy="859536"/>
          </a:xfrm>
          <a:prstGeom prst="rect">
            <a:avLst/>
          </a:prstGeom>
          <a:solidFill>
            <a:srgbClr val="EBF5F7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0" y="4178808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875 rb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611880" y="4142232"/>
            <a:ext cx="1645920" cy="859536"/>
          </a:xfrm>
          <a:prstGeom prst="rect">
            <a:avLst/>
          </a:prstGeom>
          <a:solidFill>
            <a:srgbClr val="EBF5F7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0" y="4178808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⛔ Ditolak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kurir (B3)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257800" y="4142232"/>
            <a:ext cx="1463040" cy="859536"/>
          </a:xfrm>
          <a:prstGeom prst="rect">
            <a:avLst/>
          </a:prstGeom>
          <a:solidFill>
            <a:srgbClr val="EBF5F7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03520" y="4178808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875 rb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720840" y="4142232"/>
            <a:ext cx="1280160" cy="859536"/>
          </a:xfrm>
          <a:prstGeom prst="rect">
            <a:avLst/>
          </a:prstGeom>
          <a:solidFill>
            <a:srgbClr val="EBF5F7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66560" y="4178808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BISA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0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001000" y="4142232"/>
            <a:ext cx="1508760" cy="859536"/>
          </a:xfrm>
          <a:prstGeom prst="rect">
            <a:avLst/>
          </a:prstGeom>
          <a:solidFill>
            <a:srgbClr val="FDECEA"/>
          </a:solidFill>
          <a:ln w="6350">
            <a:solidFill>
              <a:srgbClr val="D8EE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46720" y="4178808"/>
            <a:ext cx="1417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HANYA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0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Toko!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11480" y="4645152"/>
            <a:ext cx="8321040" cy="384048"/>
          </a:xfrm>
          <a:prstGeom prst="rect">
            <a:avLst/>
          </a:prstGeom>
          <a:solidFill>
            <a:srgbClr val="E8F7EE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48640" y="470001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Produk besar &amp; bulky AZKO/INFORMA adalah kategori di mana online tidak pernah bisa bersaing secara harga — toko fisik adalah satu-satunya pilihan efisien.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Solusi: Satu Brand, Lima Format — Menjangkau Semua Ukuran Kota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27432"/>
          </a:xfrm>
          <a:prstGeom prst="rect">
            <a:avLst/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627632" cy="40050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627632" cy="914400"/>
          </a:xfrm>
          <a:prstGeom prst="rect">
            <a:avLst/>
          </a:prstGeom>
          <a:solidFill>
            <a:srgbClr val="0D3B4E"/>
          </a:solidFill>
          <a:ln w="12700">
            <a:solidFill>
              <a:srgbClr val="0D3B4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0515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92024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FLAGSHIP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65760" y="239572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2,000–4,000 m²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4048" y="27432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292608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17–25 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4048" y="327355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345643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36–48 bln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4048" y="380390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398678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 Besar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Mall Premium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84048" y="433425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451713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 lokasi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048256" y="960120"/>
            <a:ext cx="1627632" cy="40050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048256" y="960120"/>
            <a:ext cx="1627632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051560"/>
            <a:ext cx="640080" cy="6400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093976" y="192024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2093976" y="239572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400–800 m²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2112264" y="27432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2112264" y="292608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3.8–5.8 M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2112264" y="327355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2112264" y="345643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18–30 bln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2112264" y="380390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2112264" y="398678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 Menengah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Mall Tier 2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2112264" y="433425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2112264" y="451713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100–150 lokasi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3776472" y="960120"/>
            <a:ext cx="1627632" cy="40050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3776472" y="960120"/>
            <a:ext cx="1627632" cy="4005072"/>
          </a:xfrm>
          <a:prstGeom prst="rect">
            <a:avLst/>
          </a:prstGeom>
          <a:solidFill>
            <a:srgbClr val="FFFFFF"/>
          </a:solidFill>
          <a:ln w="25400">
            <a:solidFill>
              <a:srgbClr val="E8A02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776472" y="960120"/>
            <a:ext cx="1627632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051560"/>
            <a:ext cx="640080" cy="64008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3822192" y="192024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 ⭐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3822192" y="239572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150–350 m²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3840480" y="27432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3840480" y="292608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1.5–2.3 M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3840480" y="327355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3840480" y="345643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10–18 bln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3840480" y="380390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3840480" y="398678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2-3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Ruko standalone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3840480" y="433425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3840480" y="451713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200–300 lokasi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5504688" y="960120"/>
            <a:ext cx="1627632" cy="40050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5504688" y="960120"/>
            <a:ext cx="1627632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1051560"/>
            <a:ext cx="640080" cy="64008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5550408" y="192024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KIOSK</a:t>
            </a:r>
            <a:endParaRPr lang="en-US" sz="1250" dirty="0"/>
          </a:p>
        </p:txBody>
      </p:sp>
      <p:sp>
        <p:nvSpPr>
          <p:cNvPr id="48" name="Text 42"/>
          <p:cNvSpPr/>
          <p:nvPr/>
        </p:nvSpPr>
        <p:spPr>
          <a:xfrm>
            <a:off x="5550408" y="239572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20–80 m²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5568696" y="27432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900" dirty="0"/>
          </a:p>
        </p:txBody>
      </p:sp>
      <p:sp>
        <p:nvSpPr>
          <p:cNvPr id="50" name="Text 44"/>
          <p:cNvSpPr/>
          <p:nvPr/>
        </p:nvSpPr>
        <p:spPr>
          <a:xfrm>
            <a:off x="5568696" y="292608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250–450 jt</a:t>
            </a:r>
            <a:endParaRPr lang="en-US" sz="1000" dirty="0"/>
          </a:p>
        </p:txBody>
      </p:sp>
      <p:sp>
        <p:nvSpPr>
          <p:cNvPr id="51" name="Text 45"/>
          <p:cNvSpPr/>
          <p:nvPr/>
        </p:nvSpPr>
        <p:spPr>
          <a:xfrm>
            <a:off x="5568696" y="327355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5568696" y="345643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bln</a:t>
            </a:r>
            <a:endParaRPr lang="en-US" sz="1000" dirty="0"/>
          </a:p>
        </p:txBody>
      </p:sp>
      <p:sp>
        <p:nvSpPr>
          <p:cNvPr id="53" name="Text 47"/>
          <p:cNvSpPr/>
          <p:nvPr/>
        </p:nvSpPr>
        <p:spPr>
          <a:xfrm>
            <a:off x="5568696" y="380390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5568696" y="398678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Hypermarket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Bandara, SPBU</a:t>
            </a:r>
            <a:endParaRPr lang="en-US" sz="1000" dirty="0"/>
          </a:p>
        </p:txBody>
      </p:sp>
      <p:sp>
        <p:nvSpPr>
          <p:cNvPr id="55" name="Text 49"/>
          <p:cNvSpPr/>
          <p:nvPr/>
        </p:nvSpPr>
        <p:spPr>
          <a:xfrm>
            <a:off x="5568696" y="433425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900" dirty="0"/>
          </a:p>
        </p:txBody>
      </p:sp>
      <p:sp>
        <p:nvSpPr>
          <p:cNvPr id="56" name="Text 50"/>
          <p:cNvSpPr/>
          <p:nvPr/>
        </p:nvSpPr>
        <p:spPr>
          <a:xfrm>
            <a:off x="5568696" y="451713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300–500 titik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7232904" y="960120"/>
            <a:ext cx="1627632" cy="40050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58" name="Shape 52"/>
          <p:cNvSpPr/>
          <p:nvPr/>
        </p:nvSpPr>
        <p:spPr>
          <a:xfrm>
            <a:off x="7232904" y="960120"/>
            <a:ext cx="1627632" cy="9144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051560"/>
            <a:ext cx="640080" cy="640080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7278624" y="192024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KRISBOW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B2B</a:t>
            </a:r>
            <a:endParaRPr lang="en-US" sz="1250" dirty="0"/>
          </a:p>
        </p:txBody>
      </p:sp>
      <p:sp>
        <p:nvSpPr>
          <p:cNvPr id="61" name="Text 54"/>
          <p:cNvSpPr/>
          <p:nvPr/>
        </p:nvSpPr>
        <p:spPr>
          <a:xfrm>
            <a:off x="7278624" y="239572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100–300 m²</a:t>
            </a:r>
            <a:endParaRPr lang="en-US" sz="1000" dirty="0"/>
          </a:p>
        </p:txBody>
      </p:sp>
      <p:sp>
        <p:nvSpPr>
          <p:cNvPr id="62" name="Text 55"/>
          <p:cNvSpPr/>
          <p:nvPr/>
        </p:nvSpPr>
        <p:spPr>
          <a:xfrm>
            <a:off x="7296912" y="27432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900" dirty="0"/>
          </a:p>
        </p:txBody>
      </p:sp>
      <p:sp>
        <p:nvSpPr>
          <p:cNvPr id="63" name="Text 56"/>
          <p:cNvSpPr/>
          <p:nvPr/>
        </p:nvSpPr>
        <p:spPr>
          <a:xfrm>
            <a:off x="7296912" y="2926080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1.2–2.1 M</a:t>
            </a:r>
            <a:endParaRPr lang="en-US" sz="1000" dirty="0"/>
          </a:p>
        </p:txBody>
      </p:sp>
      <p:sp>
        <p:nvSpPr>
          <p:cNvPr id="64" name="Text 57"/>
          <p:cNvSpPr/>
          <p:nvPr/>
        </p:nvSpPr>
        <p:spPr>
          <a:xfrm>
            <a:off x="7296912" y="327355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900" dirty="0"/>
          </a:p>
        </p:txBody>
      </p:sp>
      <p:sp>
        <p:nvSpPr>
          <p:cNvPr id="65" name="Text 58"/>
          <p:cNvSpPr/>
          <p:nvPr/>
        </p:nvSpPr>
        <p:spPr>
          <a:xfrm>
            <a:off x="7296912" y="345643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12–20 bln</a:t>
            </a:r>
            <a:endParaRPr lang="en-US" sz="1000" dirty="0"/>
          </a:p>
        </p:txBody>
      </p:sp>
      <p:sp>
        <p:nvSpPr>
          <p:cNvPr id="66" name="Text 59"/>
          <p:cNvSpPr/>
          <p:nvPr/>
        </p:nvSpPr>
        <p:spPr>
          <a:xfrm>
            <a:off x="7296912" y="380390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67" name="Text 60"/>
          <p:cNvSpPr/>
          <p:nvPr/>
        </p:nvSpPr>
        <p:spPr>
          <a:xfrm>
            <a:off x="7296912" y="398678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Kawasan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</a:t>
            </a:r>
            <a:endParaRPr lang="en-US" sz="1000" dirty="0"/>
          </a:p>
        </p:txBody>
      </p:sp>
      <p:sp>
        <p:nvSpPr>
          <p:cNvPr id="68" name="Text 61"/>
          <p:cNvSpPr/>
          <p:nvPr/>
        </p:nvSpPr>
        <p:spPr>
          <a:xfrm>
            <a:off x="7296912" y="433425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900" dirty="0"/>
          </a:p>
        </p:txBody>
      </p:sp>
      <p:sp>
        <p:nvSpPr>
          <p:cNvPr id="69" name="Text 62"/>
          <p:cNvSpPr/>
          <p:nvPr/>
        </p:nvSpPr>
        <p:spPr>
          <a:xfrm>
            <a:off x="7296912" y="451713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50–80 lokasi</a:t>
            </a:r>
            <a:endParaRPr lang="en-US" sz="1000" dirty="0"/>
          </a:p>
        </p:txBody>
      </p:sp>
      <p:sp>
        <p:nvSpPr>
          <p:cNvPr id="70" name="Text 63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7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Studio adalah format dengan leverage terbaik — Rp 100 M bisa buka 50 Studio (vs 5 Flagship). Reach = Market Share jangka panjang.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Rp 100 Miliar: Pilih Mana?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27432"/>
          </a:xfrm>
          <a:prstGeom prst="rect">
            <a:avLst/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26974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2697480" cy="594360"/>
          </a:xfrm>
          <a:prstGeom prst="rect">
            <a:avLst/>
          </a:prstGeom>
          <a:solidFill>
            <a:srgbClr val="0D3B4E"/>
          </a:solidFill>
          <a:ln w="12700">
            <a:solidFill>
              <a:srgbClr val="0D3B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FLAGSHIP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Toko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kota baru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791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@Rp 20 M  ·  Payback 36–48 bulan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960120"/>
            <a:ext cx="26974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960120"/>
            <a:ext cx="269748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005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600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Toko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355848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kota baru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55848" y="26791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@Rp 5 M  ·  Payback 18–30 bulan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17336" y="960120"/>
            <a:ext cx="26974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960120"/>
            <a:ext cx="2697480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1005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 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08776" y="1600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Toko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208776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kota baru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08776" y="26791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@Rp 2 M  ·  Payback 10–18 bulan</a:t>
            </a:r>
            <a:endParaRPr lang="en-US" sz="10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11480" y="3200400"/>
          <a:ext cx="832104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Hub-and-Spoke — Tidak Perlu Gudang di Setiap Kota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27432"/>
          </a:xfrm>
          <a:prstGeom prst="rect">
            <a:avLst/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1920240"/>
            <a:ext cx="1188720" cy="822960"/>
          </a:xfrm>
          <a:prstGeom prst="ellipse">
            <a:avLst/>
          </a:prstGeom>
          <a:solidFill>
            <a:srgbClr val="0D3B4E"/>
          </a:solidFill>
          <a:ln w="12700">
            <a:solidFill>
              <a:srgbClr val="0D3B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03320" y="1947672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703320" y="27523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Cikarang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54480" y="1572768"/>
            <a:ext cx="2697480" cy="758952"/>
          </a:xfrm>
          <a:prstGeom prst="line">
            <a:avLst/>
          </a:prstGeom>
          <a:noFill/>
          <a:ln w="15240">
            <a:solidFill>
              <a:srgbClr val="C0D8D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30352" y="1024128"/>
            <a:ext cx="1133856" cy="621792"/>
          </a:xfrm>
          <a:prstGeom prst="roundRect">
            <a:avLst>
              <a:gd name="adj" fmla="val 14706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051560"/>
            <a:ext cx="1042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SUMATRA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51960" y="1572768"/>
            <a:ext cx="3337560" cy="758952"/>
          </a:xfrm>
          <a:prstGeom prst="line">
            <a:avLst/>
          </a:prstGeom>
          <a:noFill/>
          <a:ln w="15240">
            <a:solidFill>
              <a:srgbClr val="C0D8D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565392" y="1024128"/>
            <a:ext cx="1133856" cy="621792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051560"/>
            <a:ext cx="1042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Surabaya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554480" y="2331720"/>
            <a:ext cx="2697480" cy="1161288"/>
          </a:xfrm>
          <a:prstGeom prst="line">
            <a:avLst/>
          </a:prstGeom>
          <a:noFill/>
          <a:ln w="15240">
            <a:solidFill>
              <a:srgbClr val="C0D8D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30352" y="2944368"/>
            <a:ext cx="1133856" cy="621792"/>
          </a:xfrm>
          <a:prstGeom prst="roundRect">
            <a:avLst>
              <a:gd name="adj" fmla="val 14706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971800"/>
            <a:ext cx="1042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KALIMANTAN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Balikpapan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51960" y="2331720"/>
            <a:ext cx="3337560" cy="1161288"/>
          </a:xfrm>
          <a:prstGeom prst="line">
            <a:avLst/>
          </a:prstGeom>
          <a:noFill/>
          <a:ln w="15240">
            <a:solidFill>
              <a:srgbClr val="C0D8D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565392" y="2944368"/>
            <a:ext cx="1133856" cy="621792"/>
          </a:xfrm>
          <a:prstGeom prst="roundRect">
            <a:avLst>
              <a:gd name="adj" fmla="val 14706"/>
            </a:avLst>
          </a:prstGeom>
          <a:solidFill>
            <a:srgbClr val="E03535"/>
          </a:solidFill>
          <a:ln w="12700">
            <a:solidFill>
              <a:srgbClr val="E035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2971800"/>
            <a:ext cx="1042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SULAWESI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Makassar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51960" y="2331720"/>
            <a:ext cx="457200" cy="2121408"/>
          </a:xfrm>
          <a:prstGeom prst="line">
            <a:avLst/>
          </a:prstGeom>
          <a:noFill/>
          <a:ln w="15240">
            <a:solidFill>
              <a:srgbClr val="C0D8DC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685032" y="3904488"/>
            <a:ext cx="1133856" cy="621792"/>
          </a:xfrm>
          <a:prstGeom prst="roundRect">
            <a:avLst>
              <a:gd name="adj" fmla="val 14706"/>
            </a:avLst>
          </a:prstGeom>
          <a:solidFill>
            <a:srgbClr val="E07A20"/>
          </a:solidFill>
          <a:ln w="12700">
            <a:solidFill>
              <a:srgbClr val="E07A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3931920"/>
            <a:ext cx="1042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BALI-NUSRA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9728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15–25 toko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973568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 toko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69280" y="960120"/>
            <a:ext cx="3063240" cy="1207008"/>
          </a:xfrm>
          <a:prstGeom prst="rect">
            <a:avLst/>
          </a:prstGeom>
          <a:solidFill>
            <a:srgbClr val="E8F7EE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06440" y="10241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Tanpa Hub → Dengan Hub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06440" y="13258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ke toko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60920" y="13258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7–12 hari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01000" y="13258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hari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06440" y="15819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stock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60920" y="15819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hari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01000" y="15819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hari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06440" y="18379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logistik % rev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360920" y="18379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01000" y="18379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0.7–1.0%*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*Biaya stok lebih rendah 50% mengimbangi biaya hub — net savings per toko Rp 280–390 juta/bulan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Ekspansi — 3 Fase Berdasarkan ROI &amp; Infrastruktur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27432"/>
          </a:xfrm>
          <a:prstGeom prst="rect">
            <a:avLst/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2724912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272491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Tahun 1–2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57400" y="1024128"/>
            <a:ext cx="987552" cy="274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03327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budget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208" y="171907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 toko Jawa + 48 toko Sumatra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2103120"/>
            <a:ext cx="25054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Tidak butuh hub baru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Lead time 1–2 hari (truck)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ROI tercepat, payback 18–30 bln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Cashflow Jawa biayai hub luar Jawa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712464"/>
            <a:ext cx="2542032" cy="1170432"/>
          </a:xfrm>
          <a:prstGeom prst="rect">
            <a:avLst/>
          </a:prstGeom>
          <a:solidFill>
            <a:srgbClr val="EBF5F7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74904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 Prioritas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4005072"/>
            <a:ext cx="2359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Karawang, Cirebon, Jember,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Kediri, Medan, Pekanbaru,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Batam, Palembang, Lampung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64408" y="960120"/>
            <a:ext cx="2724912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4408" y="960120"/>
            <a:ext cx="2724912" cy="7132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005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55848" y="132588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Tahun 2–3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10328" y="1024128"/>
            <a:ext cx="987552" cy="274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03327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budget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74136" y="171907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60–80 toko Kalimantan + Sulawesi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74136" y="2103120"/>
            <a:ext cx="25054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Bangun hub Balikpapan + Makassar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PDRB/kapita Kaltim Rp 215 juta!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Margin toko lebih tinggi dari Jawa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Kompetitor belum kuat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55848" y="3712464"/>
            <a:ext cx="2542032" cy="1170432"/>
          </a:xfrm>
          <a:prstGeom prst="rect">
            <a:avLst/>
          </a:prstGeom>
          <a:solidFill>
            <a:srgbClr val="EBF5F7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47288" y="374904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 Prioritas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47288" y="4005072"/>
            <a:ext cx="2359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Balikpapan, Samarinda,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Banjarmasin, Makassar,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Manado, Palu, Kendari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17336" y="960120"/>
            <a:ext cx="2724912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17336" y="960120"/>
            <a:ext cx="2724912" cy="713232"/>
          </a:xfrm>
          <a:prstGeom prst="rect">
            <a:avLst/>
          </a:prstGeom>
          <a:solidFill>
            <a:srgbClr val="E07A20"/>
          </a:solidFill>
          <a:ln w="12700">
            <a:solidFill>
              <a:srgbClr val="E07A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08776" y="1005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208776" y="132588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Tahun 3–5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63256" y="1024128"/>
            <a:ext cx="987552" cy="274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63256" y="103327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budget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27064" y="171907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40–50 toko NTB/NTT/Maluku/Papua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27064" y="2103120"/>
            <a:ext cx="25054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Format Studio/NEKA saja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Brand presence play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Payback lebih panjang (24–36 bln)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Fundasi untuk masa depan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08776" y="3712464"/>
            <a:ext cx="2542032" cy="1170432"/>
          </a:xfrm>
          <a:prstGeom prst="rect">
            <a:avLst/>
          </a:prstGeom>
          <a:solidFill>
            <a:srgbClr val="EBF5F7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0216" y="374904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 Prioritas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0216" y="4005072"/>
            <a:ext cx="2359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Mataram, Kupang,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Ambon, Sorong,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Jayapura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WEALTH  ·  STRATEGI #1 dari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 Properti Tier 2-3 — Sebelum Toko Dibuka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941832"/>
            <a:ext cx="8412480" cy="27432"/>
          </a:xfrm>
          <a:prstGeom prst="rect">
            <a:avLst/>
          </a:prstGeom>
          <a:solidFill>
            <a:srgbClr val="F0D080"/>
          </a:solidFill>
          <a:ln w="12700">
            <a:solidFill>
              <a:srgbClr val="F0D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97280"/>
            <a:ext cx="50292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097280"/>
            <a:ext cx="1280160" cy="402336"/>
          </a:xfrm>
          <a:prstGeom prst="rect">
            <a:avLst/>
          </a:prstGeom>
          <a:solidFill>
            <a:srgbClr val="E8A020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15214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27632" y="1097280"/>
            <a:ext cx="1371600" cy="402336"/>
          </a:xfrm>
          <a:prstGeom prst="rect">
            <a:avLst/>
          </a:prstGeom>
          <a:solidFill>
            <a:srgbClr val="E8A020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82496" y="115214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Harga Beli/m²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99232" y="1097280"/>
            <a:ext cx="1371600" cy="402336"/>
          </a:xfrm>
          <a:prstGeom prst="rect">
            <a:avLst/>
          </a:prstGeom>
          <a:solidFill>
            <a:srgbClr val="E8A020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54096" y="115214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Apresiasi/thn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70832" y="1097280"/>
            <a:ext cx="1463040" cy="402336"/>
          </a:xfrm>
          <a:prstGeom prst="rect">
            <a:avLst/>
          </a:prstGeom>
          <a:solidFill>
            <a:srgbClr val="E8A020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25696" y="115214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Beli vs Sewa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1508760"/>
            <a:ext cx="1280160" cy="402336"/>
          </a:xfrm>
          <a:prstGeom prst="rect">
            <a:avLst/>
          </a:prstGeom>
          <a:solidFill>
            <a:srgbClr val="FFFBF0"/>
          </a:solidFill>
          <a:ln w="6350">
            <a:solidFill>
              <a:srgbClr val="F0D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156362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Karawang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27632" y="1508760"/>
            <a:ext cx="1371600" cy="402336"/>
          </a:xfrm>
          <a:prstGeom prst="rect">
            <a:avLst/>
          </a:prstGeom>
          <a:solidFill>
            <a:srgbClr val="FFFBF0"/>
          </a:solidFill>
          <a:ln w="6350">
            <a:solidFill>
              <a:srgbClr val="F0D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82496" y="156362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5–8 juta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99232" y="1508760"/>
            <a:ext cx="1371600" cy="402336"/>
          </a:xfrm>
          <a:prstGeom prst="rect">
            <a:avLst/>
          </a:prstGeom>
          <a:solidFill>
            <a:srgbClr val="FFFBF0"/>
          </a:solidFill>
          <a:ln w="6350">
            <a:solidFill>
              <a:srgbClr val="F0D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54096" y="156362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10–12%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70832" y="1508760"/>
            <a:ext cx="1463040" cy="402336"/>
          </a:xfrm>
          <a:prstGeom prst="rect">
            <a:avLst/>
          </a:prstGeom>
          <a:solidFill>
            <a:srgbClr val="FFFBF0"/>
          </a:solidFill>
          <a:ln w="6350">
            <a:solidFill>
              <a:srgbClr val="F0D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25696" y="156362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tahun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" y="1920240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0DF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197510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Pekanbaru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627632" y="1920240"/>
            <a:ext cx="1371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0D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82496" y="197510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4–7 juta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999232" y="1920240"/>
            <a:ext cx="1371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0DF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54096" y="197510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12–15%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70832" y="1920240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0DF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25696" y="197510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6–9 tahun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7472" y="2331720"/>
            <a:ext cx="1280160" cy="402336"/>
          </a:xfrm>
          <a:prstGeom prst="rect">
            <a:avLst/>
          </a:prstGeom>
          <a:solidFill>
            <a:srgbClr val="FFFBF0"/>
          </a:solidFill>
          <a:ln w="6350">
            <a:solidFill>
              <a:srgbClr val="F0DF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238658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Balikpapan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627632" y="2331720"/>
            <a:ext cx="1371600" cy="402336"/>
          </a:xfrm>
          <a:prstGeom prst="rect">
            <a:avLst/>
          </a:prstGeom>
          <a:solidFill>
            <a:srgbClr val="FFFBF0"/>
          </a:solidFill>
          <a:ln w="6350">
            <a:solidFill>
              <a:srgbClr val="F0DF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82496" y="238658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8–15 juta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999232" y="2331720"/>
            <a:ext cx="1371600" cy="402336"/>
          </a:xfrm>
          <a:prstGeom prst="rect">
            <a:avLst/>
          </a:prstGeom>
          <a:solidFill>
            <a:srgbClr val="FFFBF0"/>
          </a:solidFill>
          <a:ln w="6350">
            <a:solidFill>
              <a:srgbClr val="F0DF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54096" y="238658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10–13%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70832" y="2331720"/>
            <a:ext cx="1463040" cy="402336"/>
          </a:xfrm>
          <a:prstGeom prst="rect">
            <a:avLst/>
          </a:prstGeom>
          <a:solidFill>
            <a:srgbClr val="FFFBF0"/>
          </a:solidFill>
          <a:ln w="6350">
            <a:solidFill>
              <a:srgbClr val="F0DF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25696" y="238658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8–11 tahun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47472" y="2743200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0DF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279806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Samarinda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627632" y="2743200"/>
            <a:ext cx="1371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0DF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82496" y="279806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5–10 juta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999232" y="2743200"/>
            <a:ext cx="1371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0DF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54096" y="279806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10–12%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370832" y="2743200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0DF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25696" y="279806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8–11 tahun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47472" y="3154680"/>
            <a:ext cx="1280160" cy="402336"/>
          </a:xfrm>
          <a:prstGeom prst="rect">
            <a:avLst/>
          </a:prstGeom>
          <a:solidFill>
            <a:srgbClr val="FFFBF0"/>
          </a:solidFill>
          <a:ln w="6350">
            <a:solidFill>
              <a:srgbClr val="F0DF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2336" y="320954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Makassar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627632" y="3154680"/>
            <a:ext cx="1371600" cy="402336"/>
          </a:xfrm>
          <a:prstGeom prst="rect">
            <a:avLst/>
          </a:prstGeom>
          <a:solidFill>
            <a:srgbClr val="FFFBF0"/>
          </a:solidFill>
          <a:ln w="6350">
            <a:solidFill>
              <a:srgbClr val="F0DF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82496" y="320954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6–12 juta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999232" y="3154680"/>
            <a:ext cx="1371600" cy="402336"/>
          </a:xfrm>
          <a:prstGeom prst="rect">
            <a:avLst/>
          </a:prstGeom>
          <a:solidFill>
            <a:srgbClr val="FFFBF0"/>
          </a:solidFill>
          <a:ln w="6350">
            <a:solidFill>
              <a:srgbClr val="F0DF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54096" y="320954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10–13%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370832" y="3154680"/>
            <a:ext cx="1463040" cy="402336"/>
          </a:xfrm>
          <a:prstGeom prst="rect">
            <a:avLst/>
          </a:prstGeom>
          <a:solidFill>
            <a:srgbClr val="FFFBF0"/>
          </a:solidFill>
          <a:ln w="6350">
            <a:solidFill>
              <a:srgbClr val="F0DF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25696" y="320954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7–10 tahun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577840" y="1097280"/>
            <a:ext cx="3182112" cy="2560320"/>
          </a:xfrm>
          <a:prstGeom prst="rect">
            <a:avLst/>
          </a:prstGeom>
          <a:solidFill>
            <a:srgbClr val="FEF3DC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188720"/>
            <a:ext cx="822960" cy="822960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5669280" y="205740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Ilustrasi Nilai Aset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5669280" y="237744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 3,000 m² di Samarinda (2024)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5669280" y="265176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 Rp 7 juta/m² = Rp 21 miliar</a:t>
            </a:r>
            <a:endParaRPr lang="en-US" sz="1050" dirty="0"/>
          </a:p>
        </p:txBody>
      </p:sp>
      <p:sp>
        <p:nvSpPr>
          <p:cNvPr id="60" name="Text 57"/>
          <p:cNvSpPr/>
          <p:nvPr/>
        </p:nvSpPr>
        <p:spPr>
          <a:xfrm>
            <a:off x="5669280" y="292608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Apresiasi 12%/tahun selama 10 tahun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5669280" y="320040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2034: Rp 65 miliar</a:t>
            </a:r>
            <a:endParaRPr lang="en-US" sz="1050" dirty="0"/>
          </a:p>
        </p:txBody>
      </p:sp>
      <p:sp>
        <p:nvSpPr>
          <p:cNvPr id="62" name="Text 59"/>
          <p:cNvSpPr/>
          <p:nvPr/>
        </p:nvSpPr>
        <p:spPr>
          <a:xfrm>
            <a:off x="5669280" y="3429000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GAIN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44 Miliar</a:t>
            </a:r>
            <a:endParaRPr lang="en-US" sz="2200" dirty="0"/>
          </a:p>
        </p:txBody>
      </p:sp>
      <p:sp>
        <p:nvSpPr>
          <p:cNvPr id="63" name="Text 60"/>
          <p:cNvSpPr/>
          <p:nvPr/>
        </p:nvSpPr>
        <p:spPr>
          <a:xfrm>
            <a:off x="5669280" y="4005072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1 properti saja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347472" y="3767328"/>
            <a:ext cx="841248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65" name="Shape 62"/>
          <p:cNvSpPr/>
          <p:nvPr/>
        </p:nvSpPr>
        <p:spPr>
          <a:xfrm>
            <a:off x="548640" y="3913632"/>
            <a:ext cx="548640" cy="54864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6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995928"/>
            <a:ext cx="384048" cy="384048"/>
          </a:xfrm>
          <a:prstGeom prst="rect">
            <a:avLst/>
          </a:prstGeom>
        </p:spPr>
      </p:pic>
      <p:sp>
        <p:nvSpPr>
          <p:cNvPr id="67" name="Text 63"/>
          <p:cNvSpPr/>
          <p:nvPr/>
        </p:nvSpPr>
        <p:spPr>
          <a:xfrm>
            <a:off x="438912" y="44988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bayar sewa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Hemat Rp 600M–1M/thn per toko</a:t>
            </a:r>
            <a:endParaRPr lang="en-US" sz="1000" dirty="0"/>
          </a:p>
        </p:txBody>
      </p:sp>
      <p:sp>
        <p:nvSpPr>
          <p:cNvPr id="68" name="Shape 64"/>
          <p:cNvSpPr/>
          <p:nvPr/>
        </p:nvSpPr>
        <p:spPr>
          <a:xfrm>
            <a:off x="2670048" y="3913632"/>
            <a:ext cx="548640" cy="5486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6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344" y="3995928"/>
            <a:ext cx="384048" cy="384048"/>
          </a:xfrm>
          <a:prstGeom prst="rect">
            <a:avLst/>
          </a:prstGeom>
        </p:spPr>
      </p:pic>
      <p:sp>
        <p:nvSpPr>
          <p:cNvPr id="70" name="Text 65"/>
          <p:cNvSpPr/>
          <p:nvPr/>
        </p:nvSpPr>
        <p:spPr>
          <a:xfrm>
            <a:off x="2560320" y="44988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 apresiasi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8–15% per tahun</a:t>
            </a:r>
            <a:endParaRPr lang="en-US" sz="1000" dirty="0"/>
          </a:p>
        </p:txBody>
      </p:sp>
      <p:sp>
        <p:nvSpPr>
          <p:cNvPr id="71" name="Shape 66"/>
          <p:cNvSpPr/>
          <p:nvPr/>
        </p:nvSpPr>
        <p:spPr>
          <a:xfrm>
            <a:off x="4791456" y="3913632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995928"/>
            <a:ext cx="384048" cy="384048"/>
          </a:xfrm>
          <a:prstGeom prst="rect">
            <a:avLst/>
          </a:prstGeom>
        </p:spPr>
      </p:pic>
      <p:sp>
        <p:nvSpPr>
          <p:cNvPr id="73" name="Text 67"/>
          <p:cNvSpPr/>
          <p:nvPr/>
        </p:nvSpPr>
        <p:spPr>
          <a:xfrm>
            <a:off x="4681728" y="44988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tenant premium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properti naik extra</a:t>
            </a:r>
            <a:endParaRPr lang="en-US" sz="1000" dirty="0"/>
          </a:p>
        </p:txBody>
      </p:sp>
      <p:sp>
        <p:nvSpPr>
          <p:cNvPr id="74" name="Shape 68"/>
          <p:cNvSpPr/>
          <p:nvPr/>
        </p:nvSpPr>
        <p:spPr>
          <a:xfrm>
            <a:off x="6912864" y="3913632"/>
            <a:ext cx="548640" cy="54864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7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3995928"/>
            <a:ext cx="384048" cy="384048"/>
          </a:xfrm>
          <a:prstGeom prst="rect">
            <a:avLst/>
          </a:prstGeom>
        </p:spPr>
      </p:pic>
      <p:sp>
        <p:nvSpPr>
          <p:cNvPr id="76" name="Text 69"/>
          <p:cNvSpPr/>
          <p:nvPr/>
        </p:nvSpPr>
        <p:spPr>
          <a:xfrm>
            <a:off x="6803136" y="44988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Aset diwariskan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Generasi berikutnya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WEALTH  ·  STRATEGI #2 dari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KLG Jadi Landlord — Pendapatan Pasif dari Strip Mall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941832"/>
            <a:ext cx="8412480" cy="27432"/>
          </a:xfrm>
          <a:prstGeom prst="rect">
            <a:avLst/>
          </a:prstGeom>
          <a:solidFill>
            <a:srgbClr val="F0D080"/>
          </a:solidFill>
          <a:ln w="12700">
            <a:solidFill>
              <a:srgbClr val="F0D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51560"/>
            <a:ext cx="201168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1155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AZKO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3192" y="1691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m²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(milik sendiri)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14016" y="1051560"/>
            <a:ext cx="1417320" cy="1417320"/>
          </a:xfrm>
          <a:prstGeom prst="rect">
            <a:avLst/>
          </a:prstGeom>
          <a:solidFill>
            <a:srgbClr val="E07A20"/>
          </a:solidFill>
          <a:ln w="12700">
            <a:solidFill>
              <a:srgbClr val="E07A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9736" y="11155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Chatime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Gindako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59736" y="16916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m²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59736" y="1920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54 jt/bln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86200" y="1051560"/>
            <a:ext cx="1463040" cy="1417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11155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Apotek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93192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m²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31920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7 jt/bln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04104" y="1051560"/>
            <a:ext cx="1463040" cy="14173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9824" y="11155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BRI/Mandiri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49824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m²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49824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6 jt/bln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22008" y="1051560"/>
            <a:ext cx="1554480" cy="1417320"/>
          </a:xfrm>
          <a:prstGeom prst="rect">
            <a:avLst/>
          </a:prstGeom>
          <a:solidFill>
            <a:srgbClr val="E03535"/>
          </a:solidFill>
          <a:ln w="12700">
            <a:solidFill>
              <a:srgbClr val="E035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67728" y="11155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F&amp;B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Lain-lain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67728" y="1691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m²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67728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12 jt/bln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2606040"/>
            <a:ext cx="50749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26700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Keuangan Strip Mall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7472" y="3044952"/>
            <a:ext cx="5074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F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0998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investasi (tanah + bangun)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749040" y="309981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55–100 miliar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7472" y="3429000"/>
            <a:ext cx="5074920" cy="365760"/>
          </a:xfrm>
          <a:prstGeom prst="rect">
            <a:avLst/>
          </a:prstGeom>
          <a:solidFill>
            <a:srgbClr val="EBF5F7"/>
          </a:solidFill>
          <a:ln w="6350">
            <a:solidFill>
              <a:srgbClr val="D0EF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4838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 income dari tenant (non-KLG)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749040" y="3483864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79 juta/bulan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7472" y="3813048"/>
            <a:ext cx="5074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F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867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AZKO tidak bayar sewa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749040" y="3867912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Hemat Rp 600–800 jt/thn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47472" y="4197096"/>
            <a:ext cx="5074920" cy="365760"/>
          </a:xfrm>
          <a:prstGeom prst="rect">
            <a:avLst/>
          </a:prstGeom>
          <a:solidFill>
            <a:srgbClr val="EBF5F7"/>
          </a:solidFill>
          <a:ln w="6350">
            <a:solidFill>
              <a:srgbClr val="D0EF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51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Apresiasi properti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749040" y="425196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10%/tahun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47472" y="4581144"/>
            <a:ext cx="5074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F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6360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return tahunan (rental + apresiasi)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749040" y="463600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~10.5%+/tahun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596128" y="2606040"/>
            <a:ext cx="3182112" cy="2395728"/>
          </a:xfrm>
          <a:prstGeom prst="rect">
            <a:avLst/>
          </a:prstGeom>
          <a:solidFill>
            <a:srgbClr val="FEF3DC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697480"/>
            <a:ext cx="1005840" cy="100584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5687568" y="374904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Rental Income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Tahunan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5687568" y="425196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948 juta</a:t>
            </a:r>
            <a:endParaRPr lang="en-US" sz="2600" dirty="0"/>
          </a:p>
        </p:txBody>
      </p:sp>
      <p:sp>
        <p:nvSpPr>
          <p:cNvPr id="47" name="Text 44"/>
          <p:cNvSpPr/>
          <p:nvPr/>
        </p:nvSpPr>
        <p:spPr>
          <a:xfrm>
            <a:off x="5687568" y="4718304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tenant non-KLG saja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WEALTH  ·  STRATEGI #3 dari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Franchise NEKA — Royalti Tanpa Mengelola Toko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941832"/>
            <a:ext cx="8412480" cy="27432"/>
          </a:xfrm>
          <a:prstGeom prst="rect">
            <a:avLst/>
          </a:prstGeom>
          <a:solidFill>
            <a:srgbClr val="F0D080"/>
          </a:solidFill>
          <a:ln w="12700">
            <a:solidFill>
              <a:srgbClr val="F0D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78992"/>
            <a:ext cx="2011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078992"/>
            <a:ext cx="201168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152144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8912" y="18105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Franchisee Bayar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22128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Rp 300–500 juta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(fit-out + franchise fee)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359152" y="16002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487168" y="1078992"/>
            <a:ext cx="2011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87168" y="1078992"/>
            <a:ext cx="2011680" cy="6858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1152144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78608" y="18105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Franchisee Kelola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578608" y="22128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Operasi toko, gaji staff,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bayar sewa — bukan KLG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498848" y="16002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4626864" y="1078992"/>
            <a:ext cx="2011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26864" y="1078992"/>
            <a:ext cx="2011680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24" y="1152144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18304" y="18105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 dari KLG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718304" y="22128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produk dari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KLG distribution center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638544" y="16002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6766560" y="1078992"/>
            <a:ext cx="2011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766560" y="1078992"/>
            <a:ext cx="2011680" cy="6858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152144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58000" y="18105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KLG Terima Royalti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858000" y="22128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3–5% dari omzet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passive income!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47472" y="3218688"/>
            <a:ext cx="84124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502920" y="32918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Proyeksi Royalti — Scale 300 Franchisee NEKA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502920" y="3703320"/>
            <a:ext cx="260604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02920" y="3840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Franchisee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02920" y="4114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300 jt/bulan</a:t>
            </a:r>
            <a:endParaRPr lang="en-US" sz="2200" dirty="0"/>
          </a:p>
        </p:txBody>
      </p:sp>
      <p:sp>
        <p:nvSpPr>
          <p:cNvPr id="34" name="Text 28"/>
          <p:cNvSpPr/>
          <p:nvPr/>
        </p:nvSpPr>
        <p:spPr>
          <a:xfrm>
            <a:off x="502920" y="45720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Tahun 1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3291840" y="3703320"/>
            <a:ext cx="2606040" cy="1097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291840" y="3840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Franchisee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3291840" y="4114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44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900 jt/bulan</a:t>
            </a:r>
            <a:endParaRPr lang="en-US" sz="2200" dirty="0"/>
          </a:p>
        </p:txBody>
      </p:sp>
      <p:sp>
        <p:nvSpPr>
          <p:cNvPr id="38" name="Text 32"/>
          <p:cNvSpPr/>
          <p:nvPr/>
        </p:nvSpPr>
        <p:spPr>
          <a:xfrm>
            <a:off x="3291840" y="45720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Tahun 2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6080760" y="3703320"/>
            <a:ext cx="2606040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080760" y="3840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Franchisee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6080760" y="4114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1.8 M/bulan</a:t>
            </a:r>
            <a:endParaRPr lang="en-US" sz="2200" dirty="0"/>
          </a:p>
        </p:txBody>
      </p:sp>
      <p:sp>
        <p:nvSpPr>
          <p:cNvPr id="42" name="Text 36"/>
          <p:cNvSpPr/>
          <p:nvPr/>
        </p:nvSpPr>
        <p:spPr>
          <a:xfrm>
            <a:off x="6080760" y="45720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Tahun 3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50292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Rp 21.6 Miliar/tahun pure royalty pada skala 300 franchisee — tanpa KLG kelola satu toko pun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Outer Island Bisa Lebih Profitable dari Jawa — Bukti Angka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27432"/>
          </a:xfrm>
          <a:prstGeom prst="rect">
            <a:avLst/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3977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397764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0058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Store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BALIKPAPAN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1208" y="1417320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Kalimantan Timur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1208" y="1664208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PDRB/kapita Rp 215 juta (no. 2 Indonesia)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965960"/>
            <a:ext cx="39776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8EE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116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bulanan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80360" y="20116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6.0 miliar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304288"/>
            <a:ext cx="3977640" cy="329184"/>
          </a:xfrm>
          <a:prstGeom prst="rect">
            <a:avLst/>
          </a:prstGeom>
          <a:solidFill>
            <a:srgbClr val="EBF5F7"/>
          </a:solidFill>
          <a:ln w="3810">
            <a:solidFill>
              <a:srgbClr val="D8EE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500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COGS (gross margin 35%)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0360" y="23500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3.9 miliar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642616"/>
            <a:ext cx="39776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8EE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80360" y="26883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2.1 miliar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980944"/>
            <a:ext cx="3977640" cy="329184"/>
          </a:xfrm>
          <a:prstGeom prst="rect">
            <a:avLst/>
          </a:prstGeom>
          <a:solidFill>
            <a:srgbClr val="EBF5F7"/>
          </a:solidFill>
          <a:ln w="3810">
            <a:solidFill>
              <a:srgbClr val="D8EE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26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Sewa (Rp 100K/m²)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30266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50 juta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319272"/>
            <a:ext cx="39776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8EE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649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(28 orang)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80360" y="33649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130 juta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657600"/>
            <a:ext cx="3977640" cy="329184"/>
          </a:xfrm>
          <a:prstGeom prst="rect">
            <a:avLst/>
          </a:prstGeom>
          <a:solidFill>
            <a:srgbClr val="EBF5F7"/>
          </a:solidFill>
          <a:ln w="3810">
            <a:solidFill>
              <a:srgbClr val="D8EE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033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Logistik (incl. hub)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80360" y="3703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52 juta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995928"/>
            <a:ext cx="39776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8EE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416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Lain-lain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80360" y="40416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135 juta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334256"/>
            <a:ext cx="3977640" cy="329184"/>
          </a:xfrm>
          <a:prstGeom prst="rect">
            <a:avLst/>
          </a:prstGeom>
          <a:solidFill>
            <a:srgbClr val="E8F7EE"/>
          </a:solidFill>
          <a:ln w="3810">
            <a:solidFill>
              <a:srgbClr val="D8EE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379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PROFIT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80360" y="43799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1.733 miliar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4672584"/>
            <a:ext cx="3977640" cy="329184"/>
          </a:xfrm>
          <a:prstGeom prst="rect">
            <a:avLst/>
          </a:prstGeom>
          <a:solidFill>
            <a:srgbClr val="E8F7EE"/>
          </a:solidFill>
          <a:ln w="3810">
            <a:solidFill>
              <a:srgbClr val="D8EE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7183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80360" y="471830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28.9%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960120"/>
            <a:ext cx="3977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960120"/>
            <a:ext cx="3977640" cy="658368"/>
          </a:xfrm>
          <a:prstGeom prst="rect">
            <a:avLst/>
          </a:prstGeom>
          <a:solidFill>
            <a:srgbClr val="2C6E7A"/>
          </a:solidFill>
          <a:ln w="12700">
            <a:solidFill>
              <a:srgbClr val="2C6E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10058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Store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CIREBON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773168" y="1417320"/>
            <a:ext cx="3758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Jawa Barat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1664208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PDRB/kapita Rp 52 juta (rata-rata Jawa)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1965960"/>
            <a:ext cx="39776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8EE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0116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bulanan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32320" y="20116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3.5 miliar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2304288"/>
            <a:ext cx="3977640" cy="329184"/>
          </a:xfrm>
          <a:prstGeom prst="rect">
            <a:avLst/>
          </a:prstGeom>
          <a:solidFill>
            <a:srgbClr val="EBF5F7"/>
          </a:solidFill>
          <a:ln w="3810">
            <a:solidFill>
              <a:srgbClr val="D8EE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23500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COGS (gross margin 35%)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32320" y="23500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2.28 miliar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2642616"/>
            <a:ext cx="39776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8EE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6883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132320" y="26883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1.23 miliar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2980944"/>
            <a:ext cx="3977640" cy="329184"/>
          </a:xfrm>
          <a:prstGeom prst="rect">
            <a:avLst/>
          </a:prstGeom>
          <a:solidFill>
            <a:srgbClr val="EBF5F7"/>
          </a:solidFill>
          <a:ln w="3810">
            <a:solidFill>
              <a:srgbClr val="D8EE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026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Sewa (Rp 180K/m²)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132320" y="30266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90 juta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63440" y="3319272"/>
            <a:ext cx="39776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8EE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33649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(28 orang)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132320" y="33649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100 juta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63440" y="3657600"/>
            <a:ext cx="3977640" cy="329184"/>
          </a:xfrm>
          <a:prstGeom prst="rect">
            <a:avLst/>
          </a:prstGeom>
          <a:solidFill>
            <a:srgbClr val="EBF5F7"/>
          </a:solidFill>
          <a:ln w="3810">
            <a:solidFill>
              <a:srgbClr val="D8EE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37033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Logistik (road, no hub)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132320" y="37033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25 juta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63440" y="3995928"/>
            <a:ext cx="39776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8EE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0" y="40416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Lain-lain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132320" y="40416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110 juta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663440" y="4334256"/>
            <a:ext cx="3977640" cy="329184"/>
          </a:xfrm>
          <a:prstGeom prst="rect">
            <a:avLst/>
          </a:prstGeom>
          <a:solidFill>
            <a:srgbClr val="E8F7EE"/>
          </a:solidFill>
          <a:ln w="3810">
            <a:solidFill>
              <a:srgbClr val="D8EE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4379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PROFIT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132320" y="43799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900 juta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663440" y="4672584"/>
            <a:ext cx="3977640" cy="329184"/>
          </a:xfrm>
          <a:prstGeom prst="rect">
            <a:avLst/>
          </a:prstGeom>
          <a:solidFill>
            <a:srgbClr val="E8F7EE"/>
          </a:solidFill>
          <a:ln w="3810">
            <a:solidFill>
              <a:srgbClr val="D8EE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54880" y="47183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132320" y="471830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25.7%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11480" y="4645152"/>
            <a:ext cx="8321040" cy="384048"/>
          </a:xfrm>
          <a:prstGeom prst="rect">
            <a:avLst/>
          </a:prstGeom>
          <a:solidFill>
            <a:srgbClr val="E8F7EE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548640" y="470001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Balikpapan: margin 28.9% vs Cirebon 25.7%  |  Revenue 71% lebih tinggi  |  Payback lebih cepat  |  OUTER ISLAND LEBIH MENARIK setelah hub berdiri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Quick Wins — Aksi yang Bisa Dimulai Sekarang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27432"/>
          </a:xfrm>
          <a:prstGeom prst="rect">
            <a:avLst/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83210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530352" cy="7680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6128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69848" y="1216152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12252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ini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75688" y="101498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Gap Kota Jawa Tier 2-3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075688" y="136245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30–50 kota Jawa yang belum ada AZKO tapi PDRB memadai. Base pipeline 100+ store Express/Studio tanpa butuh hub baru.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783080"/>
            <a:ext cx="83210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783080"/>
            <a:ext cx="530352" cy="76809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98424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9848" y="2039112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20482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bulan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75688" y="18379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 vs Sewa Analysis — 5 Kota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075688" y="218541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Hitung NPV beli properti di Balikpapan, Samarinda, Pekanbaru, Padang, Batam. Harga masih murah sebelum AZKO announce masuk.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606040"/>
            <a:ext cx="83210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606040"/>
            <a:ext cx="530352" cy="76809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80720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69848" y="2862072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28712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bulan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75688" y="26609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AZKO Studio — 3 Kota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075688" y="300837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Studio 200 m² di 3 kota tier 2 tanpa Flagship. Ukur konversi digital order, revenue, dan NPS. Proof of concept sebelum scale 200+ Studio.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429000"/>
            <a:ext cx="83210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429000"/>
            <a:ext cx="530352" cy="7680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63016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69848" y="3685032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" y="36941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bulan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75688" y="34838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Buka Hub Balikpapan + 4 Anchor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075688" y="383133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sekaligus 4 toko: Balikpapan, Samarinda, Bontang, Banjarmasin. Hub viable ab initio. Unlock seluruh pasar Kalimantan (PDRB/kapita no. 2 Indonesia).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4251960"/>
            <a:ext cx="83210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0EEF0"/>
            </a:solidFill>
            <a:prstDash val="solid"/>
          </a:ln>
          <a:effectLst>
            <a:outerShdw sx="100000" sy="100000" kx="0" ky="0" algn="bl" rotWithShape="0" blurRad="63500" dist="25400" dir="5400000">
              <a:srgbClr val="B0CDD4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4251960"/>
            <a:ext cx="530352" cy="768096"/>
          </a:xfrm>
          <a:prstGeom prst="rect">
            <a:avLst/>
          </a:prstGeom>
          <a:solidFill>
            <a:srgbClr val="E03535"/>
          </a:solidFill>
          <a:ln w="12700">
            <a:solidFill>
              <a:srgbClr val="E035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" y="44531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69848" y="4507992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E03535"/>
          </a:solidFill>
          <a:ln w="12700">
            <a:solidFill>
              <a:srgbClr val="E035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9848" y="45171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bulan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75688" y="43068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NEKA Franchise — 10 Toko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2075688" y="465429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Rekrut 10 franchisee NEKA di kota tier 3 Jawa. Standardisasi playbook, royalti, supply chain. Proof of model sebelum scale 300 franchisee.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3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032D3A"/>
          </a:solidFill>
          <a:ln w="12700">
            <a:solidFill>
              <a:srgbClr val="032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200400"/>
            <a:ext cx="2743200" cy="2743200"/>
          </a:xfrm>
          <a:prstGeom prst="ellipse">
            <a:avLst/>
          </a:prstGeom>
          <a:solidFill>
            <a:srgbClr val="053D52"/>
          </a:solidFill>
          <a:ln w="12700">
            <a:solidFill>
              <a:srgbClr val="053D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Menang KLG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078992"/>
            <a:ext cx="2331720" cy="2377440"/>
          </a:xfrm>
          <a:prstGeom prst="rect">
            <a:avLst/>
          </a:prstGeom>
          <a:solidFill>
            <a:srgbClr val="0A2D3C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1207008"/>
            <a:ext cx="694944" cy="6949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602" y="1311250"/>
            <a:ext cx="486461" cy="4864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9933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MULTI-FORMAT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24128" y="242316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format → reach 10×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&amp; Kiosk = key growth engine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10–18 bulan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74720" y="1078992"/>
            <a:ext cx="2331720" cy="2377440"/>
          </a:xfrm>
          <a:prstGeom prst="rect">
            <a:avLst/>
          </a:prstGeom>
          <a:solidFill>
            <a:srgbClr val="0A2D3C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1207008"/>
            <a:ext cx="694944" cy="6949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922" y="131125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19933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 LOGISTICS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84448" y="242316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outer island = Jawa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(0.7–1% revenue)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stock turun 50%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078992"/>
            <a:ext cx="2331720" cy="2377440"/>
          </a:xfrm>
          <a:prstGeom prst="rect">
            <a:avLst/>
          </a:prstGeom>
          <a:solidFill>
            <a:srgbClr val="0A2D3C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58000" y="1207008"/>
            <a:ext cx="694944" cy="69494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242" y="1311250"/>
            <a:ext cx="486461" cy="4864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19933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 PROPERTI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44768" y="242316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Aset, bukan beban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44M gain per properti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Royalti franchise = passive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"Expansion builds revenue. Property builds wealth."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Development Intelligence  ·  Kawan Lama Group  ·  Confidential 2025</a:t>
            </a:r>
            <a:endParaRPr lang="en-US" sz="9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1605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2026-08-12T09:23:41Z</dcterms:created>
  <dcterms:modified xsi:type="dcterms:W3CDTF">2026-08-12T09:23:41Z</dcterms:modified>
</cp:coreProperties>
</file>