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A2355"/>
                </a:solidFill>
                <a:latin typeface="Arial"/>
              </a:defRPr>
            </a:pPr>
            <a:r>
              <a:rPr sz="1100" b="0" i="0" u="none" strike="noStrike">
                <a:solidFill>
                  <a:srgbClr val="1A2355"/>
                </a:solidFill>
                <a:latin typeface="Arial"/>
              </a:rPr>
              <a:t>Jumlah Kelas Menengah Indonesia (Juta Orang)</a:t>
            </a:r>
          </a:p>
        </c:rich>
      </c:tx>
      <c:layout/>
      <c:overlay val="0"/>
    </c:title>
    <c:autoTitleDeleted val="0"/>
    <c:plotArea>
      <c:layout/>
      <c:lineChart>
        <c:varyColors val="0"/>
        <c:ser>
          <c:idx val="0"/>
          <c:order val="0"/>
          <c:tx>
            <c:strRef>
              <c:f>Sheet1!$B$1</c:f>
              <c:strCache>
                <c:ptCount val="1"/>
                <c:pt idx="0">
                  <c:v>Kelas Menengah (Juta Orang)</c:v>
                </c:pt>
              </c:strCache>
            </c:strRef>
          </c:tx>
          <c:spPr>
            <a:solidFill>
              <a:srgbClr val="1E2761"/>
            </a:solidFill>
            <a:ln w="25400" cap="flat">
              <a:solidFill>
                <a:srgbClr val="1E2761"/>
              </a:solidFill>
              <a:prstDash val="solid"/>
              <a:round/>
            </a:ln>
            <a:effectLst/>
          </c:spPr>
          <c:invertIfNegative val="0"/>
          <c:dLbls>
            <c:numFmt formatCode="#,##0" sourceLinked="0"/>
            <c:txPr>
              <a:bodyPr/>
              <a:lstStyle/>
              <a:p>
                <a:pPr>
                  <a:defRPr b="0" i="0" strike="noStrike" sz="900" u="none">
                    <a:solidFill>
                      <a:srgbClr val="1A2355"/>
                    </a:solidFill>
                    <a:latin typeface="Arial"/>
                  </a:defRPr>
                </a:pPr>
              </a:p>
            </c:txPr>
            <c:dLblPos val="t"/>
            <c:showLegendKey val="0"/>
            <c:showVal val="1"/>
            <c:showCatName val="0"/>
            <c:showSerName val="0"/>
            <c:showPercent val="0"/>
            <c:showBubbleSize val="0"/>
            <c:showLeaderLines val="0"/>
          </c:dLbls>
          <c:marker>
            <c:symbol val="circle"/>
            <c:size val="7"/>
            <c:spPr>
              <a:solidFill>
                <a:srgbClr val="1E2761"/>
              </a:solidFill>
              <a:ln w="9525" cap="flat">
                <a:solidFill>
                  <a:srgbClr val="1E2761"/>
                </a:solidFill>
                <a:prstDash val="solid"/>
                <a:round/>
              </a:ln>
              <a:effectLst/>
            </c:spPr>
          </c:marker>
          <c:cat>
            <c:multiLvlStrRef>
              <c:f>Sheet1!$A$2:$A$8</c:f>
              <c:multiLvlStrCache>
                <c:ptCount val="7"/>
                <c:lvl>
                  <c:pt idx="0">
                    <c:v>2019</c:v>
                  </c:pt>
                  <c:pt idx="1">
                    <c:v>2020</c:v>
                  </c:pt>
                  <c:pt idx="2">
                    <c:v>2021</c:v>
                  </c:pt>
                  <c:pt idx="3">
                    <c:v>2022</c:v>
                  </c:pt>
                  <c:pt idx="4">
                    <c:v>2023</c:v>
                  </c:pt>
                  <c:pt idx="5">
                    <c:v>2024</c:v>
                  </c:pt>
                  <c:pt idx="6">
                    <c:v>2025</c:v>
                  </c:pt>
                </c:lvl>
              </c:multiLvlStrCache>
            </c:multiLvlStrRef>
          </c:cat>
          <c:val>
            <c:numRef>
              <c:f>Sheet1!$B$2:$B$8</c:f>
              <c:numCache>
                <c:formatCode>General</c:formatCode>
                <c:ptCount val="7"/>
                <c:pt idx="0">
                  <c:v>57.3</c:v>
                </c:pt>
                <c:pt idx="1">
                  <c:v>53.8</c:v>
                </c:pt>
                <c:pt idx="2">
                  <c:v>51.2</c:v>
                </c:pt>
                <c:pt idx="3">
                  <c:v>50.1</c:v>
                </c:pt>
                <c:pt idx="4">
                  <c:v>49.1</c:v>
                </c:pt>
                <c:pt idx="5">
                  <c:v>47.9</c:v>
                </c:pt>
                <c:pt idx="6">
                  <c:v>46.7</c:v>
                </c:pt>
              </c:numCache>
            </c:numRef>
          </c:val>
          <c:smooth val="0"/>
        </c:ser>
        <c:dLbls>
          <c:numFmt formatCode="#,##0" sourceLinked="0"/>
          <c:txPr>
            <a:bodyPr/>
            <a:lstStyle/>
            <a:p>
              <a:pPr>
                <a:defRPr b="0" i="0" strike="noStrike" sz="900" u="none">
                  <a:solidFill>
                    <a:srgbClr val="1A2355"/>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D4A6E"/>
                </a:solidFill>
                <a:latin typeface="Arial"/>
              </a:defRPr>
            </a:pPr>
            <a:endParaRPr lang="en-US"/>
          </a:p>
        </c:txPr>
        <c:crossAx val="2094734552"/>
        <c:crosses val="autoZero"/>
        <c:auto val="1"/>
        <c:lblAlgn val="ctr"/>
        <c:noMultiLvlLbl val="1"/>
      </c:catAx>
      <c:valAx>
        <c:axId val="2094734552"/>
        <c:scaling>
          <c:orientation val="minMax"/>
          <c:max val="62"/>
          <c:min val="42"/>
        </c:scaling>
        <c:delete val="0"/>
        <c:axPos val="l"/>
        <c:majorGridlines>
          <c:spPr>
            <a:ln w="12700" cap="flat">
              <a:solidFill>
                <a:srgbClr val="DDDDD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D4A6E"/>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Cover
Jelaskan konteks: Tim Store Concept perlu memahami 3 kekuatan besar yang mengubah lanskap retail. Presentasi ini adalah peta jalan strategis berdasarkan riset WEF, data BPS Indonesia, dan studi tren workforce global.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Framework
Sampaikan bahwa kita akan menganalisis situasi melalui 3 lensa: global (WEF), lokal Indonesia, dan internal tim. Setiap lensa memberikan insight yang berbeda dan saling melengkapi.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WEF Megatrends
Sampaikan bahwa semua 5 kekuatan ini langsung berdampak pada retail. AI mengancam operasi generalis, fragmentasi geoekonomi mempengaruhi harga produk, pergeseran demografis mengubah siapa customer kita.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Data Kelas Menengah
Highlight bahwa penurunan sudah terjadi selama 6 tahun berturut-turut. Ini bukan anomali sesaat — ini tren struktural. Target market yang selama ini jadi basis retail conventional terus menyusut.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Aspirant Class
Ini adalah "hidden opportunity" terbesar di retail Indonesia. 142 juta orang yang ingin belanja di tempat yang membuat mereka merasa dihargai dan mendapatkan value. Mereka adalah pasar yang lebih besar dari kelas menengah konvensional.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Specialist vs Generalist
Kaitkan dengan retail: seorang store associate yang menguasai satu kategori secara mendalam (specialist) PLUS menggunakan AI tools untuk analisis, inventory, dan customer personalization (generalist breadth) adalah T-shaped retailer yang paling bernilai.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Connecting the Dots
Ini adalah slide kunci yang menghubungkan semua insight menjadi realitas konkret yang harus dihadapi tim Store Concept. Setiap kolom memberikan tantangan sekaligus peluang yang harus dijawab oleh rekomendasi strategis.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5 Rekomendasi
Ini adalah inti dari presentasi. Setiap rekomendasi lahir dari interseksi 3 insight: consumer shift (aspirant class), market shift (specialist wins), dan team capability (T-shaped). Prioritaskan Rekomendasi 1 dan 2 sebagai fondasi.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Roadmap
Tekankan bahwa Fase 1 adalah yang paling kritis — riset tanpa asumsi, audit jujur kapabilitas tim, dan pilihan specialist category yang tepat akan menentukan keberhasilan seluruh roadmap. Jangan skip ke Fase 2 sebelum Fase 1 selesai dengan solid.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Closing
3 pesan utama yang harus dibawa pulang oleh audiens:
1. Pasar kita sedang bergeser — aspirant class adalah peluang terbesar
2. Spesialisasi bukan pilihan, ini adalah survival strategy
3. Waktu untuk bergerak adalah sekarang — 3 kekuatan ini tidak menunggu
Tutup dengan mengajak tim untuk mendiskusikan: "Di mana kita mulai?"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E52"/>
        </a:solidFill>
      </p:bgPr>
    </p:bg>
    <p:spTree>
      <p:nvGrpSpPr>
        <p:cNvPr id="1" name=""/>
        <p:cNvGrpSpPr/>
        <p:nvPr/>
      </p:nvGrpSpPr>
      <p:grpSpPr>
        <a:xfrm>
          <a:off x="0" y="0"/>
          <a:ext cx="0" cy="0"/>
          <a:chOff x="0" y="0"/>
          <a:chExt cx="0" cy="0"/>
        </a:xfrm>
      </p:grpSpPr>
      <p:sp>
        <p:nvSpPr>
          <p:cNvPr id="2" name="Shape 0"/>
          <p:cNvSpPr/>
          <p:nvPr/>
        </p:nvSpPr>
        <p:spPr>
          <a:xfrm>
            <a:off x="5943600" y="-2194560"/>
            <a:ext cx="6400800" cy="6400800"/>
          </a:xfrm>
          <a:prstGeom prst="ellipse">
            <a:avLst/>
          </a:prstGeom>
          <a:solidFill>
            <a:srgbClr val="2A3580">
              <a:alpha val="52000"/>
            </a:srgbClr>
          </a:solidFill>
          <a:ln/>
        </p:spPr>
      </p:sp>
      <p:sp>
        <p:nvSpPr>
          <p:cNvPr id="3" name="Shape 1"/>
          <p:cNvSpPr/>
          <p:nvPr/>
        </p:nvSpPr>
        <p:spPr>
          <a:xfrm>
            <a:off x="7406640" y="2194560"/>
            <a:ext cx="2560320" cy="2560320"/>
          </a:xfrm>
          <a:prstGeom prst="ellipse">
            <a:avLst/>
          </a:prstGeom>
          <a:solidFill>
            <a:srgbClr val="E8A020">
              <a:alpha val="30000"/>
            </a:srgbClr>
          </a:solidFill>
          <a:ln/>
        </p:spPr>
      </p:sp>
      <p:sp>
        <p:nvSpPr>
          <p:cNvPr id="4" name="Shape 2"/>
          <p:cNvSpPr/>
          <p:nvPr/>
        </p:nvSpPr>
        <p:spPr>
          <a:xfrm>
            <a:off x="6400800" y="3474720"/>
            <a:ext cx="1097280" cy="1097280"/>
          </a:xfrm>
          <a:prstGeom prst="ellipse">
            <a:avLst/>
          </a:prstGeom>
          <a:solidFill>
            <a:srgbClr val="E8A020">
              <a:alpha val="18000"/>
            </a:srgbClr>
          </a:solidFill>
          <a:ln/>
        </p:spPr>
      </p:sp>
      <p:sp>
        <p:nvSpPr>
          <p:cNvPr id="5" name="Shape 3"/>
          <p:cNvSpPr/>
          <p:nvPr/>
        </p:nvSpPr>
        <p:spPr>
          <a:xfrm>
            <a:off x="365760" y="201168"/>
            <a:ext cx="73152" cy="73152"/>
          </a:xfrm>
          <a:prstGeom prst="ellipse">
            <a:avLst/>
          </a:prstGeom>
          <a:solidFill>
            <a:srgbClr val="E8A020">
              <a:alpha val="70000"/>
            </a:srgbClr>
          </a:solidFill>
          <a:ln/>
        </p:spPr>
      </p:sp>
      <p:sp>
        <p:nvSpPr>
          <p:cNvPr id="6" name="Shape 4"/>
          <p:cNvSpPr/>
          <p:nvPr/>
        </p:nvSpPr>
        <p:spPr>
          <a:xfrm>
            <a:off x="749808" y="365760"/>
            <a:ext cx="73152" cy="73152"/>
          </a:xfrm>
          <a:prstGeom prst="ellipse">
            <a:avLst/>
          </a:prstGeom>
          <a:solidFill>
            <a:srgbClr val="E8A020">
              <a:alpha val="70000"/>
            </a:srgbClr>
          </a:solidFill>
          <a:ln/>
        </p:spPr>
      </p:sp>
      <p:sp>
        <p:nvSpPr>
          <p:cNvPr id="7" name="Shape 5"/>
          <p:cNvSpPr/>
          <p:nvPr/>
        </p:nvSpPr>
        <p:spPr>
          <a:xfrm>
            <a:off x="530352" y="640080"/>
            <a:ext cx="73152" cy="73152"/>
          </a:xfrm>
          <a:prstGeom prst="ellipse">
            <a:avLst/>
          </a:prstGeom>
          <a:solidFill>
            <a:srgbClr val="E8A020">
              <a:alpha val="70000"/>
            </a:srgbClr>
          </a:solidFill>
          <a:ln/>
        </p:spPr>
      </p:sp>
      <p:sp>
        <p:nvSpPr>
          <p:cNvPr id="8" name="Shape 6"/>
          <p:cNvSpPr/>
          <p:nvPr/>
        </p:nvSpPr>
        <p:spPr>
          <a:xfrm>
            <a:off x="987552" y="219456"/>
            <a:ext cx="73152" cy="73152"/>
          </a:xfrm>
          <a:prstGeom prst="ellipse">
            <a:avLst/>
          </a:prstGeom>
          <a:solidFill>
            <a:srgbClr val="E8A020">
              <a:alpha val="70000"/>
            </a:srgbClr>
          </a:solidFill>
          <a:ln/>
        </p:spPr>
      </p:sp>
      <p:sp>
        <p:nvSpPr>
          <p:cNvPr id="9" name="Shape 7"/>
          <p:cNvSpPr/>
          <p:nvPr/>
        </p:nvSpPr>
        <p:spPr>
          <a:xfrm>
            <a:off x="1115568" y="548640"/>
            <a:ext cx="73152" cy="73152"/>
          </a:xfrm>
          <a:prstGeom prst="ellipse">
            <a:avLst/>
          </a:prstGeom>
          <a:solidFill>
            <a:srgbClr val="E8A020">
              <a:alpha val="70000"/>
            </a:srgbClr>
          </a:solidFill>
          <a:ln/>
        </p:spPr>
      </p:sp>
      <p:sp>
        <p:nvSpPr>
          <p:cNvPr id="10" name="Text 8"/>
          <p:cNvSpPr/>
          <p:nvPr/>
        </p:nvSpPr>
        <p:spPr>
          <a:xfrm>
            <a:off x="594360" y="749808"/>
            <a:ext cx="6400800" cy="292608"/>
          </a:xfrm>
          <a:prstGeom prst="rect">
            <a:avLst/>
          </a:prstGeom>
          <a:noFill/>
          <a:ln/>
        </p:spPr>
        <p:txBody>
          <a:bodyPr wrap="square" rtlCol="0" anchor="ctr"/>
          <a:lstStyle/>
          <a:p>
            <a:pPr algn="l" indent="0" marL="0">
              <a:buNone/>
            </a:pPr>
            <a:r>
              <a:rPr lang="en-US" sz="1100" dirty="0">
                <a:solidFill>
                  <a:srgbClr val="E8A020"/>
                </a:solidFill>
                <a:latin typeface="Calibri" pitchFamily="34" charset="0"/>
                <a:ea typeface="Calibri" pitchFamily="34" charset="-122"/>
                <a:cs typeface="Calibri" pitchFamily="34" charset="-120"/>
              </a:rPr>
              <a:t>STRATEGIC BRIEF  ·  2025</a:t>
            </a:r>
            <a:endParaRPr lang="en-US" sz="1100" dirty="0"/>
          </a:p>
        </p:txBody>
      </p:sp>
      <p:sp>
        <p:nvSpPr>
          <p:cNvPr id="11" name="Text 9"/>
          <p:cNvSpPr/>
          <p:nvPr/>
        </p:nvSpPr>
        <p:spPr>
          <a:xfrm>
            <a:off x="594360" y="1078992"/>
            <a:ext cx="7863840" cy="1874520"/>
          </a:xfrm>
          <a:prstGeom prst="rect">
            <a:avLst/>
          </a:prstGeom>
          <a:noFill/>
          <a:ln/>
        </p:spPr>
        <p:txBody>
          <a:bodyPr wrap="square" rtlCol="0" anchor="t"/>
          <a:lstStyle/>
          <a:p>
            <a:pPr algn="l" indent="0" marL="0">
              <a:lnSpc>
                <a:spcPct val="110000"/>
              </a:lnSpc>
              <a:buNone/>
            </a:pPr>
            <a:r>
              <a:rPr lang="en-US" sz="4200" b="1" dirty="0">
                <a:solidFill>
                  <a:srgbClr val="FFFFFF"/>
                </a:solidFill>
                <a:latin typeface="Calibri" pitchFamily="34" charset="0"/>
                <a:ea typeface="Calibri" pitchFamily="34" charset="-122"/>
                <a:cs typeface="Calibri" pitchFamily="34" charset="-120"/>
              </a:rPr>
              <a:t>Navigating the</a:t>
            </a:r>
            <a:endParaRPr lang="en-US" sz="4200" dirty="0"/>
          </a:p>
          <a:p>
            <a:pPr algn="l" indent="0" marL="0">
              <a:lnSpc>
                <a:spcPct val="110000"/>
              </a:lnSpc>
              <a:buNone/>
            </a:pPr>
            <a:r>
              <a:rPr lang="en-US" sz="4200" b="1" dirty="0">
                <a:solidFill>
                  <a:srgbClr val="FFFFFF"/>
                </a:solidFill>
                <a:latin typeface="Calibri" pitchFamily="34" charset="0"/>
                <a:ea typeface="Calibri" pitchFamily="34" charset="-122"/>
                <a:cs typeface="Calibri" pitchFamily="34" charset="-120"/>
              </a:rPr>
              <a:t>New Retail Landscape</a:t>
            </a:r>
            <a:endParaRPr lang="en-US" sz="4200" dirty="0"/>
          </a:p>
        </p:txBody>
      </p:sp>
      <p:sp>
        <p:nvSpPr>
          <p:cNvPr id="12" name="Text 10"/>
          <p:cNvSpPr/>
          <p:nvPr/>
        </p:nvSpPr>
        <p:spPr>
          <a:xfrm>
            <a:off x="594360" y="3035808"/>
            <a:ext cx="7315200" cy="438912"/>
          </a:xfrm>
          <a:prstGeom prst="rect">
            <a:avLst/>
          </a:prstGeom>
          <a:noFill/>
          <a:ln/>
        </p:spPr>
        <p:txBody>
          <a:bodyPr wrap="square" rtlCol="0" anchor="ctr"/>
          <a:lstStyle/>
          <a:p>
            <a:pPr algn="l" indent="0" marL="0">
              <a:buNone/>
            </a:pPr>
            <a:r>
              <a:rPr lang="en-US" sz="1700" dirty="0">
                <a:solidFill>
                  <a:srgbClr val="E8A020"/>
                </a:solidFill>
                <a:latin typeface="Calibri" pitchFamily="34" charset="0"/>
                <a:ea typeface="Calibri" pitchFamily="34" charset="-122"/>
                <a:cs typeface="Calibri" pitchFamily="34" charset="-120"/>
              </a:rPr>
              <a:t>Rekomendasi Strategis untuk Store Concept Team</a:t>
            </a:r>
            <a:endParaRPr lang="en-US" sz="1700" dirty="0"/>
          </a:p>
        </p:txBody>
      </p:sp>
      <p:sp>
        <p:nvSpPr>
          <p:cNvPr id="13" name="Shape 11"/>
          <p:cNvSpPr/>
          <p:nvPr/>
        </p:nvSpPr>
        <p:spPr>
          <a:xfrm>
            <a:off x="594360" y="3547872"/>
            <a:ext cx="3657600" cy="36576"/>
          </a:xfrm>
          <a:prstGeom prst="rect">
            <a:avLst/>
          </a:prstGeom>
          <a:solidFill>
            <a:srgbClr val="4A5180"/>
          </a:solidFill>
          <a:ln/>
        </p:spPr>
      </p:sp>
      <p:sp>
        <p:nvSpPr>
          <p:cNvPr id="14" name="Shape 12"/>
          <p:cNvSpPr/>
          <p:nvPr/>
        </p:nvSpPr>
        <p:spPr>
          <a:xfrm>
            <a:off x="594360" y="4206240"/>
            <a:ext cx="2578608" cy="457200"/>
          </a:xfrm>
          <a:prstGeom prst="roundRect">
            <a:avLst>
              <a:gd name="adj" fmla="val 20000"/>
            </a:avLst>
          </a:prstGeom>
          <a:solidFill>
            <a:srgbClr val="2A3580"/>
          </a:solidFill>
          <a:ln w="12700">
            <a:solidFill>
              <a:srgbClr val="E8A020"/>
            </a:solidFill>
            <a:prstDash val="solid"/>
          </a:ln>
        </p:spPr>
      </p:sp>
      <p:sp>
        <p:nvSpPr>
          <p:cNvPr id="15" name="Text 13"/>
          <p:cNvSpPr/>
          <p:nvPr/>
        </p:nvSpPr>
        <p:spPr>
          <a:xfrm>
            <a:off x="594360" y="4206240"/>
            <a:ext cx="2578608" cy="457200"/>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 WEF Global Megatrends</a:t>
            </a:r>
            <a:endParaRPr lang="en-US" sz="1100" dirty="0"/>
          </a:p>
        </p:txBody>
      </p:sp>
      <p:sp>
        <p:nvSpPr>
          <p:cNvPr id="16" name="Shape 14"/>
          <p:cNvSpPr/>
          <p:nvPr/>
        </p:nvSpPr>
        <p:spPr>
          <a:xfrm>
            <a:off x="3383280" y="4206240"/>
            <a:ext cx="2578608" cy="457200"/>
          </a:xfrm>
          <a:prstGeom prst="roundRect">
            <a:avLst>
              <a:gd name="adj" fmla="val 20000"/>
            </a:avLst>
          </a:prstGeom>
          <a:solidFill>
            <a:srgbClr val="2A3580"/>
          </a:solidFill>
          <a:ln w="12700">
            <a:solidFill>
              <a:srgbClr val="E8A020"/>
            </a:solidFill>
            <a:prstDash val="solid"/>
          </a:ln>
        </p:spPr>
      </p:sp>
      <p:sp>
        <p:nvSpPr>
          <p:cNvPr id="17" name="Text 15"/>
          <p:cNvSpPr/>
          <p:nvPr/>
        </p:nvSpPr>
        <p:spPr>
          <a:xfrm>
            <a:off x="3383280" y="4206240"/>
            <a:ext cx="2578608" cy="457200"/>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 Kelas Menengah Indonesia</a:t>
            </a:r>
            <a:endParaRPr lang="en-US" sz="1100" dirty="0"/>
          </a:p>
        </p:txBody>
      </p:sp>
      <p:sp>
        <p:nvSpPr>
          <p:cNvPr id="18" name="Shape 16"/>
          <p:cNvSpPr/>
          <p:nvPr/>
        </p:nvSpPr>
        <p:spPr>
          <a:xfrm>
            <a:off x="6172200" y="4206240"/>
            <a:ext cx="2578608" cy="457200"/>
          </a:xfrm>
          <a:prstGeom prst="roundRect">
            <a:avLst>
              <a:gd name="adj" fmla="val 20000"/>
            </a:avLst>
          </a:prstGeom>
          <a:solidFill>
            <a:srgbClr val="2A3580"/>
          </a:solidFill>
          <a:ln w="12700">
            <a:solidFill>
              <a:srgbClr val="E8A020"/>
            </a:solidFill>
            <a:prstDash val="solid"/>
          </a:ln>
        </p:spPr>
      </p:sp>
      <p:sp>
        <p:nvSpPr>
          <p:cNvPr id="19" name="Text 17"/>
          <p:cNvSpPr/>
          <p:nvPr/>
        </p:nvSpPr>
        <p:spPr>
          <a:xfrm>
            <a:off x="6172200" y="4206240"/>
            <a:ext cx="2578608" cy="457200"/>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 Specialist vs Generalist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2FA"/>
        </a:solidFill>
      </p:bgPr>
    </p:bg>
    <p:spTree>
      <p:nvGrpSpPr>
        <p:cNvPr id="1" name=""/>
        <p:cNvGrpSpPr/>
        <p:nvPr/>
      </p:nvGrpSpPr>
      <p:grpSpPr>
        <a:xfrm>
          <a:off x="0" y="0"/>
          <a:ext cx="0" cy="0"/>
          <a:chOff x="0" y="0"/>
          <a:chExt cx="0" cy="0"/>
        </a:xfrm>
      </p:grpSpPr>
      <p:sp>
        <p:nvSpPr>
          <p:cNvPr id="2" name="Text 0"/>
          <p:cNvSpPr/>
          <p:nvPr/>
        </p:nvSpPr>
        <p:spPr>
          <a:xfrm>
            <a:off x="502920" y="320040"/>
            <a:ext cx="8229600" cy="512064"/>
          </a:xfrm>
          <a:prstGeom prst="rect">
            <a:avLst/>
          </a:prstGeom>
          <a:noFill/>
          <a:ln/>
        </p:spPr>
        <p:txBody>
          <a:bodyPr wrap="square" rtlCol="0" anchor="ctr"/>
          <a:lstStyle/>
          <a:p>
            <a:pPr algn="l" indent="0" marL="0">
              <a:buNone/>
            </a:pPr>
            <a:r>
              <a:rPr lang="en-US" sz="2800" b="1" dirty="0">
                <a:solidFill>
                  <a:srgbClr val="1A2355"/>
                </a:solidFill>
                <a:latin typeface="Calibri" pitchFamily="34" charset="0"/>
                <a:ea typeface="Calibri" pitchFamily="34" charset="-122"/>
                <a:cs typeface="Calibri" pitchFamily="34" charset="-120"/>
              </a:rPr>
              <a:t>Tiga Kekuatan yang Membentuk Ulang Retail</a:t>
            </a:r>
            <a:endParaRPr lang="en-US" sz="2800" dirty="0"/>
          </a:p>
        </p:txBody>
      </p:sp>
      <p:sp>
        <p:nvSpPr>
          <p:cNvPr id="3" name="Text 1"/>
          <p:cNvSpPr/>
          <p:nvPr/>
        </p:nvSpPr>
        <p:spPr>
          <a:xfrm>
            <a:off x="502920" y="822960"/>
            <a:ext cx="8229600" cy="274320"/>
          </a:xfrm>
          <a:prstGeom prst="rect">
            <a:avLst/>
          </a:prstGeom>
          <a:noFill/>
          <a:ln/>
        </p:spPr>
        <p:txBody>
          <a:bodyPr wrap="square" rtlCol="0" anchor="ctr"/>
          <a:lstStyle/>
          <a:p>
            <a:pPr algn="l" indent="0" marL="0">
              <a:buNone/>
            </a:pPr>
            <a:r>
              <a:rPr lang="en-US" sz="1300" dirty="0">
                <a:solidFill>
                  <a:srgbClr val="3D4A6E"/>
                </a:solidFill>
                <a:latin typeface="Calibri" pitchFamily="34" charset="0"/>
                <a:ea typeface="Calibri" pitchFamily="34" charset="-122"/>
                <a:cs typeface="Calibri" pitchFamily="34" charset="-120"/>
              </a:rPr>
              <a:t>Memahami konteks makro adalah prasyarat menetapkan arah strategis yang tepat</a:t>
            </a:r>
            <a:endParaRPr lang="en-US" sz="1300" dirty="0"/>
          </a:p>
        </p:txBody>
      </p:sp>
      <p:sp>
        <p:nvSpPr>
          <p:cNvPr id="4" name="Shape 2"/>
          <p:cNvSpPr/>
          <p:nvPr/>
        </p:nvSpPr>
        <p:spPr>
          <a:xfrm>
            <a:off x="484632" y="1170432"/>
            <a:ext cx="2633472" cy="3493008"/>
          </a:xfrm>
          <a:prstGeom prst="roundRect">
            <a:avLst>
              <a:gd name="adj" fmla="val 4167"/>
            </a:avLst>
          </a:prstGeom>
          <a:solidFill>
            <a:srgbClr val="FFFFFF"/>
          </a:solidFill>
          <a:ln/>
          <a:effectLst>
            <a:outerShdw sx="100000" sy="100000" kx="0" ky="0" algn="bl" rotWithShape="0" blurRad="127000" dist="38100" dir="2700000">
              <a:srgbClr val="AAAAAA">
                <a:alpha val="22000"/>
              </a:srgbClr>
            </a:outerShdw>
          </a:effectLst>
        </p:spPr>
      </p:sp>
      <p:sp>
        <p:nvSpPr>
          <p:cNvPr id="5" name="Shape 3"/>
          <p:cNvSpPr/>
          <p:nvPr/>
        </p:nvSpPr>
        <p:spPr>
          <a:xfrm>
            <a:off x="484632" y="1170432"/>
            <a:ext cx="2633472" cy="1261872"/>
          </a:xfrm>
          <a:prstGeom prst="roundRect">
            <a:avLst>
              <a:gd name="adj" fmla="val 8696"/>
            </a:avLst>
          </a:prstGeom>
          <a:solidFill>
            <a:srgbClr val="1E2761"/>
          </a:solidFill>
          <a:ln/>
        </p:spPr>
      </p:sp>
      <p:sp>
        <p:nvSpPr>
          <p:cNvPr id="6" name="Shape 4"/>
          <p:cNvSpPr/>
          <p:nvPr/>
        </p:nvSpPr>
        <p:spPr>
          <a:xfrm>
            <a:off x="484632" y="1865376"/>
            <a:ext cx="2633472" cy="566928"/>
          </a:xfrm>
          <a:prstGeom prst="rect">
            <a:avLst/>
          </a:prstGeom>
          <a:solidFill>
            <a:srgbClr val="1E2761"/>
          </a:solidFill>
          <a:ln/>
        </p:spPr>
      </p:sp>
      <p:sp>
        <p:nvSpPr>
          <p:cNvPr id="7" name="Text 5"/>
          <p:cNvSpPr/>
          <p:nvPr/>
        </p:nvSpPr>
        <p:spPr>
          <a:xfrm>
            <a:off x="1453896" y="1280160"/>
            <a:ext cx="694944" cy="676656"/>
          </a:xfrm>
          <a:prstGeom prst="rect">
            <a:avLst/>
          </a:prstGeom>
          <a:noFill/>
          <a:ln/>
        </p:spPr>
        <p:txBody>
          <a:bodyPr wrap="square" lIns="0" tIns="0" rIns="0" bIns="0" rtlCol="0" anchor="ctr"/>
          <a:lstStyle/>
          <a:p>
            <a:pPr algn="ctr" indent="0" marL="0">
              <a:buNone/>
            </a:pPr>
            <a:r>
              <a:rPr lang="en-US" sz="2600" dirty="0">
                <a:solidFill>
                  <a:srgbClr val="000000"/>
                </a:solidFill>
              </a:rPr>
              <a:t>🌐</a:t>
            </a:r>
            <a:endParaRPr lang="en-US" sz="2600" dirty="0"/>
          </a:p>
        </p:txBody>
      </p:sp>
      <p:sp>
        <p:nvSpPr>
          <p:cNvPr id="8" name="Shape 6"/>
          <p:cNvSpPr/>
          <p:nvPr/>
        </p:nvSpPr>
        <p:spPr>
          <a:xfrm>
            <a:off x="813816" y="2130552"/>
            <a:ext cx="1975104" cy="246888"/>
          </a:xfrm>
          <a:prstGeom prst="roundRect">
            <a:avLst>
              <a:gd name="adj" fmla="val 22222"/>
            </a:avLst>
          </a:prstGeom>
          <a:solidFill>
            <a:srgbClr val="FFFFFF">
              <a:alpha val="78000"/>
            </a:srgbClr>
          </a:solidFill>
          <a:ln/>
        </p:spPr>
      </p:sp>
      <p:sp>
        <p:nvSpPr>
          <p:cNvPr id="9" name="Text 7"/>
          <p:cNvSpPr/>
          <p:nvPr/>
        </p:nvSpPr>
        <p:spPr>
          <a:xfrm>
            <a:off x="813816" y="2130552"/>
            <a:ext cx="1975104" cy="24688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Konteks Global</a:t>
            </a:r>
            <a:endParaRPr lang="en-US" sz="900" dirty="0"/>
          </a:p>
        </p:txBody>
      </p:sp>
      <p:sp>
        <p:nvSpPr>
          <p:cNvPr id="10" name="Text 8"/>
          <p:cNvSpPr/>
          <p:nvPr/>
        </p:nvSpPr>
        <p:spPr>
          <a:xfrm>
            <a:off x="649224" y="2505456"/>
            <a:ext cx="2304288" cy="676656"/>
          </a:xfrm>
          <a:prstGeom prst="rect">
            <a:avLst/>
          </a:prstGeom>
          <a:noFill/>
          <a:ln/>
        </p:spPr>
        <p:txBody>
          <a:bodyPr wrap="square" rtlCol="0" anchor="ctr"/>
          <a:lstStyle/>
          <a:p>
            <a:pPr algn="ctr" indent="0" marL="0">
              <a:lnSpc>
                <a:spcPct val="110000"/>
              </a:lnSpc>
              <a:buNone/>
            </a:pPr>
            <a:r>
              <a:rPr lang="en-US" sz="1500" b="1" dirty="0">
                <a:solidFill>
                  <a:srgbClr val="1A2355"/>
                </a:solidFill>
                <a:latin typeface="Calibri" pitchFamily="34" charset="0"/>
                <a:ea typeface="Calibri" pitchFamily="34" charset="-122"/>
                <a:cs typeface="Calibri" pitchFamily="34" charset="-120"/>
              </a:rPr>
              <a:t>WEF Global</a:t>
            </a:r>
            <a:endParaRPr lang="en-US" sz="1500" dirty="0"/>
          </a:p>
          <a:p>
            <a:pPr algn="ctr" indent="0" marL="0">
              <a:lnSpc>
                <a:spcPct val="110000"/>
              </a:lnSpc>
              <a:buNone/>
            </a:pPr>
            <a:r>
              <a:rPr lang="en-US" sz="1500" b="1" dirty="0">
                <a:solidFill>
                  <a:srgbClr val="1A2355"/>
                </a:solidFill>
                <a:latin typeface="Calibri" pitchFamily="34" charset="0"/>
                <a:ea typeface="Calibri" pitchFamily="34" charset="-122"/>
                <a:cs typeface="Calibri" pitchFamily="34" charset="-120"/>
              </a:rPr>
              <a:t>Megatrends</a:t>
            </a:r>
            <a:endParaRPr lang="en-US" sz="1500" dirty="0"/>
          </a:p>
        </p:txBody>
      </p:sp>
      <p:sp>
        <p:nvSpPr>
          <p:cNvPr id="11" name="Shape 9"/>
          <p:cNvSpPr/>
          <p:nvPr/>
        </p:nvSpPr>
        <p:spPr>
          <a:xfrm>
            <a:off x="685800" y="3429000"/>
            <a:ext cx="91440" cy="91440"/>
          </a:xfrm>
          <a:prstGeom prst="ellipse">
            <a:avLst/>
          </a:prstGeom>
          <a:solidFill>
            <a:srgbClr val="1E2761"/>
          </a:solidFill>
          <a:ln/>
        </p:spPr>
      </p:sp>
      <p:sp>
        <p:nvSpPr>
          <p:cNvPr id="12" name="Text 10"/>
          <p:cNvSpPr/>
          <p:nvPr/>
        </p:nvSpPr>
        <p:spPr>
          <a:xfrm>
            <a:off x="832104" y="3291840"/>
            <a:ext cx="2139696" cy="320040"/>
          </a:xfrm>
          <a:prstGeom prst="rect">
            <a:avLst/>
          </a:prstGeom>
          <a:noFill/>
          <a:ln/>
        </p:spPr>
        <p:txBody>
          <a:bodyPr wrap="square" rtlCol="0" anchor="ctr"/>
          <a:lstStyle/>
          <a:p>
            <a:pPr algn="l" indent="0" marL="0">
              <a:buNone/>
            </a:pPr>
            <a:r>
              <a:rPr lang="en-US" sz="1100" dirty="0">
                <a:solidFill>
                  <a:srgbClr val="3D4A6E"/>
                </a:solidFill>
                <a:latin typeface="Calibri" pitchFamily="34" charset="0"/>
                <a:ea typeface="Calibri" pitchFamily="34" charset="-122"/>
                <a:cs typeface="Calibri" pitchFamily="34" charset="-120"/>
              </a:rPr>
              <a:t>170 juta pekerjaan baru tercipta</a:t>
            </a:r>
            <a:endParaRPr lang="en-US" sz="1100" dirty="0"/>
          </a:p>
        </p:txBody>
      </p:sp>
      <p:sp>
        <p:nvSpPr>
          <p:cNvPr id="13" name="Shape 11"/>
          <p:cNvSpPr/>
          <p:nvPr/>
        </p:nvSpPr>
        <p:spPr>
          <a:xfrm>
            <a:off x="685800" y="3767328"/>
            <a:ext cx="91440" cy="91440"/>
          </a:xfrm>
          <a:prstGeom prst="ellipse">
            <a:avLst/>
          </a:prstGeom>
          <a:solidFill>
            <a:srgbClr val="1E2761"/>
          </a:solidFill>
          <a:ln/>
        </p:spPr>
      </p:sp>
      <p:sp>
        <p:nvSpPr>
          <p:cNvPr id="14" name="Text 12"/>
          <p:cNvSpPr/>
          <p:nvPr/>
        </p:nvSpPr>
        <p:spPr>
          <a:xfrm>
            <a:off x="832104" y="3630168"/>
            <a:ext cx="2139696" cy="320040"/>
          </a:xfrm>
          <a:prstGeom prst="rect">
            <a:avLst/>
          </a:prstGeom>
          <a:noFill/>
          <a:ln/>
        </p:spPr>
        <p:txBody>
          <a:bodyPr wrap="square" rtlCol="0" anchor="ctr"/>
          <a:lstStyle/>
          <a:p>
            <a:pPr algn="l" indent="0" marL="0">
              <a:buNone/>
            </a:pPr>
            <a:r>
              <a:rPr lang="en-US" sz="1100" dirty="0">
                <a:solidFill>
                  <a:srgbClr val="3D4A6E"/>
                </a:solidFill>
                <a:latin typeface="Calibri" pitchFamily="34" charset="0"/>
                <a:ea typeface="Calibri" pitchFamily="34" charset="-122"/>
                <a:cs typeface="Calibri" pitchFamily="34" charset="-120"/>
              </a:rPr>
              <a:t>92 juta pekerjaan terdisplasi by 2030</a:t>
            </a:r>
            <a:endParaRPr lang="en-US" sz="1100" dirty="0"/>
          </a:p>
        </p:txBody>
      </p:sp>
      <p:sp>
        <p:nvSpPr>
          <p:cNvPr id="15" name="Shape 13"/>
          <p:cNvSpPr/>
          <p:nvPr/>
        </p:nvSpPr>
        <p:spPr>
          <a:xfrm>
            <a:off x="685800" y="4105656"/>
            <a:ext cx="91440" cy="91440"/>
          </a:xfrm>
          <a:prstGeom prst="ellipse">
            <a:avLst/>
          </a:prstGeom>
          <a:solidFill>
            <a:srgbClr val="1E2761"/>
          </a:solidFill>
          <a:ln/>
        </p:spPr>
      </p:sp>
      <p:sp>
        <p:nvSpPr>
          <p:cNvPr id="16" name="Text 14"/>
          <p:cNvSpPr/>
          <p:nvPr/>
        </p:nvSpPr>
        <p:spPr>
          <a:xfrm>
            <a:off x="832104" y="3968496"/>
            <a:ext cx="2139696" cy="320040"/>
          </a:xfrm>
          <a:prstGeom prst="rect">
            <a:avLst/>
          </a:prstGeom>
          <a:noFill/>
          <a:ln/>
        </p:spPr>
        <p:txBody>
          <a:bodyPr wrap="square" rtlCol="0" anchor="ctr"/>
          <a:lstStyle/>
          <a:p>
            <a:pPr algn="l" indent="0" marL="0">
              <a:buNone/>
            </a:pPr>
            <a:r>
              <a:rPr lang="en-US" sz="1100" dirty="0">
                <a:solidFill>
                  <a:srgbClr val="3D4A6E"/>
                </a:solidFill>
                <a:latin typeface="Calibri" pitchFamily="34" charset="0"/>
                <a:ea typeface="Calibri" pitchFamily="34" charset="-122"/>
                <a:cs typeface="Calibri" pitchFamily="34" charset="-120"/>
              </a:rPr>
              <a:t>AI transformasi 86% bisnis</a:t>
            </a:r>
            <a:endParaRPr lang="en-US" sz="1100" dirty="0"/>
          </a:p>
        </p:txBody>
      </p:sp>
      <p:sp>
        <p:nvSpPr>
          <p:cNvPr id="17" name="Shape 15"/>
          <p:cNvSpPr/>
          <p:nvPr/>
        </p:nvSpPr>
        <p:spPr>
          <a:xfrm>
            <a:off x="3282696" y="1170432"/>
            <a:ext cx="2633472" cy="3493008"/>
          </a:xfrm>
          <a:prstGeom prst="roundRect">
            <a:avLst>
              <a:gd name="adj" fmla="val 4167"/>
            </a:avLst>
          </a:prstGeom>
          <a:solidFill>
            <a:srgbClr val="FFFFFF"/>
          </a:solidFill>
          <a:ln/>
          <a:effectLst>
            <a:outerShdw sx="100000" sy="100000" kx="0" ky="0" algn="bl" rotWithShape="0" blurRad="127000" dist="38100" dir="2700000">
              <a:srgbClr val="AAAAAA">
                <a:alpha val="22000"/>
              </a:srgbClr>
            </a:outerShdw>
          </a:effectLst>
        </p:spPr>
      </p:sp>
      <p:sp>
        <p:nvSpPr>
          <p:cNvPr id="18" name="Shape 16"/>
          <p:cNvSpPr/>
          <p:nvPr/>
        </p:nvSpPr>
        <p:spPr>
          <a:xfrm>
            <a:off x="3282696" y="1170432"/>
            <a:ext cx="2633472" cy="1261872"/>
          </a:xfrm>
          <a:prstGeom prst="roundRect">
            <a:avLst>
              <a:gd name="adj" fmla="val 8696"/>
            </a:avLst>
          </a:prstGeom>
          <a:solidFill>
            <a:srgbClr val="1F7A8C"/>
          </a:solidFill>
          <a:ln/>
        </p:spPr>
      </p:sp>
      <p:sp>
        <p:nvSpPr>
          <p:cNvPr id="19" name="Shape 17"/>
          <p:cNvSpPr/>
          <p:nvPr/>
        </p:nvSpPr>
        <p:spPr>
          <a:xfrm>
            <a:off x="3282696" y="1865376"/>
            <a:ext cx="2633472" cy="566928"/>
          </a:xfrm>
          <a:prstGeom prst="rect">
            <a:avLst/>
          </a:prstGeom>
          <a:solidFill>
            <a:srgbClr val="1F7A8C"/>
          </a:solidFill>
          <a:ln/>
        </p:spPr>
      </p:sp>
      <p:sp>
        <p:nvSpPr>
          <p:cNvPr id="20" name="Text 18"/>
          <p:cNvSpPr/>
          <p:nvPr/>
        </p:nvSpPr>
        <p:spPr>
          <a:xfrm>
            <a:off x="4251960" y="1280160"/>
            <a:ext cx="694944" cy="676656"/>
          </a:xfrm>
          <a:prstGeom prst="rect">
            <a:avLst/>
          </a:prstGeom>
          <a:noFill/>
          <a:ln/>
        </p:spPr>
        <p:txBody>
          <a:bodyPr wrap="square" lIns="0" tIns="0" rIns="0" bIns="0" rtlCol="0" anchor="ctr"/>
          <a:lstStyle/>
          <a:p>
            <a:pPr algn="ctr" indent="0" marL="0">
              <a:buNone/>
            </a:pPr>
            <a:r>
              <a:rPr lang="en-US" sz="2600" dirty="0">
                <a:solidFill>
                  <a:srgbClr val="000000"/>
                </a:solidFill>
              </a:rPr>
              <a:t>📉</a:t>
            </a:r>
            <a:endParaRPr lang="en-US" sz="2600" dirty="0"/>
          </a:p>
        </p:txBody>
      </p:sp>
      <p:sp>
        <p:nvSpPr>
          <p:cNvPr id="21" name="Shape 19"/>
          <p:cNvSpPr/>
          <p:nvPr/>
        </p:nvSpPr>
        <p:spPr>
          <a:xfrm>
            <a:off x="3611880" y="2130552"/>
            <a:ext cx="1975104" cy="246888"/>
          </a:xfrm>
          <a:prstGeom prst="roundRect">
            <a:avLst>
              <a:gd name="adj" fmla="val 22222"/>
            </a:avLst>
          </a:prstGeom>
          <a:solidFill>
            <a:srgbClr val="FFFFFF">
              <a:alpha val="78000"/>
            </a:srgbClr>
          </a:solidFill>
          <a:ln/>
        </p:spPr>
      </p:sp>
      <p:sp>
        <p:nvSpPr>
          <p:cNvPr id="22" name="Text 20"/>
          <p:cNvSpPr/>
          <p:nvPr/>
        </p:nvSpPr>
        <p:spPr>
          <a:xfrm>
            <a:off x="3611880" y="2130552"/>
            <a:ext cx="1975104" cy="24688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Konteks Lokal</a:t>
            </a:r>
            <a:endParaRPr lang="en-US" sz="900" dirty="0"/>
          </a:p>
        </p:txBody>
      </p:sp>
      <p:sp>
        <p:nvSpPr>
          <p:cNvPr id="23" name="Text 21"/>
          <p:cNvSpPr/>
          <p:nvPr/>
        </p:nvSpPr>
        <p:spPr>
          <a:xfrm>
            <a:off x="3447288" y="2505456"/>
            <a:ext cx="2304288" cy="676656"/>
          </a:xfrm>
          <a:prstGeom prst="rect">
            <a:avLst/>
          </a:prstGeom>
          <a:noFill/>
          <a:ln/>
        </p:spPr>
        <p:txBody>
          <a:bodyPr wrap="square" rtlCol="0" anchor="ctr"/>
          <a:lstStyle/>
          <a:p>
            <a:pPr algn="ctr" indent="0" marL="0">
              <a:lnSpc>
                <a:spcPct val="110000"/>
              </a:lnSpc>
              <a:buNone/>
            </a:pPr>
            <a:r>
              <a:rPr lang="en-US" sz="1500" b="1" dirty="0">
                <a:solidFill>
                  <a:srgbClr val="1A2355"/>
                </a:solidFill>
                <a:latin typeface="Calibri" pitchFamily="34" charset="0"/>
                <a:ea typeface="Calibri" pitchFamily="34" charset="-122"/>
                <a:cs typeface="Calibri" pitchFamily="34" charset="-120"/>
              </a:rPr>
              <a:t>Kelas Menengah</a:t>
            </a:r>
            <a:endParaRPr lang="en-US" sz="1500" dirty="0"/>
          </a:p>
          <a:p>
            <a:pPr algn="ctr" indent="0" marL="0">
              <a:lnSpc>
                <a:spcPct val="110000"/>
              </a:lnSpc>
              <a:buNone/>
            </a:pPr>
            <a:r>
              <a:rPr lang="en-US" sz="1500" b="1" dirty="0">
                <a:solidFill>
                  <a:srgbClr val="1A2355"/>
                </a:solidFill>
                <a:latin typeface="Calibri" pitchFamily="34" charset="0"/>
                <a:ea typeface="Calibri" pitchFamily="34" charset="-122"/>
                <a:cs typeface="Calibri" pitchFamily="34" charset="-120"/>
              </a:rPr>
              <a:t>Indonesia</a:t>
            </a:r>
            <a:endParaRPr lang="en-US" sz="1500" dirty="0"/>
          </a:p>
        </p:txBody>
      </p:sp>
      <p:sp>
        <p:nvSpPr>
          <p:cNvPr id="24" name="Shape 22"/>
          <p:cNvSpPr/>
          <p:nvPr/>
        </p:nvSpPr>
        <p:spPr>
          <a:xfrm>
            <a:off x="3483864" y="3429000"/>
            <a:ext cx="91440" cy="91440"/>
          </a:xfrm>
          <a:prstGeom prst="ellipse">
            <a:avLst/>
          </a:prstGeom>
          <a:solidFill>
            <a:srgbClr val="1F7A8C"/>
          </a:solidFill>
          <a:ln/>
        </p:spPr>
      </p:sp>
      <p:sp>
        <p:nvSpPr>
          <p:cNvPr id="25" name="Text 23"/>
          <p:cNvSpPr/>
          <p:nvPr/>
        </p:nvSpPr>
        <p:spPr>
          <a:xfrm>
            <a:off x="3630168" y="3291840"/>
            <a:ext cx="2139696" cy="320040"/>
          </a:xfrm>
          <a:prstGeom prst="rect">
            <a:avLst/>
          </a:prstGeom>
          <a:noFill/>
          <a:ln/>
        </p:spPr>
        <p:txBody>
          <a:bodyPr wrap="square" rtlCol="0" anchor="ctr"/>
          <a:lstStyle/>
          <a:p>
            <a:pPr algn="l" indent="0" marL="0">
              <a:buNone/>
            </a:pPr>
            <a:r>
              <a:rPr lang="en-US" sz="1100" dirty="0">
                <a:solidFill>
                  <a:srgbClr val="3D4A6E"/>
                </a:solidFill>
                <a:latin typeface="Calibri" pitchFamily="34" charset="0"/>
                <a:ea typeface="Calibri" pitchFamily="34" charset="-122"/>
                <a:cs typeface="Calibri" pitchFamily="34" charset="-120"/>
              </a:rPr>
              <a:t>Turun 57.3M → 46.7M (2019–2025)</a:t>
            </a:r>
            <a:endParaRPr lang="en-US" sz="1100" dirty="0"/>
          </a:p>
        </p:txBody>
      </p:sp>
      <p:sp>
        <p:nvSpPr>
          <p:cNvPr id="26" name="Shape 24"/>
          <p:cNvSpPr/>
          <p:nvPr/>
        </p:nvSpPr>
        <p:spPr>
          <a:xfrm>
            <a:off x="3483864" y="3767328"/>
            <a:ext cx="91440" cy="91440"/>
          </a:xfrm>
          <a:prstGeom prst="ellipse">
            <a:avLst/>
          </a:prstGeom>
          <a:solidFill>
            <a:srgbClr val="1F7A8C"/>
          </a:solidFill>
          <a:ln/>
        </p:spPr>
      </p:sp>
      <p:sp>
        <p:nvSpPr>
          <p:cNvPr id="27" name="Text 25"/>
          <p:cNvSpPr/>
          <p:nvPr/>
        </p:nvSpPr>
        <p:spPr>
          <a:xfrm>
            <a:off x="3630168" y="3630168"/>
            <a:ext cx="2139696" cy="320040"/>
          </a:xfrm>
          <a:prstGeom prst="rect">
            <a:avLst/>
          </a:prstGeom>
          <a:noFill/>
          <a:ln/>
        </p:spPr>
        <p:txBody>
          <a:bodyPr wrap="square" rtlCol="0" anchor="ctr"/>
          <a:lstStyle/>
          <a:p>
            <a:pPr algn="l" indent="0" marL="0">
              <a:buNone/>
            </a:pPr>
            <a:r>
              <a:rPr lang="en-US" sz="1100" dirty="0">
                <a:solidFill>
                  <a:srgbClr val="3D4A6E"/>
                </a:solidFill>
                <a:latin typeface="Calibri" pitchFamily="34" charset="0"/>
                <a:ea typeface="Calibri" pitchFamily="34" charset="-122"/>
                <a:cs typeface="Calibri" pitchFamily="34" charset="-120"/>
              </a:rPr>
              <a:t>Proporsi populasi 21.4% → 17.1%</a:t>
            </a:r>
            <a:endParaRPr lang="en-US" sz="1100" dirty="0"/>
          </a:p>
        </p:txBody>
      </p:sp>
      <p:sp>
        <p:nvSpPr>
          <p:cNvPr id="28" name="Shape 26"/>
          <p:cNvSpPr/>
          <p:nvPr/>
        </p:nvSpPr>
        <p:spPr>
          <a:xfrm>
            <a:off x="3483864" y="4105656"/>
            <a:ext cx="91440" cy="91440"/>
          </a:xfrm>
          <a:prstGeom prst="ellipse">
            <a:avLst/>
          </a:prstGeom>
          <a:solidFill>
            <a:srgbClr val="1F7A8C"/>
          </a:solidFill>
          <a:ln/>
        </p:spPr>
      </p:sp>
      <p:sp>
        <p:nvSpPr>
          <p:cNvPr id="29" name="Text 27"/>
          <p:cNvSpPr/>
          <p:nvPr/>
        </p:nvSpPr>
        <p:spPr>
          <a:xfrm>
            <a:off x="3630168" y="3968496"/>
            <a:ext cx="2139696" cy="320040"/>
          </a:xfrm>
          <a:prstGeom prst="rect">
            <a:avLst/>
          </a:prstGeom>
          <a:noFill/>
          <a:ln/>
        </p:spPr>
        <p:txBody>
          <a:bodyPr wrap="square" rtlCol="0" anchor="ctr"/>
          <a:lstStyle/>
          <a:p>
            <a:pPr algn="l" indent="0" marL="0">
              <a:buNone/>
            </a:pPr>
            <a:r>
              <a:rPr lang="en-US" sz="1100" dirty="0">
                <a:solidFill>
                  <a:srgbClr val="3D4A6E"/>
                </a:solidFill>
                <a:latin typeface="Calibri" pitchFamily="34" charset="0"/>
                <a:ea typeface="Calibri" pitchFamily="34" charset="-122"/>
                <a:cs typeface="Calibri" pitchFamily="34" charset="-120"/>
              </a:rPr>
              <a:t>Aspirant class: 142 juta orang</a:t>
            </a:r>
            <a:endParaRPr lang="en-US" sz="1100" dirty="0"/>
          </a:p>
        </p:txBody>
      </p:sp>
      <p:sp>
        <p:nvSpPr>
          <p:cNvPr id="30" name="Shape 28"/>
          <p:cNvSpPr/>
          <p:nvPr/>
        </p:nvSpPr>
        <p:spPr>
          <a:xfrm>
            <a:off x="6080760" y="1170432"/>
            <a:ext cx="2633472" cy="3493008"/>
          </a:xfrm>
          <a:prstGeom prst="roundRect">
            <a:avLst>
              <a:gd name="adj" fmla="val 4167"/>
            </a:avLst>
          </a:prstGeom>
          <a:solidFill>
            <a:srgbClr val="FFFFFF"/>
          </a:solidFill>
          <a:ln/>
          <a:effectLst>
            <a:outerShdw sx="100000" sy="100000" kx="0" ky="0" algn="bl" rotWithShape="0" blurRad="127000" dist="38100" dir="2700000">
              <a:srgbClr val="AAAAAA">
                <a:alpha val="22000"/>
              </a:srgbClr>
            </a:outerShdw>
          </a:effectLst>
        </p:spPr>
      </p:sp>
      <p:sp>
        <p:nvSpPr>
          <p:cNvPr id="31" name="Shape 29"/>
          <p:cNvSpPr/>
          <p:nvPr/>
        </p:nvSpPr>
        <p:spPr>
          <a:xfrm>
            <a:off x="6080760" y="1170432"/>
            <a:ext cx="2633472" cy="1261872"/>
          </a:xfrm>
          <a:prstGeom prst="roundRect">
            <a:avLst>
              <a:gd name="adj" fmla="val 8696"/>
            </a:avLst>
          </a:prstGeom>
          <a:solidFill>
            <a:srgbClr val="C8860A"/>
          </a:solidFill>
          <a:ln/>
        </p:spPr>
      </p:sp>
      <p:sp>
        <p:nvSpPr>
          <p:cNvPr id="32" name="Shape 30"/>
          <p:cNvSpPr/>
          <p:nvPr/>
        </p:nvSpPr>
        <p:spPr>
          <a:xfrm>
            <a:off x="6080760" y="1865376"/>
            <a:ext cx="2633472" cy="566928"/>
          </a:xfrm>
          <a:prstGeom prst="rect">
            <a:avLst/>
          </a:prstGeom>
          <a:solidFill>
            <a:srgbClr val="C8860A"/>
          </a:solidFill>
          <a:ln/>
        </p:spPr>
      </p:sp>
      <p:sp>
        <p:nvSpPr>
          <p:cNvPr id="33" name="Text 31"/>
          <p:cNvSpPr/>
          <p:nvPr/>
        </p:nvSpPr>
        <p:spPr>
          <a:xfrm>
            <a:off x="7050024" y="1280160"/>
            <a:ext cx="694944" cy="676656"/>
          </a:xfrm>
          <a:prstGeom prst="rect">
            <a:avLst/>
          </a:prstGeom>
          <a:noFill/>
          <a:ln/>
        </p:spPr>
        <p:txBody>
          <a:bodyPr wrap="square" lIns="0" tIns="0" rIns="0" bIns="0" rtlCol="0" anchor="ctr"/>
          <a:lstStyle/>
          <a:p>
            <a:pPr algn="ctr" indent="0" marL="0">
              <a:buNone/>
            </a:pPr>
            <a:r>
              <a:rPr lang="en-US" sz="2600" dirty="0">
                <a:solidFill>
                  <a:srgbClr val="000000"/>
                </a:solidFill>
              </a:rPr>
              <a:t>🧠</a:t>
            </a:r>
            <a:endParaRPr lang="en-US" sz="2600" dirty="0"/>
          </a:p>
        </p:txBody>
      </p:sp>
      <p:sp>
        <p:nvSpPr>
          <p:cNvPr id="34" name="Shape 32"/>
          <p:cNvSpPr/>
          <p:nvPr/>
        </p:nvSpPr>
        <p:spPr>
          <a:xfrm>
            <a:off x="6409944" y="2130552"/>
            <a:ext cx="1975104" cy="246888"/>
          </a:xfrm>
          <a:prstGeom prst="roundRect">
            <a:avLst>
              <a:gd name="adj" fmla="val 22222"/>
            </a:avLst>
          </a:prstGeom>
          <a:solidFill>
            <a:srgbClr val="FFFFFF">
              <a:alpha val="78000"/>
            </a:srgbClr>
          </a:solidFill>
          <a:ln/>
        </p:spPr>
      </p:sp>
      <p:sp>
        <p:nvSpPr>
          <p:cNvPr id="35" name="Text 33"/>
          <p:cNvSpPr/>
          <p:nvPr/>
        </p:nvSpPr>
        <p:spPr>
          <a:xfrm>
            <a:off x="6409944" y="2130552"/>
            <a:ext cx="1975104" cy="24688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Kapabilitas Tim</a:t>
            </a:r>
            <a:endParaRPr lang="en-US" sz="900" dirty="0"/>
          </a:p>
        </p:txBody>
      </p:sp>
      <p:sp>
        <p:nvSpPr>
          <p:cNvPr id="36" name="Text 34"/>
          <p:cNvSpPr/>
          <p:nvPr/>
        </p:nvSpPr>
        <p:spPr>
          <a:xfrm>
            <a:off x="6245352" y="2505456"/>
            <a:ext cx="2304288" cy="676656"/>
          </a:xfrm>
          <a:prstGeom prst="rect">
            <a:avLst/>
          </a:prstGeom>
          <a:noFill/>
          <a:ln/>
        </p:spPr>
        <p:txBody>
          <a:bodyPr wrap="square" rtlCol="0" anchor="ctr"/>
          <a:lstStyle/>
          <a:p>
            <a:pPr algn="ctr" indent="0" marL="0">
              <a:lnSpc>
                <a:spcPct val="110000"/>
              </a:lnSpc>
              <a:buNone/>
            </a:pPr>
            <a:r>
              <a:rPr lang="en-US" sz="1500" b="1" dirty="0">
                <a:solidFill>
                  <a:srgbClr val="1A2355"/>
                </a:solidFill>
                <a:latin typeface="Calibri" pitchFamily="34" charset="0"/>
                <a:ea typeface="Calibri" pitchFamily="34" charset="-122"/>
                <a:cs typeface="Calibri" pitchFamily="34" charset="-120"/>
              </a:rPr>
              <a:t>Specialist vs</a:t>
            </a:r>
            <a:endParaRPr lang="en-US" sz="1500" dirty="0"/>
          </a:p>
          <a:p>
            <a:pPr algn="ctr" indent="0" marL="0">
              <a:lnSpc>
                <a:spcPct val="110000"/>
              </a:lnSpc>
              <a:buNone/>
            </a:pPr>
            <a:r>
              <a:rPr lang="en-US" sz="1500" b="1" dirty="0">
                <a:solidFill>
                  <a:srgbClr val="1A2355"/>
                </a:solidFill>
                <a:latin typeface="Calibri" pitchFamily="34" charset="0"/>
                <a:ea typeface="Calibri" pitchFamily="34" charset="-122"/>
                <a:cs typeface="Calibri" pitchFamily="34" charset="-120"/>
              </a:rPr>
              <a:t>Generalist</a:t>
            </a:r>
            <a:endParaRPr lang="en-US" sz="1500" dirty="0"/>
          </a:p>
        </p:txBody>
      </p:sp>
      <p:sp>
        <p:nvSpPr>
          <p:cNvPr id="37" name="Shape 35"/>
          <p:cNvSpPr/>
          <p:nvPr/>
        </p:nvSpPr>
        <p:spPr>
          <a:xfrm>
            <a:off x="6281928" y="3429000"/>
            <a:ext cx="91440" cy="91440"/>
          </a:xfrm>
          <a:prstGeom prst="ellipse">
            <a:avLst/>
          </a:prstGeom>
          <a:solidFill>
            <a:srgbClr val="C8860A"/>
          </a:solidFill>
          <a:ln/>
        </p:spPr>
      </p:sp>
      <p:sp>
        <p:nvSpPr>
          <p:cNvPr id="38" name="Text 36"/>
          <p:cNvSpPr/>
          <p:nvPr/>
        </p:nvSpPr>
        <p:spPr>
          <a:xfrm>
            <a:off x="6428232" y="3291840"/>
            <a:ext cx="2139696" cy="320040"/>
          </a:xfrm>
          <a:prstGeom prst="rect">
            <a:avLst/>
          </a:prstGeom>
          <a:noFill/>
          <a:ln/>
        </p:spPr>
        <p:txBody>
          <a:bodyPr wrap="square" rtlCol="0" anchor="ctr"/>
          <a:lstStyle/>
          <a:p>
            <a:pPr algn="l" indent="0" marL="0">
              <a:buNone/>
            </a:pPr>
            <a:r>
              <a:rPr lang="en-US" sz="1100" dirty="0">
                <a:solidFill>
                  <a:srgbClr val="3D4A6E"/>
                </a:solidFill>
                <a:latin typeface="Calibri" pitchFamily="34" charset="0"/>
                <a:ea typeface="Calibri" pitchFamily="34" charset="-122"/>
                <a:cs typeface="Calibri" pitchFamily="34" charset="-120"/>
              </a:rPr>
              <a:t>AI + Generalist = 1-orang departemen</a:t>
            </a:r>
            <a:endParaRPr lang="en-US" sz="1100" dirty="0"/>
          </a:p>
        </p:txBody>
      </p:sp>
      <p:sp>
        <p:nvSpPr>
          <p:cNvPr id="39" name="Shape 37"/>
          <p:cNvSpPr/>
          <p:nvPr/>
        </p:nvSpPr>
        <p:spPr>
          <a:xfrm>
            <a:off x="6281928" y="3767328"/>
            <a:ext cx="91440" cy="91440"/>
          </a:xfrm>
          <a:prstGeom prst="ellipse">
            <a:avLst/>
          </a:prstGeom>
          <a:solidFill>
            <a:srgbClr val="C8860A"/>
          </a:solidFill>
          <a:ln/>
        </p:spPr>
      </p:sp>
      <p:sp>
        <p:nvSpPr>
          <p:cNvPr id="40" name="Text 38"/>
          <p:cNvSpPr/>
          <p:nvPr/>
        </p:nvSpPr>
        <p:spPr>
          <a:xfrm>
            <a:off x="6428232" y="3630168"/>
            <a:ext cx="2139696" cy="320040"/>
          </a:xfrm>
          <a:prstGeom prst="rect">
            <a:avLst/>
          </a:prstGeom>
          <a:noFill/>
          <a:ln/>
        </p:spPr>
        <p:txBody>
          <a:bodyPr wrap="square" rtlCol="0" anchor="ctr"/>
          <a:lstStyle/>
          <a:p>
            <a:pPr algn="l" indent="0" marL="0">
              <a:buNone/>
            </a:pPr>
            <a:r>
              <a:rPr lang="en-US" sz="1100" dirty="0">
                <a:solidFill>
                  <a:srgbClr val="3D4A6E"/>
                </a:solidFill>
                <a:latin typeface="Calibri" pitchFamily="34" charset="0"/>
                <a:ea typeface="Calibri" pitchFamily="34" charset="-122"/>
                <a:cs typeface="Calibri" pitchFamily="34" charset="-120"/>
              </a:rPr>
              <a:t>Specialist bernilai di "last 10%"</a:t>
            </a:r>
            <a:endParaRPr lang="en-US" sz="1100" dirty="0"/>
          </a:p>
        </p:txBody>
      </p:sp>
      <p:sp>
        <p:nvSpPr>
          <p:cNvPr id="41" name="Shape 39"/>
          <p:cNvSpPr/>
          <p:nvPr/>
        </p:nvSpPr>
        <p:spPr>
          <a:xfrm>
            <a:off x="6281928" y="4105656"/>
            <a:ext cx="91440" cy="91440"/>
          </a:xfrm>
          <a:prstGeom prst="ellipse">
            <a:avLst/>
          </a:prstGeom>
          <a:solidFill>
            <a:srgbClr val="C8860A"/>
          </a:solidFill>
          <a:ln/>
        </p:spPr>
      </p:sp>
      <p:sp>
        <p:nvSpPr>
          <p:cNvPr id="42" name="Text 40"/>
          <p:cNvSpPr/>
          <p:nvPr/>
        </p:nvSpPr>
        <p:spPr>
          <a:xfrm>
            <a:off x="6428232" y="3968496"/>
            <a:ext cx="2139696" cy="320040"/>
          </a:xfrm>
          <a:prstGeom prst="rect">
            <a:avLst/>
          </a:prstGeom>
          <a:noFill/>
          <a:ln/>
        </p:spPr>
        <p:txBody>
          <a:bodyPr wrap="square" rtlCol="0" anchor="ctr"/>
          <a:lstStyle/>
          <a:p>
            <a:pPr algn="l" indent="0" marL="0">
              <a:buNone/>
            </a:pPr>
            <a:r>
              <a:rPr lang="en-US" sz="1100" dirty="0">
                <a:solidFill>
                  <a:srgbClr val="3D4A6E"/>
                </a:solidFill>
                <a:latin typeface="Calibri" pitchFamily="34" charset="0"/>
                <a:ea typeface="Calibri" pitchFamily="34" charset="-122"/>
                <a:cs typeface="Calibri" pitchFamily="34" charset="-120"/>
              </a:rPr>
              <a:t>85% employer akan upskill 2025-30</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02920" y="274320"/>
            <a:ext cx="5486400" cy="502920"/>
          </a:xfrm>
          <a:prstGeom prst="rect">
            <a:avLst/>
          </a:prstGeom>
          <a:noFill/>
          <a:ln/>
        </p:spPr>
        <p:txBody>
          <a:bodyPr wrap="square"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WEF Future of Jobs 2025 — Davos</a:t>
            </a:r>
            <a:endParaRPr lang="en-US" sz="2800" dirty="0"/>
          </a:p>
        </p:txBody>
      </p:sp>
      <p:sp>
        <p:nvSpPr>
          <p:cNvPr id="3" name="Text 1"/>
          <p:cNvSpPr/>
          <p:nvPr/>
        </p:nvSpPr>
        <p:spPr>
          <a:xfrm>
            <a:off x="502920" y="786384"/>
            <a:ext cx="8229600" cy="274320"/>
          </a:xfrm>
          <a:prstGeom prst="rect">
            <a:avLst/>
          </a:prstGeom>
          <a:noFill/>
          <a:ln/>
        </p:spPr>
        <p:txBody>
          <a:bodyPr wrap="square" rtlCol="0" anchor="ctr"/>
          <a:lstStyle/>
          <a:p>
            <a:pPr algn="l" indent="0" marL="0">
              <a:buNone/>
            </a:pPr>
            <a:r>
              <a:rPr lang="en-US" sz="1300" dirty="0">
                <a:solidFill>
                  <a:srgbClr val="8891B4"/>
                </a:solidFill>
                <a:latin typeface="Calibri" pitchFamily="34" charset="0"/>
                <a:ea typeface="Calibri" pitchFamily="34" charset="-122"/>
                <a:cs typeface="Calibri" pitchFamily="34" charset="-120"/>
              </a:rPr>
              <a:t>5 kekuatan makro yang mendisrupsi pekerjaan dan industri secara global</a:t>
            </a:r>
            <a:endParaRPr lang="en-US" sz="1300" dirty="0"/>
          </a:p>
        </p:txBody>
      </p:sp>
      <p:sp>
        <p:nvSpPr>
          <p:cNvPr id="4" name="Shape 2"/>
          <p:cNvSpPr/>
          <p:nvPr/>
        </p:nvSpPr>
        <p:spPr>
          <a:xfrm>
            <a:off x="6263640" y="201168"/>
            <a:ext cx="2377440" cy="804672"/>
          </a:xfrm>
          <a:prstGeom prst="roundRect">
            <a:avLst>
              <a:gd name="adj" fmla="val 11364"/>
            </a:avLst>
          </a:prstGeom>
          <a:solidFill>
            <a:srgbClr val="E8A020"/>
          </a:solidFill>
          <a:ln/>
        </p:spPr>
      </p:sp>
      <p:sp>
        <p:nvSpPr>
          <p:cNvPr id="5" name="Text 3"/>
          <p:cNvSpPr/>
          <p:nvPr/>
        </p:nvSpPr>
        <p:spPr>
          <a:xfrm>
            <a:off x="6263640" y="201168"/>
            <a:ext cx="2377440" cy="804672"/>
          </a:xfrm>
          <a:prstGeom prst="rect">
            <a:avLst/>
          </a:prstGeom>
          <a:noFill/>
          <a:ln/>
        </p:spPr>
        <p:txBody>
          <a:bodyPr wrap="square" rtlCol="0" anchor="ctr"/>
          <a:lstStyle/>
          <a:p>
            <a:pPr algn="ctr" indent="0" marL="0">
              <a:lnSpc>
                <a:spcPct val="110000"/>
              </a:lnSpc>
              <a:buNone/>
            </a:pPr>
            <a:r>
              <a:rPr lang="en-US" sz="1300" b="1" dirty="0">
                <a:solidFill>
                  <a:srgbClr val="141E52"/>
                </a:solidFill>
                <a:latin typeface="Calibri" pitchFamily="34" charset="0"/>
                <a:ea typeface="Calibri" pitchFamily="34" charset="-122"/>
                <a:cs typeface="Calibri" pitchFamily="34" charset="-120"/>
              </a:rPr>
              <a:t>78 JUTA</a:t>
            </a:r>
            <a:endParaRPr lang="en-US" sz="1300" dirty="0"/>
          </a:p>
          <a:p>
            <a:pPr algn="ctr" indent="0" marL="0">
              <a:lnSpc>
                <a:spcPct val="110000"/>
              </a:lnSpc>
              <a:buNone/>
            </a:pPr>
            <a:r>
              <a:rPr lang="en-US" sz="1300" b="1" dirty="0">
                <a:solidFill>
                  <a:srgbClr val="141E52"/>
                </a:solidFill>
                <a:latin typeface="Calibri" pitchFamily="34" charset="0"/>
                <a:ea typeface="Calibri" pitchFamily="34" charset="-122"/>
                <a:cs typeface="Calibri" pitchFamily="34" charset="-120"/>
              </a:rPr>
              <a:t>Net Jobs Baru by 2030</a:t>
            </a:r>
            <a:endParaRPr lang="en-US" sz="1300" dirty="0"/>
          </a:p>
        </p:txBody>
      </p:sp>
      <p:sp>
        <p:nvSpPr>
          <p:cNvPr id="6" name="Shape 4"/>
          <p:cNvSpPr/>
          <p:nvPr/>
        </p:nvSpPr>
        <p:spPr>
          <a:xfrm>
            <a:off x="502920" y="1170432"/>
            <a:ext cx="2633472" cy="1627632"/>
          </a:xfrm>
          <a:prstGeom prst="roundRect">
            <a:avLst>
              <a:gd name="adj" fmla="val 5618"/>
            </a:avLst>
          </a:prstGeom>
          <a:solidFill>
            <a:srgbClr val="2A3580"/>
          </a:solidFill>
          <a:ln w="12700">
            <a:solidFill>
              <a:srgbClr val="3D5AFE"/>
            </a:solidFill>
            <a:prstDash val="solid"/>
          </a:ln>
        </p:spPr>
      </p:sp>
      <p:sp>
        <p:nvSpPr>
          <p:cNvPr id="7" name="Shape 5"/>
          <p:cNvSpPr/>
          <p:nvPr/>
        </p:nvSpPr>
        <p:spPr>
          <a:xfrm>
            <a:off x="502920" y="1371600"/>
            <a:ext cx="45720" cy="1225296"/>
          </a:xfrm>
          <a:prstGeom prst="rect">
            <a:avLst/>
          </a:prstGeom>
          <a:solidFill>
            <a:srgbClr val="3D5AFE"/>
          </a:solidFill>
          <a:ln/>
        </p:spPr>
      </p:sp>
      <p:sp>
        <p:nvSpPr>
          <p:cNvPr id="8" name="Text 6"/>
          <p:cNvSpPr/>
          <p:nvPr/>
        </p:nvSpPr>
        <p:spPr>
          <a:xfrm>
            <a:off x="630936" y="1280160"/>
            <a:ext cx="502920" cy="50292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9" name="Text 7"/>
          <p:cNvSpPr/>
          <p:nvPr/>
        </p:nvSpPr>
        <p:spPr>
          <a:xfrm>
            <a:off x="1179576" y="1289304"/>
            <a:ext cx="1865376" cy="365760"/>
          </a:xfrm>
          <a:prstGeom prst="rect">
            <a:avLst/>
          </a:prstGeom>
          <a:noFill/>
          <a:ln/>
        </p:spPr>
        <p:txBody>
          <a:bodyPr wrap="square"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AI &amp; Teknologi</a:t>
            </a:r>
            <a:endParaRPr lang="en-US" sz="1300" dirty="0"/>
          </a:p>
        </p:txBody>
      </p:sp>
      <p:sp>
        <p:nvSpPr>
          <p:cNvPr id="10" name="Text 8"/>
          <p:cNvSpPr/>
          <p:nvPr/>
        </p:nvSpPr>
        <p:spPr>
          <a:xfrm>
            <a:off x="1179576" y="1673352"/>
            <a:ext cx="1865376" cy="1024128"/>
          </a:xfrm>
          <a:prstGeom prst="rect">
            <a:avLst/>
          </a:prstGeom>
          <a:noFill/>
          <a:ln/>
        </p:spPr>
        <p:txBody>
          <a:bodyPr wrap="square" rtlCol="0" anchor="ctr"/>
          <a:lstStyle/>
          <a:p>
            <a:pPr algn="l" indent="0" marL="0">
              <a:lnSpc>
                <a:spcPct val="120000"/>
              </a:lnSpc>
              <a:buNone/>
            </a:pPr>
            <a:r>
              <a:rPr lang="en-US" sz="1100" dirty="0">
                <a:solidFill>
                  <a:srgbClr val="8891B4"/>
                </a:solidFill>
                <a:latin typeface="Calibri" pitchFamily="34" charset="0"/>
                <a:ea typeface="Calibri" pitchFamily="34" charset="-122"/>
                <a:cs typeface="Calibri" pitchFamily="34" charset="-120"/>
              </a:rPr>
              <a:t>86% perusahaan expect AI transformasi bisnis mereka by 2030. Analytical thinking jadi #1 skill dicari employer.</a:t>
            </a:r>
            <a:endParaRPr lang="en-US" sz="1100" dirty="0"/>
          </a:p>
        </p:txBody>
      </p:sp>
      <p:sp>
        <p:nvSpPr>
          <p:cNvPr id="11" name="Shape 9"/>
          <p:cNvSpPr/>
          <p:nvPr/>
        </p:nvSpPr>
        <p:spPr>
          <a:xfrm>
            <a:off x="3246120" y="1170432"/>
            <a:ext cx="2633472" cy="1627632"/>
          </a:xfrm>
          <a:prstGeom prst="roundRect">
            <a:avLst>
              <a:gd name="adj" fmla="val 5618"/>
            </a:avLst>
          </a:prstGeom>
          <a:solidFill>
            <a:srgbClr val="2A3580"/>
          </a:solidFill>
          <a:ln w="12700">
            <a:solidFill>
              <a:srgbClr val="00897B"/>
            </a:solidFill>
            <a:prstDash val="solid"/>
          </a:ln>
        </p:spPr>
      </p:sp>
      <p:sp>
        <p:nvSpPr>
          <p:cNvPr id="12" name="Shape 10"/>
          <p:cNvSpPr/>
          <p:nvPr/>
        </p:nvSpPr>
        <p:spPr>
          <a:xfrm>
            <a:off x="3246120" y="1371600"/>
            <a:ext cx="45720" cy="1225296"/>
          </a:xfrm>
          <a:prstGeom prst="rect">
            <a:avLst/>
          </a:prstGeom>
          <a:solidFill>
            <a:srgbClr val="00897B"/>
          </a:solidFill>
          <a:ln/>
        </p:spPr>
      </p:sp>
      <p:sp>
        <p:nvSpPr>
          <p:cNvPr id="13" name="Text 11"/>
          <p:cNvSpPr/>
          <p:nvPr/>
        </p:nvSpPr>
        <p:spPr>
          <a:xfrm>
            <a:off x="3374136" y="1280160"/>
            <a:ext cx="502920" cy="50292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Text 12"/>
          <p:cNvSpPr/>
          <p:nvPr/>
        </p:nvSpPr>
        <p:spPr>
          <a:xfrm>
            <a:off x="3922776" y="1289304"/>
            <a:ext cx="1865376" cy="365760"/>
          </a:xfrm>
          <a:prstGeom prst="rect">
            <a:avLst/>
          </a:prstGeom>
          <a:noFill/>
          <a:ln/>
        </p:spPr>
        <p:txBody>
          <a:bodyPr wrap="square"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Transisi Hijau</a:t>
            </a:r>
            <a:endParaRPr lang="en-US" sz="1300" dirty="0"/>
          </a:p>
        </p:txBody>
      </p:sp>
      <p:sp>
        <p:nvSpPr>
          <p:cNvPr id="15" name="Text 13"/>
          <p:cNvSpPr/>
          <p:nvPr/>
        </p:nvSpPr>
        <p:spPr>
          <a:xfrm>
            <a:off x="3922776" y="1673352"/>
            <a:ext cx="1865376" cy="1024128"/>
          </a:xfrm>
          <a:prstGeom prst="rect">
            <a:avLst/>
          </a:prstGeom>
          <a:noFill/>
          <a:ln/>
        </p:spPr>
        <p:txBody>
          <a:bodyPr wrap="square" rtlCol="0" anchor="ctr"/>
          <a:lstStyle/>
          <a:p>
            <a:pPr algn="l" indent="0" marL="0">
              <a:lnSpc>
                <a:spcPct val="120000"/>
              </a:lnSpc>
              <a:buNone/>
            </a:pPr>
            <a:r>
              <a:rPr lang="en-US" sz="1100" dirty="0">
                <a:solidFill>
                  <a:srgbClr val="8891B4"/>
                </a:solidFill>
                <a:latin typeface="Calibri" pitchFamily="34" charset="0"/>
                <a:ea typeface="Calibri" pitchFamily="34" charset="-122"/>
                <a:cs typeface="Calibri" pitchFamily="34" charset="-120"/>
              </a:rPr>
              <a:t>Green economy ciptakan pekerjaan baru. Sustainability jadi faktor utama pemilihan brand oleh konsumen.</a:t>
            </a:r>
            <a:endParaRPr lang="en-US" sz="1100" dirty="0"/>
          </a:p>
        </p:txBody>
      </p:sp>
      <p:sp>
        <p:nvSpPr>
          <p:cNvPr id="16" name="Shape 14"/>
          <p:cNvSpPr/>
          <p:nvPr/>
        </p:nvSpPr>
        <p:spPr>
          <a:xfrm>
            <a:off x="5989320" y="1170432"/>
            <a:ext cx="2633472" cy="1627632"/>
          </a:xfrm>
          <a:prstGeom prst="roundRect">
            <a:avLst>
              <a:gd name="adj" fmla="val 5618"/>
            </a:avLst>
          </a:prstGeom>
          <a:solidFill>
            <a:srgbClr val="2A3580"/>
          </a:solidFill>
          <a:ln w="12700">
            <a:solidFill>
              <a:srgbClr val="8E24AA"/>
            </a:solidFill>
            <a:prstDash val="solid"/>
          </a:ln>
        </p:spPr>
      </p:sp>
      <p:sp>
        <p:nvSpPr>
          <p:cNvPr id="17" name="Shape 15"/>
          <p:cNvSpPr/>
          <p:nvPr/>
        </p:nvSpPr>
        <p:spPr>
          <a:xfrm>
            <a:off x="5989320" y="1371600"/>
            <a:ext cx="45720" cy="1225296"/>
          </a:xfrm>
          <a:prstGeom prst="rect">
            <a:avLst/>
          </a:prstGeom>
          <a:solidFill>
            <a:srgbClr val="8E24AA"/>
          </a:solidFill>
          <a:ln/>
        </p:spPr>
      </p:sp>
      <p:sp>
        <p:nvSpPr>
          <p:cNvPr id="18" name="Text 16"/>
          <p:cNvSpPr/>
          <p:nvPr/>
        </p:nvSpPr>
        <p:spPr>
          <a:xfrm>
            <a:off x="6117336" y="1280160"/>
            <a:ext cx="502920" cy="50292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Text 17"/>
          <p:cNvSpPr/>
          <p:nvPr/>
        </p:nvSpPr>
        <p:spPr>
          <a:xfrm>
            <a:off x="6665976" y="1289304"/>
            <a:ext cx="1865376" cy="365760"/>
          </a:xfrm>
          <a:prstGeom prst="rect">
            <a:avLst/>
          </a:prstGeom>
          <a:noFill/>
          <a:ln/>
        </p:spPr>
        <p:txBody>
          <a:bodyPr wrap="square"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Pergeseran Demografis</a:t>
            </a:r>
            <a:endParaRPr lang="en-US" sz="1300" dirty="0"/>
          </a:p>
        </p:txBody>
      </p:sp>
      <p:sp>
        <p:nvSpPr>
          <p:cNvPr id="20" name="Text 18"/>
          <p:cNvSpPr/>
          <p:nvPr/>
        </p:nvSpPr>
        <p:spPr>
          <a:xfrm>
            <a:off x="6665976" y="1673352"/>
            <a:ext cx="1865376" cy="1024128"/>
          </a:xfrm>
          <a:prstGeom prst="rect">
            <a:avLst/>
          </a:prstGeom>
          <a:noFill/>
          <a:ln/>
        </p:spPr>
        <p:txBody>
          <a:bodyPr wrap="square" rtlCol="0" anchor="ctr"/>
          <a:lstStyle/>
          <a:p>
            <a:pPr algn="l" indent="0" marL="0">
              <a:lnSpc>
                <a:spcPct val="120000"/>
              </a:lnSpc>
              <a:buNone/>
            </a:pPr>
            <a:r>
              <a:rPr lang="en-US" sz="1100" dirty="0">
                <a:solidFill>
                  <a:srgbClr val="8891B4"/>
                </a:solidFill>
                <a:latin typeface="Calibri" pitchFamily="34" charset="0"/>
                <a:ea typeface="Calibri" pitchFamily="34" charset="-122"/>
                <a:cs typeface="Calibri" pitchFamily="34" charset="-120"/>
              </a:rPr>
              <a:t>Gen Z + populasi menua = dua extreme. Retailer harus serve segmen yang sangat berbeda secara bersamaan.</a:t>
            </a:r>
            <a:endParaRPr lang="en-US" sz="1100" dirty="0"/>
          </a:p>
        </p:txBody>
      </p:sp>
      <p:sp>
        <p:nvSpPr>
          <p:cNvPr id="21" name="Shape 19"/>
          <p:cNvSpPr/>
          <p:nvPr/>
        </p:nvSpPr>
        <p:spPr>
          <a:xfrm>
            <a:off x="1874520" y="2898648"/>
            <a:ext cx="2633472" cy="1627632"/>
          </a:xfrm>
          <a:prstGeom prst="roundRect">
            <a:avLst>
              <a:gd name="adj" fmla="val 5618"/>
            </a:avLst>
          </a:prstGeom>
          <a:solidFill>
            <a:srgbClr val="2A3580"/>
          </a:solidFill>
          <a:ln w="12700">
            <a:solidFill>
              <a:srgbClr val="E65100"/>
            </a:solidFill>
            <a:prstDash val="solid"/>
          </a:ln>
        </p:spPr>
      </p:sp>
      <p:sp>
        <p:nvSpPr>
          <p:cNvPr id="22" name="Shape 20"/>
          <p:cNvSpPr/>
          <p:nvPr/>
        </p:nvSpPr>
        <p:spPr>
          <a:xfrm>
            <a:off x="1874520" y="3099816"/>
            <a:ext cx="45720" cy="1225296"/>
          </a:xfrm>
          <a:prstGeom prst="rect">
            <a:avLst/>
          </a:prstGeom>
          <a:solidFill>
            <a:srgbClr val="E65100"/>
          </a:solidFill>
          <a:ln/>
        </p:spPr>
      </p:sp>
      <p:sp>
        <p:nvSpPr>
          <p:cNvPr id="23" name="Text 21"/>
          <p:cNvSpPr/>
          <p:nvPr/>
        </p:nvSpPr>
        <p:spPr>
          <a:xfrm>
            <a:off x="2002536" y="3008376"/>
            <a:ext cx="502920" cy="50292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Text 22"/>
          <p:cNvSpPr/>
          <p:nvPr/>
        </p:nvSpPr>
        <p:spPr>
          <a:xfrm>
            <a:off x="2551176" y="3017520"/>
            <a:ext cx="1865376" cy="365760"/>
          </a:xfrm>
          <a:prstGeom prst="rect">
            <a:avLst/>
          </a:prstGeom>
          <a:noFill/>
          <a:ln/>
        </p:spPr>
        <p:txBody>
          <a:bodyPr wrap="square"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Fragmentasi Geoekonomi</a:t>
            </a:r>
            <a:endParaRPr lang="en-US" sz="1300" dirty="0"/>
          </a:p>
        </p:txBody>
      </p:sp>
      <p:sp>
        <p:nvSpPr>
          <p:cNvPr id="25" name="Text 23"/>
          <p:cNvSpPr/>
          <p:nvPr/>
        </p:nvSpPr>
        <p:spPr>
          <a:xfrm>
            <a:off x="2551176" y="3401568"/>
            <a:ext cx="1865376" cy="1024128"/>
          </a:xfrm>
          <a:prstGeom prst="rect">
            <a:avLst/>
          </a:prstGeom>
          <a:noFill/>
          <a:ln/>
        </p:spPr>
        <p:txBody>
          <a:bodyPr wrap="square" rtlCol="0" anchor="ctr"/>
          <a:lstStyle/>
          <a:p>
            <a:pPr algn="l" indent="0" marL="0">
              <a:lnSpc>
                <a:spcPct val="120000"/>
              </a:lnSpc>
              <a:buNone/>
            </a:pPr>
            <a:r>
              <a:rPr lang="en-US" sz="1100" dirty="0">
                <a:solidFill>
                  <a:srgbClr val="8891B4"/>
                </a:solidFill>
                <a:latin typeface="Calibri" pitchFamily="34" charset="0"/>
                <a:ea typeface="Calibri" pitchFamily="34" charset="-122"/>
                <a:cs typeface="Calibri" pitchFamily="34" charset="-120"/>
              </a:rPr>
              <a:t>Supply chain terganggu oleh geopolitik. Sumber lokal &amp; regional makin strategis untuk retailer.</a:t>
            </a:r>
            <a:endParaRPr lang="en-US" sz="1100" dirty="0"/>
          </a:p>
        </p:txBody>
      </p:sp>
      <p:sp>
        <p:nvSpPr>
          <p:cNvPr id="26" name="Shape 24"/>
          <p:cNvSpPr/>
          <p:nvPr/>
        </p:nvSpPr>
        <p:spPr>
          <a:xfrm>
            <a:off x="4617720" y="2898648"/>
            <a:ext cx="2633472" cy="1627632"/>
          </a:xfrm>
          <a:prstGeom prst="roundRect">
            <a:avLst>
              <a:gd name="adj" fmla="val 5618"/>
            </a:avLst>
          </a:prstGeom>
          <a:solidFill>
            <a:srgbClr val="2A3580"/>
          </a:solidFill>
          <a:ln w="12700">
            <a:solidFill>
              <a:srgbClr val="C62828"/>
            </a:solidFill>
            <a:prstDash val="solid"/>
          </a:ln>
        </p:spPr>
      </p:sp>
      <p:sp>
        <p:nvSpPr>
          <p:cNvPr id="27" name="Shape 25"/>
          <p:cNvSpPr/>
          <p:nvPr/>
        </p:nvSpPr>
        <p:spPr>
          <a:xfrm>
            <a:off x="4617720" y="3099816"/>
            <a:ext cx="45720" cy="1225296"/>
          </a:xfrm>
          <a:prstGeom prst="rect">
            <a:avLst/>
          </a:prstGeom>
          <a:solidFill>
            <a:srgbClr val="C62828"/>
          </a:solidFill>
          <a:ln/>
        </p:spPr>
      </p:sp>
      <p:sp>
        <p:nvSpPr>
          <p:cNvPr id="28" name="Text 26"/>
          <p:cNvSpPr/>
          <p:nvPr/>
        </p:nvSpPr>
        <p:spPr>
          <a:xfrm>
            <a:off x="4745736" y="3008376"/>
            <a:ext cx="502920" cy="50292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Text 27"/>
          <p:cNvSpPr/>
          <p:nvPr/>
        </p:nvSpPr>
        <p:spPr>
          <a:xfrm>
            <a:off x="5294376" y="3017520"/>
            <a:ext cx="1865376" cy="365760"/>
          </a:xfrm>
          <a:prstGeom prst="rect">
            <a:avLst/>
          </a:prstGeom>
          <a:noFill/>
          <a:ln/>
        </p:spPr>
        <p:txBody>
          <a:bodyPr wrap="square"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Ketidakpastian Ekonomi</a:t>
            </a:r>
            <a:endParaRPr lang="en-US" sz="1300" dirty="0"/>
          </a:p>
        </p:txBody>
      </p:sp>
      <p:sp>
        <p:nvSpPr>
          <p:cNvPr id="30" name="Text 28"/>
          <p:cNvSpPr/>
          <p:nvPr/>
        </p:nvSpPr>
        <p:spPr>
          <a:xfrm>
            <a:off x="5294376" y="3401568"/>
            <a:ext cx="1865376" cy="1024128"/>
          </a:xfrm>
          <a:prstGeom prst="rect">
            <a:avLst/>
          </a:prstGeom>
          <a:noFill/>
          <a:ln/>
        </p:spPr>
        <p:txBody>
          <a:bodyPr wrap="square" rtlCol="0" anchor="ctr"/>
          <a:lstStyle/>
          <a:p>
            <a:pPr algn="l" indent="0" marL="0">
              <a:lnSpc>
                <a:spcPct val="120000"/>
              </a:lnSpc>
              <a:buNone/>
            </a:pPr>
            <a:r>
              <a:rPr lang="en-US" sz="1100" dirty="0">
                <a:solidFill>
                  <a:srgbClr val="8891B4"/>
                </a:solidFill>
                <a:latin typeface="Calibri" pitchFamily="34" charset="0"/>
                <a:ea typeface="Calibri" pitchFamily="34" charset="-122"/>
                <a:cs typeface="Calibri" pitchFamily="34" charset="-120"/>
              </a:rPr>
              <a:t>Pertumbuhan global terlemah dalam dekade. Consumer spending makin selektif — value matters more than ever.</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75488" y="274320"/>
            <a:ext cx="8229600" cy="502920"/>
          </a:xfrm>
          <a:prstGeom prst="rect">
            <a:avLst/>
          </a:prstGeom>
          <a:noFill/>
          <a:ln/>
        </p:spPr>
        <p:txBody>
          <a:bodyPr wrap="square" rtlCol="0" anchor="ctr"/>
          <a:lstStyle/>
          <a:p>
            <a:pPr algn="l" indent="0" marL="0">
              <a:buNone/>
            </a:pPr>
            <a:r>
              <a:rPr lang="en-US" sz="2700" b="1" dirty="0">
                <a:solidFill>
                  <a:srgbClr val="1A2355"/>
                </a:solidFill>
                <a:latin typeface="Calibri" pitchFamily="34" charset="0"/>
                <a:ea typeface="Calibri" pitchFamily="34" charset="-122"/>
                <a:cs typeface="Calibri" pitchFamily="34" charset="-120"/>
              </a:rPr>
              <a:t>Kelas Menengah Indonesia: Tren Penyusutan</a:t>
            </a:r>
            <a:endParaRPr lang="en-US" sz="2700" dirty="0"/>
          </a:p>
        </p:txBody>
      </p:sp>
      <p:sp>
        <p:nvSpPr>
          <p:cNvPr id="3" name="Text 1"/>
          <p:cNvSpPr/>
          <p:nvPr/>
        </p:nvSpPr>
        <p:spPr>
          <a:xfrm>
            <a:off x="475488" y="777240"/>
            <a:ext cx="8229600" cy="256032"/>
          </a:xfrm>
          <a:prstGeom prst="rect">
            <a:avLst/>
          </a:prstGeom>
          <a:noFill/>
          <a:ln/>
        </p:spPr>
        <p:txBody>
          <a:bodyPr wrap="square" rtlCol="0" anchor="ctr"/>
          <a:lstStyle/>
          <a:p>
            <a:pPr algn="l" indent="0" marL="0">
              <a:buNone/>
            </a:pPr>
            <a:r>
              <a:rPr lang="en-US" sz="1200" dirty="0">
                <a:solidFill>
                  <a:srgbClr val="3D4A6E"/>
                </a:solidFill>
                <a:latin typeface="Calibri" pitchFamily="34" charset="0"/>
                <a:ea typeface="Calibri" pitchFamily="34" charset="-122"/>
                <a:cs typeface="Calibri" pitchFamily="34" charset="-120"/>
              </a:rPr>
              <a:t>Data BPS 2019–2025 menunjukkan penurunan signifikan yang berdampak langsung pada pasar retail</a:t>
            </a:r>
            <a:endParaRPr lang="en-US" sz="1200" dirty="0"/>
          </a:p>
        </p:txBody>
      </p:sp>
      <p:sp>
        <p:nvSpPr>
          <p:cNvPr id="4" name="Shape 2"/>
          <p:cNvSpPr/>
          <p:nvPr/>
        </p:nvSpPr>
        <p:spPr>
          <a:xfrm>
            <a:off x="475488" y="1115568"/>
            <a:ext cx="3520440" cy="914400"/>
          </a:xfrm>
          <a:prstGeom prst="roundRect">
            <a:avLst>
              <a:gd name="adj" fmla="val 10000"/>
            </a:avLst>
          </a:prstGeom>
          <a:solidFill>
            <a:srgbClr val="E8ECFA"/>
          </a:solidFill>
          <a:ln/>
        </p:spPr>
      </p:sp>
      <p:sp>
        <p:nvSpPr>
          <p:cNvPr id="5" name="Text 3"/>
          <p:cNvSpPr/>
          <p:nvPr/>
        </p:nvSpPr>
        <p:spPr>
          <a:xfrm>
            <a:off x="475488" y="1170432"/>
            <a:ext cx="3520440" cy="512064"/>
          </a:xfrm>
          <a:prstGeom prst="rect">
            <a:avLst/>
          </a:prstGeom>
          <a:noFill/>
          <a:ln/>
        </p:spPr>
        <p:txBody>
          <a:bodyPr wrap="square" rtlCol="0" anchor="ctr"/>
          <a:lstStyle/>
          <a:p>
            <a:pPr algn="ctr" indent="0" marL="0">
              <a:buNone/>
            </a:pPr>
            <a:r>
              <a:rPr lang="en-US" sz="3400" b="1" dirty="0">
                <a:solidFill>
                  <a:srgbClr val="1E2761"/>
                </a:solidFill>
                <a:latin typeface="Calibri" pitchFamily="34" charset="0"/>
                <a:ea typeface="Calibri" pitchFamily="34" charset="-122"/>
                <a:cs typeface="Calibri" pitchFamily="34" charset="-120"/>
              </a:rPr>
              <a:t>57.3 Juta</a:t>
            </a:r>
            <a:endParaRPr lang="en-US" sz="3400" dirty="0"/>
          </a:p>
        </p:txBody>
      </p:sp>
      <p:sp>
        <p:nvSpPr>
          <p:cNvPr id="6" name="Text 4"/>
          <p:cNvSpPr/>
          <p:nvPr/>
        </p:nvSpPr>
        <p:spPr>
          <a:xfrm>
            <a:off x="475488" y="1682496"/>
            <a:ext cx="3520440" cy="256032"/>
          </a:xfrm>
          <a:prstGeom prst="rect">
            <a:avLst/>
          </a:prstGeom>
          <a:noFill/>
          <a:ln/>
        </p:spPr>
        <p:txBody>
          <a:bodyPr wrap="square" rtlCol="0" anchor="ctr"/>
          <a:lstStyle/>
          <a:p>
            <a:pPr algn="ctr" indent="0" marL="0">
              <a:buNone/>
            </a:pPr>
            <a:r>
              <a:rPr lang="en-US" sz="1000" dirty="0">
                <a:solidFill>
                  <a:srgbClr val="3D4A6E"/>
                </a:solidFill>
                <a:latin typeface="Calibri" pitchFamily="34" charset="0"/>
                <a:ea typeface="Calibri" pitchFamily="34" charset="-122"/>
                <a:cs typeface="Calibri" pitchFamily="34" charset="-120"/>
              </a:rPr>
              <a:t>Kelas Menengah Tahun 2019  (21.4% populasi)</a:t>
            </a:r>
            <a:endParaRPr lang="en-US" sz="1000" dirty="0"/>
          </a:p>
        </p:txBody>
      </p:sp>
      <p:sp>
        <p:nvSpPr>
          <p:cNvPr id="7" name="Text 5"/>
          <p:cNvSpPr/>
          <p:nvPr/>
        </p:nvSpPr>
        <p:spPr>
          <a:xfrm>
            <a:off x="475488" y="2139696"/>
            <a:ext cx="3520440" cy="347472"/>
          </a:xfrm>
          <a:prstGeom prst="rect">
            <a:avLst/>
          </a:prstGeom>
          <a:noFill/>
          <a:ln/>
        </p:spPr>
        <p:txBody>
          <a:bodyPr wrap="square" rtlCol="0" anchor="ctr"/>
          <a:lstStyle/>
          <a:p>
            <a:pPr algn="ctr" indent="0" marL="0">
              <a:buNone/>
            </a:pPr>
            <a:r>
              <a:rPr lang="en-US" sz="1300" b="1" dirty="0">
                <a:solidFill>
                  <a:srgbClr val="E65100"/>
                </a:solidFill>
                <a:latin typeface="Calibri" pitchFamily="34" charset="0"/>
                <a:ea typeface="Calibri" pitchFamily="34" charset="-122"/>
                <a:cs typeface="Calibri" pitchFamily="34" charset="-120"/>
              </a:rPr>
              <a:t>↓  Turun 18.5% dalam 6 tahun</a:t>
            </a:r>
            <a:endParaRPr lang="en-US" sz="1300" dirty="0"/>
          </a:p>
        </p:txBody>
      </p:sp>
      <p:sp>
        <p:nvSpPr>
          <p:cNvPr id="8" name="Shape 6"/>
          <p:cNvSpPr/>
          <p:nvPr/>
        </p:nvSpPr>
        <p:spPr>
          <a:xfrm>
            <a:off x="475488" y="2560320"/>
            <a:ext cx="3520440" cy="914400"/>
          </a:xfrm>
          <a:prstGeom prst="roundRect">
            <a:avLst>
              <a:gd name="adj" fmla="val 10000"/>
            </a:avLst>
          </a:prstGeom>
          <a:solidFill>
            <a:srgbClr val="FFF3E0"/>
          </a:solidFill>
          <a:ln w="12700">
            <a:solidFill>
              <a:srgbClr val="E65100"/>
            </a:solidFill>
            <a:prstDash val="solid"/>
          </a:ln>
        </p:spPr>
      </p:sp>
      <p:sp>
        <p:nvSpPr>
          <p:cNvPr id="9" name="Text 7"/>
          <p:cNvSpPr/>
          <p:nvPr/>
        </p:nvSpPr>
        <p:spPr>
          <a:xfrm>
            <a:off x="475488" y="2615184"/>
            <a:ext cx="3520440" cy="512064"/>
          </a:xfrm>
          <a:prstGeom prst="rect">
            <a:avLst/>
          </a:prstGeom>
          <a:noFill/>
          <a:ln/>
        </p:spPr>
        <p:txBody>
          <a:bodyPr wrap="square" rtlCol="0" anchor="ctr"/>
          <a:lstStyle/>
          <a:p>
            <a:pPr algn="ctr" indent="0" marL="0">
              <a:buNone/>
            </a:pPr>
            <a:r>
              <a:rPr lang="en-US" sz="3400" b="1" dirty="0">
                <a:solidFill>
                  <a:srgbClr val="C62828"/>
                </a:solidFill>
                <a:latin typeface="Calibri" pitchFamily="34" charset="0"/>
                <a:ea typeface="Calibri" pitchFamily="34" charset="-122"/>
                <a:cs typeface="Calibri" pitchFamily="34" charset="-120"/>
              </a:rPr>
              <a:t>46.7 Juta</a:t>
            </a:r>
            <a:endParaRPr lang="en-US" sz="3400" dirty="0"/>
          </a:p>
        </p:txBody>
      </p:sp>
      <p:sp>
        <p:nvSpPr>
          <p:cNvPr id="10" name="Text 8"/>
          <p:cNvSpPr/>
          <p:nvPr/>
        </p:nvSpPr>
        <p:spPr>
          <a:xfrm>
            <a:off x="475488" y="3127248"/>
            <a:ext cx="3520440" cy="256032"/>
          </a:xfrm>
          <a:prstGeom prst="rect">
            <a:avLst/>
          </a:prstGeom>
          <a:noFill/>
          <a:ln/>
        </p:spPr>
        <p:txBody>
          <a:bodyPr wrap="square" rtlCol="0" anchor="ctr"/>
          <a:lstStyle/>
          <a:p>
            <a:pPr algn="ctr" indent="0" marL="0">
              <a:buNone/>
            </a:pPr>
            <a:r>
              <a:rPr lang="en-US" sz="1000" dirty="0">
                <a:solidFill>
                  <a:srgbClr val="3D4A6E"/>
                </a:solidFill>
                <a:latin typeface="Calibri" pitchFamily="34" charset="0"/>
                <a:ea typeface="Calibri" pitchFamily="34" charset="-122"/>
                <a:cs typeface="Calibri" pitchFamily="34" charset="-120"/>
              </a:rPr>
              <a:t>Kelas Menengah Tahun 2025  (17.1% populasi)</a:t>
            </a:r>
            <a:endParaRPr lang="en-US" sz="1000" dirty="0"/>
          </a:p>
        </p:txBody>
      </p:sp>
      <p:sp>
        <p:nvSpPr>
          <p:cNvPr id="11" name="Shape 9"/>
          <p:cNvSpPr/>
          <p:nvPr/>
        </p:nvSpPr>
        <p:spPr>
          <a:xfrm>
            <a:off x="548640" y="3749040"/>
            <a:ext cx="1051560" cy="987552"/>
          </a:xfrm>
          <a:prstGeom prst="roundRect">
            <a:avLst>
              <a:gd name="adj" fmla="val 7407"/>
            </a:avLst>
          </a:prstGeom>
          <a:solidFill>
            <a:srgbClr val="F0F2FA"/>
          </a:solidFill>
          <a:ln/>
        </p:spPr>
      </p:sp>
      <p:sp>
        <p:nvSpPr>
          <p:cNvPr id="12" name="Text 10"/>
          <p:cNvSpPr/>
          <p:nvPr/>
        </p:nvSpPr>
        <p:spPr>
          <a:xfrm>
            <a:off x="548640" y="3794760"/>
            <a:ext cx="1051560" cy="365760"/>
          </a:xfrm>
          <a:prstGeom prst="rect">
            <a:avLst/>
          </a:prstGeom>
          <a:noFill/>
          <a:ln/>
        </p:spPr>
        <p:txBody>
          <a:bodyPr wrap="square" rtlCol="0" anchor="ctr"/>
          <a:lstStyle/>
          <a:p>
            <a:pPr algn="ctr" indent="0" marL="0">
              <a:buNone/>
            </a:pPr>
            <a:r>
              <a:rPr lang="en-US" sz="1600" b="1" dirty="0">
                <a:solidFill>
                  <a:srgbClr val="1E2761"/>
                </a:solidFill>
                <a:latin typeface="Calibri" pitchFamily="34" charset="0"/>
                <a:ea typeface="Calibri" pitchFamily="34" charset="-122"/>
                <a:cs typeface="Calibri" pitchFamily="34" charset="-120"/>
              </a:rPr>
              <a:t>−1.2 Juta</a:t>
            </a:r>
            <a:endParaRPr lang="en-US" sz="1600" dirty="0"/>
          </a:p>
        </p:txBody>
      </p:sp>
      <p:sp>
        <p:nvSpPr>
          <p:cNvPr id="13" name="Text 11"/>
          <p:cNvSpPr/>
          <p:nvPr/>
        </p:nvSpPr>
        <p:spPr>
          <a:xfrm>
            <a:off x="548640" y="4169664"/>
            <a:ext cx="1051560" cy="502920"/>
          </a:xfrm>
          <a:prstGeom prst="rect">
            <a:avLst/>
          </a:prstGeom>
          <a:noFill/>
          <a:ln/>
        </p:spPr>
        <p:txBody>
          <a:bodyPr wrap="square" rtlCol="0" anchor="ctr"/>
          <a:lstStyle/>
          <a:p>
            <a:pPr algn="ctr" indent="0" marL="0">
              <a:lnSpc>
                <a:spcPct val="110000"/>
              </a:lnSpc>
              <a:buNone/>
            </a:pPr>
            <a:r>
              <a:rPr lang="en-US" sz="900" dirty="0">
                <a:solidFill>
                  <a:srgbClr val="3D4A6E"/>
                </a:solidFill>
                <a:latin typeface="Calibri" pitchFamily="34" charset="0"/>
                <a:ea typeface="Calibri" pitchFamily="34" charset="-122"/>
                <a:cs typeface="Calibri" pitchFamily="34" charset="-120"/>
              </a:rPr>
              <a:t>Penurunan</a:t>
            </a:r>
            <a:endParaRPr lang="en-US" sz="900" dirty="0"/>
          </a:p>
          <a:p>
            <a:pPr algn="ctr" indent="0" marL="0">
              <a:lnSpc>
                <a:spcPct val="110000"/>
              </a:lnSpc>
              <a:buNone/>
            </a:pPr>
            <a:r>
              <a:rPr lang="en-US" sz="900" dirty="0">
                <a:solidFill>
                  <a:srgbClr val="3D4A6E"/>
                </a:solidFill>
                <a:latin typeface="Calibri" pitchFamily="34" charset="0"/>
                <a:ea typeface="Calibri" pitchFamily="34" charset="-122"/>
                <a:cs typeface="Calibri" pitchFamily="34" charset="-120"/>
              </a:rPr>
              <a:t>2024–2025</a:t>
            </a:r>
            <a:endParaRPr lang="en-US" sz="900" dirty="0"/>
          </a:p>
        </p:txBody>
      </p:sp>
      <p:sp>
        <p:nvSpPr>
          <p:cNvPr id="14" name="Shape 12"/>
          <p:cNvSpPr/>
          <p:nvPr/>
        </p:nvSpPr>
        <p:spPr>
          <a:xfrm>
            <a:off x="1691640" y="3749040"/>
            <a:ext cx="1051560" cy="987552"/>
          </a:xfrm>
          <a:prstGeom prst="roundRect">
            <a:avLst>
              <a:gd name="adj" fmla="val 7407"/>
            </a:avLst>
          </a:prstGeom>
          <a:solidFill>
            <a:srgbClr val="F0F2FA"/>
          </a:solidFill>
          <a:ln/>
        </p:spPr>
      </p:sp>
      <p:sp>
        <p:nvSpPr>
          <p:cNvPr id="15" name="Text 13"/>
          <p:cNvSpPr/>
          <p:nvPr/>
        </p:nvSpPr>
        <p:spPr>
          <a:xfrm>
            <a:off x="1691640" y="3794760"/>
            <a:ext cx="1051560" cy="365760"/>
          </a:xfrm>
          <a:prstGeom prst="rect">
            <a:avLst/>
          </a:prstGeom>
          <a:noFill/>
          <a:ln/>
        </p:spPr>
        <p:txBody>
          <a:bodyPr wrap="square" rtlCol="0" anchor="ctr"/>
          <a:lstStyle/>
          <a:p>
            <a:pPr algn="ctr" indent="0" marL="0">
              <a:buNone/>
            </a:pPr>
            <a:r>
              <a:rPr lang="en-US" sz="1600" b="1" dirty="0">
                <a:solidFill>
                  <a:srgbClr val="1E2761"/>
                </a:solidFill>
                <a:latin typeface="Calibri" pitchFamily="34" charset="0"/>
                <a:ea typeface="Calibri" pitchFamily="34" charset="-122"/>
                <a:cs typeface="Calibri" pitchFamily="34" charset="-120"/>
              </a:rPr>
              <a:t>59%</a:t>
            </a:r>
            <a:endParaRPr lang="en-US" sz="1600" dirty="0"/>
          </a:p>
        </p:txBody>
      </p:sp>
      <p:sp>
        <p:nvSpPr>
          <p:cNvPr id="16" name="Text 14"/>
          <p:cNvSpPr/>
          <p:nvPr/>
        </p:nvSpPr>
        <p:spPr>
          <a:xfrm>
            <a:off x="1691640" y="4169664"/>
            <a:ext cx="1051560" cy="502920"/>
          </a:xfrm>
          <a:prstGeom prst="rect">
            <a:avLst/>
          </a:prstGeom>
          <a:noFill/>
          <a:ln/>
        </p:spPr>
        <p:txBody>
          <a:bodyPr wrap="square" rtlCol="0" anchor="ctr"/>
          <a:lstStyle/>
          <a:p>
            <a:pPr algn="ctr" indent="0" marL="0">
              <a:lnSpc>
                <a:spcPct val="110000"/>
              </a:lnSpc>
              <a:buNone/>
            </a:pPr>
            <a:r>
              <a:rPr lang="en-US" sz="900" dirty="0">
                <a:solidFill>
                  <a:srgbClr val="3D4A6E"/>
                </a:solidFill>
                <a:latin typeface="Calibri" pitchFamily="34" charset="0"/>
                <a:ea typeface="Calibri" pitchFamily="34" charset="-122"/>
                <a:cs typeface="Calibri" pitchFamily="34" charset="-120"/>
              </a:rPr>
              <a:t>Pekerja punya</a:t>
            </a:r>
            <a:endParaRPr lang="en-US" sz="900" dirty="0"/>
          </a:p>
          <a:p>
            <a:pPr algn="ctr" indent="0" marL="0">
              <a:lnSpc>
                <a:spcPct val="110000"/>
              </a:lnSpc>
              <a:buNone/>
            </a:pPr>
            <a:r>
              <a:rPr lang="en-US" sz="900" dirty="0">
                <a:solidFill>
                  <a:srgbClr val="3D4A6E"/>
                </a:solidFill>
                <a:latin typeface="Calibri" pitchFamily="34" charset="0"/>
                <a:ea typeface="Calibri" pitchFamily="34" charset="-122"/>
                <a:cs typeface="Calibri" pitchFamily="34" charset="-120"/>
              </a:rPr>
              <a:t>pekerjaan formal</a:t>
            </a:r>
            <a:endParaRPr lang="en-US" sz="900" dirty="0"/>
          </a:p>
        </p:txBody>
      </p:sp>
      <p:sp>
        <p:nvSpPr>
          <p:cNvPr id="17" name="Shape 15"/>
          <p:cNvSpPr/>
          <p:nvPr/>
        </p:nvSpPr>
        <p:spPr>
          <a:xfrm>
            <a:off x="2834640" y="3749040"/>
            <a:ext cx="1051560" cy="987552"/>
          </a:xfrm>
          <a:prstGeom prst="roundRect">
            <a:avLst>
              <a:gd name="adj" fmla="val 7407"/>
            </a:avLst>
          </a:prstGeom>
          <a:solidFill>
            <a:srgbClr val="F0F2FA"/>
          </a:solidFill>
          <a:ln/>
        </p:spPr>
      </p:sp>
      <p:sp>
        <p:nvSpPr>
          <p:cNvPr id="18" name="Text 16"/>
          <p:cNvSpPr/>
          <p:nvPr/>
        </p:nvSpPr>
        <p:spPr>
          <a:xfrm>
            <a:off x="2834640" y="3794760"/>
            <a:ext cx="1051560" cy="365760"/>
          </a:xfrm>
          <a:prstGeom prst="rect">
            <a:avLst/>
          </a:prstGeom>
          <a:noFill/>
          <a:ln/>
        </p:spPr>
        <p:txBody>
          <a:bodyPr wrap="square" rtlCol="0" anchor="ctr"/>
          <a:lstStyle/>
          <a:p>
            <a:pPr algn="ctr" indent="0" marL="0">
              <a:buNone/>
            </a:pPr>
            <a:r>
              <a:rPr lang="en-US" sz="1600" b="1" dirty="0">
                <a:solidFill>
                  <a:srgbClr val="1E2761"/>
                </a:solidFill>
                <a:latin typeface="Calibri" pitchFamily="34" charset="0"/>
                <a:ea typeface="Calibri" pitchFamily="34" charset="-122"/>
                <a:cs typeface="Calibri" pitchFamily="34" charset="-120"/>
              </a:rPr>
              <a:t>−1.1%/thn</a:t>
            </a:r>
            <a:endParaRPr lang="en-US" sz="1600" dirty="0"/>
          </a:p>
        </p:txBody>
      </p:sp>
      <p:sp>
        <p:nvSpPr>
          <p:cNvPr id="19" name="Text 17"/>
          <p:cNvSpPr/>
          <p:nvPr/>
        </p:nvSpPr>
        <p:spPr>
          <a:xfrm>
            <a:off x="2834640" y="4169664"/>
            <a:ext cx="1051560" cy="502920"/>
          </a:xfrm>
          <a:prstGeom prst="rect">
            <a:avLst/>
          </a:prstGeom>
          <a:noFill/>
          <a:ln/>
        </p:spPr>
        <p:txBody>
          <a:bodyPr wrap="square" rtlCol="0" anchor="ctr"/>
          <a:lstStyle/>
          <a:p>
            <a:pPr algn="ctr" indent="0" marL="0">
              <a:lnSpc>
                <a:spcPct val="110000"/>
              </a:lnSpc>
              <a:buNone/>
            </a:pPr>
            <a:r>
              <a:rPr lang="en-US" sz="900" dirty="0">
                <a:solidFill>
                  <a:srgbClr val="3D4A6E"/>
                </a:solidFill>
                <a:latin typeface="Calibri" pitchFamily="34" charset="0"/>
                <a:ea typeface="Calibri" pitchFamily="34" charset="-122"/>
                <a:cs typeface="Calibri" pitchFamily="34" charset="-120"/>
              </a:rPr>
              <a:t>Penurunan upah</a:t>
            </a:r>
            <a:endParaRPr lang="en-US" sz="900" dirty="0"/>
          </a:p>
          <a:p>
            <a:pPr algn="ctr" indent="0" marL="0">
              <a:lnSpc>
                <a:spcPct val="110000"/>
              </a:lnSpc>
              <a:buNone/>
            </a:pPr>
            <a:r>
              <a:rPr lang="en-US" sz="900" dirty="0">
                <a:solidFill>
                  <a:srgbClr val="3D4A6E"/>
                </a:solidFill>
                <a:latin typeface="Calibri" pitchFamily="34" charset="0"/>
                <a:ea typeface="Calibri" pitchFamily="34" charset="-122"/>
                <a:cs typeface="Calibri" pitchFamily="34" charset="-120"/>
              </a:rPr>
              <a:t>riil 2018–2024</a:t>
            </a:r>
            <a:endParaRPr lang="en-US" sz="900" dirty="0"/>
          </a:p>
        </p:txBody>
      </p:sp>
      <p:graphicFrame>
        <p:nvGraphicFramePr>
          <p:cNvPr id="20" name="Chart 0" descr=""/>
          <p:cNvGraphicFramePr/>
          <p:nvPr/>
        </p:nvGraphicFramePr>
        <p:xfrm>
          <a:off x="4297680" y="1051560"/>
          <a:ext cx="4370832" cy="3730752"/>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2FA"/>
        </a:solidFill>
      </p:bgPr>
    </p:bg>
    <p:spTree>
      <p:nvGrpSpPr>
        <p:cNvPr id="1" name=""/>
        <p:cNvGrpSpPr/>
        <p:nvPr/>
      </p:nvGrpSpPr>
      <p:grpSpPr>
        <a:xfrm>
          <a:off x="0" y="0"/>
          <a:ext cx="0" cy="0"/>
          <a:chOff x="0" y="0"/>
          <a:chExt cx="0" cy="0"/>
        </a:xfrm>
      </p:grpSpPr>
      <p:sp>
        <p:nvSpPr>
          <p:cNvPr id="2" name="Shape 0"/>
          <p:cNvSpPr/>
          <p:nvPr/>
        </p:nvSpPr>
        <p:spPr>
          <a:xfrm>
            <a:off x="0" y="0"/>
            <a:ext cx="9144000" cy="1051560"/>
          </a:xfrm>
          <a:prstGeom prst="rect">
            <a:avLst/>
          </a:prstGeom>
          <a:solidFill>
            <a:srgbClr val="1F7A8C"/>
          </a:solidFill>
          <a:ln/>
        </p:spPr>
      </p:sp>
      <p:sp>
        <p:nvSpPr>
          <p:cNvPr id="3" name="Text 1"/>
          <p:cNvSpPr/>
          <p:nvPr/>
        </p:nvSpPr>
        <p:spPr>
          <a:xfrm>
            <a:off x="502920" y="91440"/>
            <a:ext cx="8229600" cy="502920"/>
          </a:xfrm>
          <a:prstGeom prst="rect">
            <a:avLst/>
          </a:prstGeom>
          <a:noFill/>
          <a:ln/>
        </p:spPr>
        <p:txBody>
          <a:bodyPr wrap="square" rtlCol="0" anchor="ctr"/>
          <a:lstStyle/>
          <a:p>
            <a:pPr algn="l" indent="0" marL="0">
              <a:buNone/>
            </a:pPr>
            <a:r>
              <a:rPr lang="en-US" sz="2500" b="1" dirty="0">
                <a:solidFill>
                  <a:srgbClr val="FFFFFF"/>
                </a:solidFill>
                <a:latin typeface="Calibri" pitchFamily="34" charset="0"/>
                <a:ea typeface="Calibri" pitchFamily="34" charset="-122"/>
                <a:cs typeface="Calibri" pitchFamily="34" charset="-120"/>
              </a:rPr>
              <a:t>Siapa yang Menggantikan? — Aspirant Class</a:t>
            </a:r>
            <a:endParaRPr lang="en-US" sz="2500" dirty="0"/>
          </a:p>
        </p:txBody>
      </p:sp>
      <p:sp>
        <p:nvSpPr>
          <p:cNvPr id="4" name="Text 2"/>
          <p:cNvSpPr/>
          <p:nvPr/>
        </p:nvSpPr>
        <p:spPr>
          <a:xfrm>
            <a:off x="502920" y="612648"/>
            <a:ext cx="8229600" cy="274320"/>
          </a:xfrm>
          <a:prstGeom prst="rect">
            <a:avLst/>
          </a:prstGeom>
          <a:noFill/>
          <a:ln/>
        </p:spPr>
        <p:txBody>
          <a:bodyPr wrap="square" rtlCol="0" anchor="ctr"/>
          <a:lstStyle/>
          <a:p>
            <a:pPr algn="l" indent="0" marL="0">
              <a:buNone/>
            </a:pPr>
            <a:r>
              <a:rPr lang="en-US" sz="1200" dirty="0">
                <a:solidFill>
                  <a:srgbClr val="D0EEF3"/>
                </a:solidFill>
                <a:latin typeface="Calibri" pitchFamily="34" charset="0"/>
                <a:ea typeface="Calibri" pitchFamily="34" charset="-122"/>
                <a:cs typeface="Calibri" pitchFamily="34" charset="-120"/>
              </a:rPr>
              <a:t>Segmen yang "naik kelas" tapi belum mapan — target paling relevan untuk retail masa depan</a:t>
            </a:r>
            <a:endParaRPr lang="en-US" sz="1200" dirty="0"/>
          </a:p>
        </p:txBody>
      </p:sp>
      <p:sp>
        <p:nvSpPr>
          <p:cNvPr id="5" name="Shape 3"/>
          <p:cNvSpPr/>
          <p:nvPr/>
        </p:nvSpPr>
        <p:spPr>
          <a:xfrm>
            <a:off x="475488" y="1170432"/>
            <a:ext cx="3218688" cy="2304288"/>
          </a:xfrm>
          <a:prstGeom prst="roundRect">
            <a:avLst>
              <a:gd name="adj" fmla="val 4762"/>
            </a:avLst>
          </a:prstGeom>
          <a:solidFill>
            <a:srgbClr val="1F7A8C"/>
          </a:solidFill>
          <a:ln/>
        </p:spPr>
      </p:sp>
      <p:sp>
        <p:nvSpPr>
          <p:cNvPr id="6" name="Text 4"/>
          <p:cNvSpPr/>
          <p:nvPr/>
        </p:nvSpPr>
        <p:spPr>
          <a:xfrm>
            <a:off x="475488" y="1261872"/>
            <a:ext cx="3218688" cy="1005840"/>
          </a:xfrm>
          <a:prstGeom prst="rect">
            <a:avLst/>
          </a:prstGeom>
          <a:noFill/>
          <a:ln/>
        </p:spPr>
        <p:txBody>
          <a:bodyPr wrap="square" rtlCol="0" anchor="ctr"/>
          <a:lstStyle/>
          <a:p>
            <a:pPr algn="ctr" indent="0" marL="0">
              <a:buNone/>
            </a:pPr>
            <a:r>
              <a:rPr lang="en-US" sz="7200" b="1" dirty="0">
                <a:solidFill>
                  <a:srgbClr val="FFFFFF"/>
                </a:solidFill>
                <a:latin typeface="Calibri" pitchFamily="34" charset="0"/>
                <a:ea typeface="Calibri" pitchFamily="34" charset="-122"/>
                <a:cs typeface="Calibri" pitchFamily="34" charset="-120"/>
              </a:rPr>
              <a:t>142</a:t>
            </a:r>
            <a:endParaRPr lang="en-US" sz="7200" dirty="0"/>
          </a:p>
        </p:txBody>
      </p:sp>
      <p:sp>
        <p:nvSpPr>
          <p:cNvPr id="7" name="Text 5"/>
          <p:cNvSpPr/>
          <p:nvPr/>
        </p:nvSpPr>
        <p:spPr>
          <a:xfrm>
            <a:off x="475488" y="2286000"/>
            <a:ext cx="3218688" cy="329184"/>
          </a:xfrm>
          <a:prstGeom prst="rect">
            <a:avLst/>
          </a:prstGeom>
          <a:noFill/>
          <a:ln/>
        </p:spPr>
        <p:txBody>
          <a:bodyPr wrap="square" rtlCol="0" anchor="ctr"/>
          <a:lstStyle/>
          <a:p>
            <a:pPr algn="ctr" indent="0" marL="0">
              <a:buNone/>
            </a:pPr>
            <a:r>
              <a:rPr lang="en-US" sz="1600" dirty="0">
                <a:solidFill>
                  <a:srgbClr val="D0EEF3"/>
                </a:solidFill>
                <a:latin typeface="Calibri" pitchFamily="34" charset="0"/>
                <a:ea typeface="Calibri" pitchFamily="34" charset="-122"/>
                <a:cs typeface="Calibri" pitchFamily="34" charset="-120"/>
              </a:rPr>
              <a:t>Juta Orang</a:t>
            </a:r>
            <a:endParaRPr lang="en-US" sz="1600" dirty="0"/>
          </a:p>
        </p:txBody>
      </p:sp>
      <p:sp>
        <p:nvSpPr>
          <p:cNvPr id="8" name="Text 6"/>
          <p:cNvSpPr/>
          <p:nvPr/>
        </p:nvSpPr>
        <p:spPr>
          <a:xfrm>
            <a:off x="475488" y="2651760"/>
            <a:ext cx="3218688" cy="27432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Aspirant Class 2025  =  50.4% populasi Indonesia</a:t>
            </a:r>
            <a:endParaRPr lang="en-US" sz="1000" dirty="0"/>
          </a:p>
        </p:txBody>
      </p:sp>
      <p:sp>
        <p:nvSpPr>
          <p:cNvPr id="9" name="Shape 7"/>
          <p:cNvSpPr/>
          <p:nvPr/>
        </p:nvSpPr>
        <p:spPr>
          <a:xfrm>
            <a:off x="475488" y="3566160"/>
            <a:ext cx="3218688" cy="566928"/>
          </a:xfrm>
          <a:prstGeom prst="roundRect">
            <a:avLst>
              <a:gd name="adj" fmla="val 12903"/>
            </a:avLst>
          </a:prstGeom>
          <a:solidFill>
            <a:srgbClr val="00695C"/>
          </a:solidFill>
          <a:ln/>
        </p:spPr>
      </p:sp>
      <p:sp>
        <p:nvSpPr>
          <p:cNvPr id="10" name="Text 8"/>
          <p:cNvSpPr/>
          <p:nvPr/>
        </p:nvSpPr>
        <p:spPr>
          <a:xfrm>
            <a:off x="475488" y="3566160"/>
            <a:ext cx="3218688" cy="566928"/>
          </a:xfrm>
          <a:prstGeom prst="rect">
            <a:avLst/>
          </a:prstGeom>
          <a:noFill/>
          <a:ln/>
        </p:spPr>
        <p:txBody>
          <a:bodyPr wrap="square" rtlCol="0" anchor="ctr"/>
          <a:lstStyle/>
          <a:p>
            <a:pPr algn="ctr" indent="0" marL="0">
              <a:lnSpc>
                <a:spcPct val="110000"/>
              </a:lnSpc>
              <a:buNone/>
            </a:pPr>
            <a:r>
              <a:rPr lang="en-US" sz="1000" dirty="0">
                <a:solidFill>
                  <a:srgbClr val="FFFFFF"/>
                </a:solidFill>
                <a:latin typeface="Calibri" pitchFamily="34" charset="0"/>
                <a:ea typeface="Calibri" pitchFamily="34" charset="-122"/>
                <a:cs typeface="Calibri" pitchFamily="34" charset="-120"/>
              </a:rPr>
              <a:t>↑ Naik dari 137.5 juta (2024)  —  tumbuh +4.5 juta dalam 1 tahun</a:t>
            </a:r>
            <a:endParaRPr lang="en-US" sz="1000" dirty="0"/>
          </a:p>
        </p:txBody>
      </p:sp>
      <p:sp>
        <p:nvSpPr>
          <p:cNvPr id="11" name="Shape 9"/>
          <p:cNvSpPr/>
          <p:nvPr/>
        </p:nvSpPr>
        <p:spPr>
          <a:xfrm>
            <a:off x="3977640" y="1170432"/>
            <a:ext cx="4681728" cy="841248"/>
          </a:xfrm>
          <a:prstGeom prst="roundRect">
            <a:avLst>
              <a:gd name="adj" fmla="val 10870"/>
            </a:avLst>
          </a:prstGeom>
          <a:solidFill>
            <a:srgbClr val="FFFFFF"/>
          </a:solidFill>
          <a:ln/>
          <a:effectLst>
            <a:outerShdw sx="100000" sy="100000" kx="0" ky="0" algn="bl" rotWithShape="0" blurRad="63500" dist="25400" dir="2700000">
              <a:srgbClr val="CCCCCC">
                <a:alpha val="18000"/>
              </a:srgbClr>
            </a:outerShdw>
          </a:effectLst>
        </p:spPr>
      </p:sp>
      <p:sp>
        <p:nvSpPr>
          <p:cNvPr id="12" name="Shape 10"/>
          <p:cNvSpPr/>
          <p:nvPr/>
        </p:nvSpPr>
        <p:spPr>
          <a:xfrm>
            <a:off x="4096512" y="1307592"/>
            <a:ext cx="548640" cy="548640"/>
          </a:xfrm>
          <a:prstGeom prst="ellipse">
            <a:avLst/>
          </a:prstGeom>
          <a:solidFill>
            <a:srgbClr val="C8860A"/>
          </a:solidFill>
          <a:ln/>
        </p:spPr>
      </p:sp>
      <p:sp>
        <p:nvSpPr>
          <p:cNvPr id="13" name="Text 11"/>
          <p:cNvSpPr/>
          <p:nvPr/>
        </p:nvSpPr>
        <p:spPr>
          <a:xfrm>
            <a:off x="4096512" y="1307592"/>
            <a:ext cx="548640" cy="548640"/>
          </a:xfrm>
          <a:prstGeom prst="rect">
            <a:avLst/>
          </a:prstGeom>
          <a:noFill/>
          <a:ln/>
        </p:spPr>
        <p:txBody>
          <a:bodyPr wrap="square" lIns="0" tIns="0" rIns="0" bIns="0" rtlCol="0" anchor="ctr"/>
          <a:lstStyle/>
          <a:p>
            <a:pPr algn="ctr" indent="0" marL="0">
              <a:buNone/>
            </a:pPr>
            <a:r>
              <a:rPr lang="en-US" sz="1900" dirty="0">
                <a:solidFill>
                  <a:srgbClr val="000000"/>
                </a:solidFill>
              </a:rPr>
              <a:t>💰</a:t>
            </a:r>
            <a:endParaRPr lang="en-US" sz="1900" dirty="0"/>
          </a:p>
        </p:txBody>
      </p:sp>
      <p:sp>
        <p:nvSpPr>
          <p:cNvPr id="14" name="Text 12"/>
          <p:cNvSpPr/>
          <p:nvPr/>
        </p:nvSpPr>
        <p:spPr>
          <a:xfrm>
            <a:off x="4754880" y="1252728"/>
            <a:ext cx="3749040" cy="320040"/>
          </a:xfrm>
          <a:prstGeom prst="rect">
            <a:avLst/>
          </a:prstGeom>
          <a:noFill/>
          <a:ln/>
        </p:spPr>
        <p:txBody>
          <a:bodyPr wrap="square" rtlCol="0" anchor="ctr"/>
          <a:lstStyle/>
          <a:p>
            <a:pPr algn="l" indent="0" marL="0">
              <a:buNone/>
            </a:pPr>
            <a:r>
              <a:rPr lang="en-US" sz="1300" b="1" dirty="0">
                <a:solidFill>
                  <a:srgbClr val="1A2355"/>
                </a:solidFill>
                <a:latin typeface="Calibri" pitchFamily="34" charset="0"/>
                <a:ea typeface="Calibri" pitchFamily="34" charset="-122"/>
                <a:cs typeface="Calibri" pitchFamily="34" charset="-120"/>
              </a:rPr>
              <a:t>Sensitif Harga, Sangat Aspiratif</a:t>
            </a:r>
            <a:endParaRPr lang="en-US" sz="1300" dirty="0"/>
          </a:p>
        </p:txBody>
      </p:sp>
      <p:sp>
        <p:nvSpPr>
          <p:cNvPr id="15" name="Text 13"/>
          <p:cNvSpPr/>
          <p:nvPr/>
        </p:nvSpPr>
        <p:spPr>
          <a:xfrm>
            <a:off x="4754880" y="1600200"/>
            <a:ext cx="3749040" cy="347472"/>
          </a:xfrm>
          <a:prstGeom prst="rect">
            <a:avLst/>
          </a:prstGeom>
          <a:noFill/>
          <a:ln/>
        </p:spPr>
        <p:txBody>
          <a:bodyPr wrap="square" rtlCol="0" anchor="ctr"/>
          <a:lstStyle/>
          <a:p>
            <a:pPr algn="l" indent="0" marL="0">
              <a:buNone/>
            </a:pPr>
            <a:r>
              <a:rPr lang="en-US" sz="1100" dirty="0">
                <a:solidFill>
                  <a:srgbClr val="3D4A6E"/>
                </a:solidFill>
                <a:latin typeface="Calibri" pitchFamily="34" charset="0"/>
                <a:ea typeface="Calibri" pitchFamily="34" charset="-122"/>
                <a:cs typeface="Calibri" pitchFamily="34" charset="-120"/>
              </a:rPr>
              <a:t>Cari "quality at right price". Tidak mau terkesan murah tapi juga tidak bisa beli premium.</a:t>
            </a:r>
            <a:endParaRPr lang="en-US" sz="1100" dirty="0"/>
          </a:p>
        </p:txBody>
      </p:sp>
      <p:sp>
        <p:nvSpPr>
          <p:cNvPr id="16" name="Shape 14"/>
          <p:cNvSpPr/>
          <p:nvPr/>
        </p:nvSpPr>
        <p:spPr>
          <a:xfrm>
            <a:off x="3977640" y="2130552"/>
            <a:ext cx="4681728" cy="841248"/>
          </a:xfrm>
          <a:prstGeom prst="roundRect">
            <a:avLst>
              <a:gd name="adj" fmla="val 10870"/>
            </a:avLst>
          </a:prstGeom>
          <a:solidFill>
            <a:srgbClr val="FFFFFF"/>
          </a:solidFill>
          <a:ln/>
          <a:effectLst>
            <a:outerShdw sx="100000" sy="100000" kx="0" ky="0" algn="bl" rotWithShape="0" blurRad="63500" dist="25400" dir="2700000">
              <a:srgbClr val="CCCCCC">
                <a:alpha val="18000"/>
              </a:srgbClr>
            </a:outerShdw>
          </a:effectLst>
        </p:spPr>
      </p:sp>
      <p:sp>
        <p:nvSpPr>
          <p:cNvPr id="17" name="Shape 15"/>
          <p:cNvSpPr/>
          <p:nvPr/>
        </p:nvSpPr>
        <p:spPr>
          <a:xfrm>
            <a:off x="4096512" y="2267712"/>
            <a:ext cx="548640" cy="548640"/>
          </a:xfrm>
          <a:prstGeom prst="ellipse">
            <a:avLst/>
          </a:prstGeom>
          <a:solidFill>
            <a:srgbClr val="1E2761"/>
          </a:solidFill>
          <a:ln/>
        </p:spPr>
      </p:sp>
      <p:sp>
        <p:nvSpPr>
          <p:cNvPr id="18" name="Text 16"/>
          <p:cNvSpPr/>
          <p:nvPr/>
        </p:nvSpPr>
        <p:spPr>
          <a:xfrm>
            <a:off x="4096512" y="2267712"/>
            <a:ext cx="548640" cy="548640"/>
          </a:xfrm>
          <a:prstGeom prst="rect">
            <a:avLst/>
          </a:prstGeom>
          <a:noFill/>
          <a:ln/>
        </p:spPr>
        <p:txBody>
          <a:bodyPr wrap="square" lIns="0" tIns="0" rIns="0" bIns="0" rtlCol="0" anchor="ctr"/>
          <a:lstStyle/>
          <a:p>
            <a:pPr algn="ctr" indent="0" marL="0">
              <a:buNone/>
            </a:pPr>
            <a:r>
              <a:rPr lang="en-US" sz="1900" dirty="0">
                <a:solidFill>
                  <a:srgbClr val="000000"/>
                </a:solidFill>
              </a:rPr>
              <a:t>📱</a:t>
            </a:r>
            <a:endParaRPr lang="en-US" sz="1900" dirty="0"/>
          </a:p>
        </p:txBody>
      </p:sp>
      <p:sp>
        <p:nvSpPr>
          <p:cNvPr id="19" name="Text 17"/>
          <p:cNvSpPr/>
          <p:nvPr/>
        </p:nvSpPr>
        <p:spPr>
          <a:xfrm>
            <a:off x="4754880" y="2212848"/>
            <a:ext cx="3749040" cy="320040"/>
          </a:xfrm>
          <a:prstGeom prst="rect">
            <a:avLst/>
          </a:prstGeom>
          <a:noFill/>
          <a:ln/>
        </p:spPr>
        <p:txBody>
          <a:bodyPr wrap="square" rtlCol="0" anchor="ctr"/>
          <a:lstStyle/>
          <a:p>
            <a:pPr algn="l" indent="0" marL="0">
              <a:buNone/>
            </a:pPr>
            <a:r>
              <a:rPr lang="en-US" sz="1300" b="1" dirty="0">
                <a:solidFill>
                  <a:srgbClr val="1A2355"/>
                </a:solidFill>
                <a:latin typeface="Calibri" pitchFamily="34" charset="0"/>
                <a:ea typeface="Calibri" pitchFamily="34" charset="-122"/>
                <a:cs typeface="Calibri" pitchFamily="34" charset="-120"/>
              </a:rPr>
              <a:t>Mobile-First, Research Sebelum Beli</a:t>
            </a:r>
            <a:endParaRPr lang="en-US" sz="1300" dirty="0"/>
          </a:p>
        </p:txBody>
      </p:sp>
      <p:sp>
        <p:nvSpPr>
          <p:cNvPr id="20" name="Text 18"/>
          <p:cNvSpPr/>
          <p:nvPr/>
        </p:nvSpPr>
        <p:spPr>
          <a:xfrm>
            <a:off x="4754880" y="2560320"/>
            <a:ext cx="3749040" cy="347472"/>
          </a:xfrm>
          <a:prstGeom prst="rect">
            <a:avLst/>
          </a:prstGeom>
          <a:noFill/>
          <a:ln/>
        </p:spPr>
        <p:txBody>
          <a:bodyPr wrap="square" rtlCol="0" anchor="ctr"/>
          <a:lstStyle/>
          <a:p>
            <a:pPr algn="l" indent="0" marL="0">
              <a:buNone/>
            </a:pPr>
            <a:r>
              <a:rPr lang="en-US" sz="1100" dirty="0">
                <a:solidFill>
                  <a:srgbClr val="3D4A6E"/>
                </a:solidFill>
                <a:latin typeface="Calibri" pitchFamily="34" charset="0"/>
                <a:ea typeface="Calibri" pitchFamily="34" charset="-122"/>
                <a:cs typeface="Calibri" pitchFamily="34" charset="-120"/>
              </a:rPr>
              <a:t>Bandingkan harga &amp; review online sebelum keputusan pembelian — online atau offline.</a:t>
            </a:r>
            <a:endParaRPr lang="en-US" sz="1100" dirty="0"/>
          </a:p>
        </p:txBody>
      </p:sp>
      <p:sp>
        <p:nvSpPr>
          <p:cNvPr id="21" name="Shape 19"/>
          <p:cNvSpPr/>
          <p:nvPr/>
        </p:nvSpPr>
        <p:spPr>
          <a:xfrm>
            <a:off x="3977640" y="3090672"/>
            <a:ext cx="4681728" cy="841248"/>
          </a:xfrm>
          <a:prstGeom prst="roundRect">
            <a:avLst>
              <a:gd name="adj" fmla="val 10870"/>
            </a:avLst>
          </a:prstGeom>
          <a:solidFill>
            <a:srgbClr val="FFFFFF"/>
          </a:solidFill>
          <a:ln/>
          <a:effectLst>
            <a:outerShdw sx="100000" sy="100000" kx="0" ky="0" algn="bl" rotWithShape="0" blurRad="63500" dist="25400" dir="2700000">
              <a:srgbClr val="CCCCCC">
                <a:alpha val="18000"/>
              </a:srgbClr>
            </a:outerShdw>
          </a:effectLst>
        </p:spPr>
      </p:sp>
      <p:sp>
        <p:nvSpPr>
          <p:cNvPr id="22" name="Shape 20"/>
          <p:cNvSpPr/>
          <p:nvPr/>
        </p:nvSpPr>
        <p:spPr>
          <a:xfrm>
            <a:off x="4096512" y="3227832"/>
            <a:ext cx="548640" cy="548640"/>
          </a:xfrm>
          <a:prstGeom prst="ellipse">
            <a:avLst/>
          </a:prstGeom>
          <a:solidFill>
            <a:srgbClr val="00695C"/>
          </a:solidFill>
          <a:ln/>
        </p:spPr>
      </p:sp>
      <p:sp>
        <p:nvSpPr>
          <p:cNvPr id="23" name="Text 21"/>
          <p:cNvSpPr/>
          <p:nvPr/>
        </p:nvSpPr>
        <p:spPr>
          <a:xfrm>
            <a:off x="4096512" y="3227832"/>
            <a:ext cx="548640" cy="548640"/>
          </a:xfrm>
          <a:prstGeom prst="rect">
            <a:avLst/>
          </a:prstGeom>
          <a:noFill/>
          <a:ln/>
        </p:spPr>
        <p:txBody>
          <a:bodyPr wrap="square" lIns="0" tIns="0" rIns="0" bIns="0" rtlCol="0" anchor="ctr"/>
          <a:lstStyle/>
          <a:p>
            <a:pPr algn="ctr" indent="0" marL="0">
              <a:buNone/>
            </a:pPr>
            <a:r>
              <a:rPr lang="en-US" sz="1900" dirty="0">
                <a:solidFill>
                  <a:srgbClr val="000000"/>
                </a:solidFill>
              </a:rPr>
              <a:t>✅</a:t>
            </a:r>
            <a:endParaRPr lang="en-US" sz="1900" dirty="0"/>
          </a:p>
        </p:txBody>
      </p:sp>
      <p:sp>
        <p:nvSpPr>
          <p:cNvPr id="24" name="Text 22"/>
          <p:cNvSpPr/>
          <p:nvPr/>
        </p:nvSpPr>
        <p:spPr>
          <a:xfrm>
            <a:off x="4754880" y="3172968"/>
            <a:ext cx="3749040" cy="320040"/>
          </a:xfrm>
          <a:prstGeom prst="rect">
            <a:avLst/>
          </a:prstGeom>
          <a:noFill/>
          <a:ln/>
        </p:spPr>
        <p:txBody>
          <a:bodyPr wrap="square" rtlCol="0" anchor="ctr"/>
          <a:lstStyle/>
          <a:p>
            <a:pPr algn="l" indent="0" marL="0">
              <a:buNone/>
            </a:pPr>
            <a:r>
              <a:rPr lang="en-US" sz="1300" b="1" dirty="0">
                <a:solidFill>
                  <a:srgbClr val="1A2355"/>
                </a:solidFill>
                <a:latin typeface="Calibri" pitchFamily="34" charset="0"/>
                <a:ea typeface="Calibri" pitchFamily="34" charset="-122"/>
                <a:cs typeface="Calibri" pitchFamily="34" charset="-120"/>
              </a:rPr>
              <a:t>Value-Driven Decision Making</a:t>
            </a:r>
            <a:endParaRPr lang="en-US" sz="1300" dirty="0"/>
          </a:p>
        </p:txBody>
      </p:sp>
      <p:sp>
        <p:nvSpPr>
          <p:cNvPr id="25" name="Text 23"/>
          <p:cNvSpPr/>
          <p:nvPr/>
        </p:nvSpPr>
        <p:spPr>
          <a:xfrm>
            <a:off x="4754880" y="3520440"/>
            <a:ext cx="3749040" cy="347472"/>
          </a:xfrm>
          <a:prstGeom prst="rect">
            <a:avLst/>
          </a:prstGeom>
          <a:noFill/>
          <a:ln/>
        </p:spPr>
        <p:txBody>
          <a:bodyPr wrap="square" rtlCol="0" anchor="ctr"/>
          <a:lstStyle/>
          <a:p>
            <a:pPr algn="l" indent="0" marL="0">
              <a:buNone/>
            </a:pPr>
            <a:r>
              <a:rPr lang="en-US" sz="1100" dirty="0">
                <a:solidFill>
                  <a:srgbClr val="3D4A6E"/>
                </a:solidFill>
                <a:latin typeface="Calibri" pitchFamily="34" charset="0"/>
                <a:ea typeface="Calibri" pitchFamily="34" charset="-122"/>
                <a:cs typeface="Calibri" pitchFamily="34" charset="-120"/>
              </a:rPr>
              <a:t>Beli berdasarkan manfaat nyata, bukan status. Loyalty ke brand yang konsisten memberikan value.</a:t>
            </a:r>
            <a:endParaRPr lang="en-US" sz="1100" dirty="0"/>
          </a:p>
        </p:txBody>
      </p:sp>
      <p:sp>
        <p:nvSpPr>
          <p:cNvPr id="26" name="Shape 24"/>
          <p:cNvSpPr/>
          <p:nvPr/>
        </p:nvSpPr>
        <p:spPr>
          <a:xfrm>
            <a:off x="3977640" y="4050792"/>
            <a:ext cx="4681728" cy="841248"/>
          </a:xfrm>
          <a:prstGeom prst="roundRect">
            <a:avLst>
              <a:gd name="adj" fmla="val 10870"/>
            </a:avLst>
          </a:prstGeom>
          <a:solidFill>
            <a:srgbClr val="FFFFFF"/>
          </a:solidFill>
          <a:ln/>
          <a:effectLst>
            <a:outerShdw sx="100000" sy="100000" kx="0" ky="0" algn="bl" rotWithShape="0" blurRad="63500" dist="25400" dir="2700000">
              <a:srgbClr val="CCCCCC">
                <a:alpha val="18000"/>
              </a:srgbClr>
            </a:outerShdw>
          </a:effectLst>
        </p:spPr>
      </p:sp>
      <p:sp>
        <p:nvSpPr>
          <p:cNvPr id="27" name="Shape 25"/>
          <p:cNvSpPr/>
          <p:nvPr/>
        </p:nvSpPr>
        <p:spPr>
          <a:xfrm>
            <a:off x="4096512" y="4187952"/>
            <a:ext cx="548640" cy="548640"/>
          </a:xfrm>
          <a:prstGeom prst="ellipse">
            <a:avLst/>
          </a:prstGeom>
          <a:solidFill>
            <a:srgbClr val="6A1B9A"/>
          </a:solidFill>
          <a:ln/>
        </p:spPr>
      </p:sp>
      <p:sp>
        <p:nvSpPr>
          <p:cNvPr id="28" name="Text 26"/>
          <p:cNvSpPr/>
          <p:nvPr/>
        </p:nvSpPr>
        <p:spPr>
          <a:xfrm>
            <a:off x="4096512" y="4187952"/>
            <a:ext cx="548640" cy="548640"/>
          </a:xfrm>
          <a:prstGeom prst="rect">
            <a:avLst/>
          </a:prstGeom>
          <a:noFill/>
          <a:ln/>
        </p:spPr>
        <p:txBody>
          <a:bodyPr wrap="square" lIns="0" tIns="0" rIns="0" bIns="0" rtlCol="0" anchor="ctr"/>
          <a:lstStyle/>
          <a:p>
            <a:pPr algn="ctr" indent="0" marL="0">
              <a:buNone/>
            </a:pPr>
            <a:r>
              <a:rPr lang="en-US" sz="1900" dirty="0">
                <a:solidFill>
                  <a:srgbClr val="000000"/>
                </a:solidFill>
              </a:rPr>
              <a:t>🏘️</a:t>
            </a:r>
            <a:endParaRPr lang="en-US" sz="1900" dirty="0"/>
          </a:p>
        </p:txBody>
      </p:sp>
      <p:sp>
        <p:nvSpPr>
          <p:cNvPr id="29" name="Text 27"/>
          <p:cNvSpPr/>
          <p:nvPr/>
        </p:nvSpPr>
        <p:spPr>
          <a:xfrm>
            <a:off x="4754880" y="4133088"/>
            <a:ext cx="3749040" cy="320040"/>
          </a:xfrm>
          <a:prstGeom prst="rect">
            <a:avLst/>
          </a:prstGeom>
          <a:noFill/>
          <a:ln/>
        </p:spPr>
        <p:txBody>
          <a:bodyPr wrap="square" rtlCol="0" anchor="ctr"/>
          <a:lstStyle/>
          <a:p>
            <a:pPr algn="l" indent="0" marL="0">
              <a:buNone/>
            </a:pPr>
            <a:r>
              <a:rPr lang="en-US" sz="1300" b="1" dirty="0">
                <a:solidFill>
                  <a:srgbClr val="1A2355"/>
                </a:solidFill>
                <a:latin typeface="Calibri" pitchFamily="34" charset="0"/>
                <a:ea typeface="Calibri" pitchFamily="34" charset="-122"/>
                <a:cs typeface="Calibri" pitchFamily="34" charset="-120"/>
              </a:rPr>
              <a:t>Tumbuh di Kota Tier 2 &amp; 3</a:t>
            </a:r>
            <a:endParaRPr lang="en-US" sz="1300" dirty="0"/>
          </a:p>
        </p:txBody>
      </p:sp>
      <p:sp>
        <p:nvSpPr>
          <p:cNvPr id="30" name="Text 28"/>
          <p:cNvSpPr/>
          <p:nvPr/>
        </p:nvSpPr>
        <p:spPr>
          <a:xfrm>
            <a:off x="4754880" y="4480560"/>
            <a:ext cx="3749040" cy="347472"/>
          </a:xfrm>
          <a:prstGeom prst="rect">
            <a:avLst/>
          </a:prstGeom>
          <a:noFill/>
          <a:ln/>
        </p:spPr>
        <p:txBody>
          <a:bodyPr wrap="square" rtlCol="0" anchor="ctr"/>
          <a:lstStyle/>
          <a:p>
            <a:pPr algn="l" indent="0" marL="0">
              <a:buNone/>
            </a:pPr>
            <a:r>
              <a:rPr lang="en-US" sz="1100" dirty="0">
                <a:solidFill>
                  <a:srgbClr val="3D4A6E"/>
                </a:solidFill>
                <a:latin typeface="Calibri" pitchFamily="34" charset="0"/>
                <a:ea typeface="Calibri" pitchFamily="34" charset="-122"/>
                <a:cs typeface="Calibri" pitchFamily="34" charset="-120"/>
              </a:rPr>
              <a:t>Growth engine terbesar bukan Jakarta tapi kota-kota menengah yang underserved retailer.</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E52"/>
        </a:solidFill>
      </p:bgPr>
    </p:bg>
    <p:spTree>
      <p:nvGrpSpPr>
        <p:cNvPr id="1" name=""/>
        <p:cNvGrpSpPr/>
        <p:nvPr/>
      </p:nvGrpSpPr>
      <p:grpSpPr>
        <a:xfrm>
          <a:off x="0" y="0"/>
          <a:ext cx="0" cy="0"/>
          <a:chOff x="0" y="0"/>
          <a:chExt cx="0" cy="0"/>
        </a:xfrm>
      </p:grpSpPr>
      <p:sp>
        <p:nvSpPr>
          <p:cNvPr id="2" name="Text 0"/>
          <p:cNvSpPr/>
          <p:nvPr/>
        </p:nvSpPr>
        <p:spPr>
          <a:xfrm>
            <a:off x="502920" y="256032"/>
            <a:ext cx="8229600" cy="512064"/>
          </a:xfrm>
          <a:prstGeom prst="rect">
            <a:avLst/>
          </a:prstGeom>
          <a:noFill/>
          <a:ln/>
        </p:spPr>
        <p:txBody>
          <a:bodyPr wrap="square" rtlCol="0" anchor="ctr"/>
          <a:lstStyle/>
          <a:p>
            <a:pPr algn="l" indent="0" marL="0">
              <a:buNone/>
            </a:pPr>
            <a:r>
              <a:rPr lang="en-US" sz="2700" b="1" dirty="0">
                <a:solidFill>
                  <a:srgbClr val="FFFFFF"/>
                </a:solidFill>
                <a:latin typeface="Calibri" pitchFamily="34" charset="0"/>
                <a:ea typeface="Calibri" pitchFamily="34" charset="-122"/>
                <a:cs typeface="Calibri" pitchFamily="34" charset="-120"/>
              </a:rPr>
              <a:t>Specialist vs Generalist: Equation Baru di Era AI</a:t>
            </a:r>
            <a:endParaRPr lang="en-US" sz="2700" dirty="0"/>
          </a:p>
        </p:txBody>
      </p:sp>
      <p:sp>
        <p:nvSpPr>
          <p:cNvPr id="3" name="Text 1"/>
          <p:cNvSpPr/>
          <p:nvPr/>
        </p:nvSpPr>
        <p:spPr>
          <a:xfrm>
            <a:off x="502920" y="768096"/>
            <a:ext cx="8229600" cy="274320"/>
          </a:xfrm>
          <a:prstGeom prst="rect">
            <a:avLst/>
          </a:prstGeom>
          <a:noFill/>
          <a:ln/>
        </p:spPr>
        <p:txBody>
          <a:bodyPr wrap="square" rtlCol="0" anchor="ctr"/>
          <a:lstStyle/>
          <a:p>
            <a:pPr algn="l" indent="0" marL="0">
              <a:buNone/>
            </a:pPr>
            <a:r>
              <a:rPr lang="en-US" sz="1300" dirty="0">
                <a:solidFill>
                  <a:srgbClr val="8891B4"/>
                </a:solidFill>
                <a:latin typeface="Calibri" pitchFamily="34" charset="0"/>
                <a:ea typeface="Calibri" pitchFamily="34" charset="-122"/>
                <a:cs typeface="Calibri" pitchFamily="34" charset="-120"/>
              </a:rPr>
              <a:t>AI mengubah nilai relatif antara kedalaman dan keluasan kemampuan secara fundamental</a:t>
            </a:r>
            <a:endParaRPr lang="en-US" sz="1300" dirty="0"/>
          </a:p>
        </p:txBody>
      </p:sp>
      <p:sp>
        <p:nvSpPr>
          <p:cNvPr id="4" name="Shape 2"/>
          <p:cNvSpPr/>
          <p:nvPr/>
        </p:nvSpPr>
        <p:spPr>
          <a:xfrm>
            <a:off x="731520" y="1097280"/>
            <a:ext cx="7680960" cy="804672"/>
          </a:xfrm>
          <a:prstGeom prst="roundRect">
            <a:avLst>
              <a:gd name="adj" fmla="val 9091"/>
            </a:avLst>
          </a:prstGeom>
          <a:solidFill>
            <a:srgbClr val="2A3580"/>
          </a:solidFill>
          <a:ln/>
        </p:spPr>
      </p:sp>
      <p:sp>
        <p:nvSpPr>
          <p:cNvPr id="5" name="Text 3"/>
          <p:cNvSpPr/>
          <p:nvPr/>
        </p:nvSpPr>
        <p:spPr>
          <a:xfrm>
            <a:off x="731520" y="1097280"/>
            <a:ext cx="7680960" cy="804672"/>
          </a:xfrm>
          <a:prstGeom prst="rect">
            <a:avLst/>
          </a:prstGeom>
          <a:noFill/>
          <a:ln/>
        </p:spPr>
        <p:txBody>
          <a:bodyPr wrap="square" rtlCol="0" anchor="ctr"/>
          <a:lstStyle/>
          <a:p>
            <a:pPr algn="ctr" indent="0" marL="0">
              <a:buNone/>
            </a:pPr>
            <a:r>
              <a:rPr lang="en-US" sz="1300" dirty="0">
                <a:solidFill>
                  <a:srgbClr val="8891B4"/>
                </a:solidFill>
                <a:latin typeface="Calibri" pitchFamily="34" charset="0"/>
                <a:ea typeface="Calibri" pitchFamily="34" charset="-122"/>
                <a:cs typeface="Calibri" pitchFamily="34" charset="-120"/>
              </a:rPr>
              <a:t>B  R  E  A  D  T  H   —   Kemampuan Lintas Fungsi  (diperluas dengan AI)</a:t>
            </a:r>
            <a:endParaRPr lang="en-US" sz="1300" dirty="0"/>
          </a:p>
        </p:txBody>
      </p:sp>
      <p:sp>
        <p:nvSpPr>
          <p:cNvPr id="6" name="Shape 4"/>
          <p:cNvSpPr/>
          <p:nvPr/>
        </p:nvSpPr>
        <p:spPr>
          <a:xfrm>
            <a:off x="4160520" y="1097280"/>
            <a:ext cx="822960" cy="2697480"/>
          </a:xfrm>
          <a:prstGeom prst="roundRect">
            <a:avLst>
              <a:gd name="adj" fmla="val 8889"/>
            </a:avLst>
          </a:prstGeom>
          <a:solidFill>
            <a:srgbClr val="E8A020"/>
          </a:solidFill>
          <a:ln/>
        </p:spPr>
      </p:sp>
      <p:sp>
        <p:nvSpPr>
          <p:cNvPr id="7" name="Text 5"/>
          <p:cNvSpPr/>
          <p:nvPr/>
        </p:nvSpPr>
        <p:spPr>
          <a:xfrm>
            <a:off x="4160520" y="2560320"/>
            <a:ext cx="822960" cy="1097280"/>
          </a:xfrm>
          <a:prstGeom prst="rect">
            <a:avLst/>
          </a:prstGeom>
          <a:noFill/>
          <a:ln/>
        </p:spPr>
        <p:txBody>
          <a:bodyPr wrap="square" rtlCol="0" anchor="ctr"/>
          <a:lstStyle/>
          <a:p>
            <a:pPr algn="ctr" indent="0" marL="0">
              <a:lnSpc>
                <a:spcPct val="110000"/>
              </a:lnSpc>
              <a:buNone/>
            </a:pPr>
            <a:r>
              <a:rPr lang="en-US" sz="1100" b="1" dirty="0">
                <a:solidFill>
                  <a:srgbClr val="141E52"/>
                </a:solidFill>
                <a:latin typeface="Calibri" pitchFamily="34" charset="0"/>
                <a:ea typeface="Calibri" pitchFamily="34" charset="-122"/>
                <a:cs typeface="Calibri" pitchFamily="34" charset="-120"/>
              </a:rPr>
              <a:t>D</a:t>
            </a:r>
            <a:endParaRPr lang="en-US" sz="1100" dirty="0"/>
          </a:p>
          <a:p>
            <a:pPr algn="ctr" indent="0" marL="0">
              <a:lnSpc>
                <a:spcPct val="110000"/>
              </a:lnSpc>
              <a:buNone/>
            </a:pPr>
            <a:r>
              <a:rPr lang="en-US" sz="1100" b="1" dirty="0">
                <a:solidFill>
                  <a:srgbClr val="141E52"/>
                </a:solidFill>
                <a:latin typeface="Calibri" pitchFamily="34" charset="0"/>
                <a:ea typeface="Calibri" pitchFamily="34" charset="-122"/>
                <a:cs typeface="Calibri" pitchFamily="34" charset="-120"/>
              </a:rPr>
              <a:t>E</a:t>
            </a:r>
            <a:endParaRPr lang="en-US" sz="1100" dirty="0"/>
          </a:p>
          <a:p>
            <a:pPr algn="ctr" indent="0" marL="0">
              <a:lnSpc>
                <a:spcPct val="110000"/>
              </a:lnSpc>
              <a:buNone/>
            </a:pPr>
            <a:r>
              <a:rPr lang="en-US" sz="1100" b="1" dirty="0">
                <a:solidFill>
                  <a:srgbClr val="141E52"/>
                </a:solidFill>
                <a:latin typeface="Calibri" pitchFamily="34" charset="0"/>
                <a:ea typeface="Calibri" pitchFamily="34" charset="-122"/>
                <a:cs typeface="Calibri" pitchFamily="34" charset="-120"/>
              </a:rPr>
              <a:t>P</a:t>
            </a:r>
            <a:endParaRPr lang="en-US" sz="1100" dirty="0"/>
          </a:p>
          <a:p>
            <a:pPr algn="ctr" indent="0" marL="0">
              <a:lnSpc>
                <a:spcPct val="110000"/>
              </a:lnSpc>
              <a:buNone/>
            </a:pPr>
            <a:r>
              <a:rPr lang="en-US" sz="1100" b="1" dirty="0">
                <a:solidFill>
                  <a:srgbClr val="141E52"/>
                </a:solidFill>
                <a:latin typeface="Calibri" pitchFamily="34" charset="0"/>
                <a:ea typeface="Calibri" pitchFamily="34" charset="-122"/>
                <a:cs typeface="Calibri" pitchFamily="34" charset="-120"/>
              </a:rPr>
              <a:t>T</a:t>
            </a:r>
            <a:endParaRPr lang="en-US" sz="1100" dirty="0"/>
          </a:p>
          <a:p>
            <a:pPr algn="ctr" indent="0" marL="0">
              <a:lnSpc>
                <a:spcPct val="110000"/>
              </a:lnSpc>
              <a:buNone/>
            </a:pPr>
            <a:r>
              <a:rPr lang="en-US" sz="1100" b="1" dirty="0">
                <a:solidFill>
                  <a:srgbClr val="141E52"/>
                </a:solidFill>
                <a:latin typeface="Calibri" pitchFamily="34" charset="0"/>
                <a:ea typeface="Calibri" pitchFamily="34" charset="-122"/>
                <a:cs typeface="Calibri" pitchFamily="34" charset="-120"/>
              </a:rPr>
              <a:t>H</a:t>
            </a:r>
            <a:endParaRPr lang="en-US" sz="1100" dirty="0"/>
          </a:p>
        </p:txBody>
      </p:sp>
      <p:sp>
        <p:nvSpPr>
          <p:cNvPr id="8" name="Shape 6"/>
          <p:cNvSpPr/>
          <p:nvPr/>
        </p:nvSpPr>
        <p:spPr>
          <a:xfrm>
            <a:off x="548640" y="2029968"/>
            <a:ext cx="2331720" cy="1572768"/>
          </a:xfrm>
          <a:prstGeom prst="roundRect">
            <a:avLst>
              <a:gd name="adj" fmla="val 5814"/>
            </a:avLst>
          </a:prstGeom>
          <a:solidFill>
            <a:srgbClr val="2A3580"/>
          </a:solidFill>
          <a:ln w="12700">
            <a:solidFill>
              <a:srgbClr val="8891B4"/>
            </a:solidFill>
            <a:prstDash val="solid"/>
          </a:ln>
        </p:spPr>
      </p:sp>
      <p:sp>
        <p:nvSpPr>
          <p:cNvPr id="9" name="Text 7"/>
          <p:cNvSpPr/>
          <p:nvPr/>
        </p:nvSpPr>
        <p:spPr>
          <a:xfrm>
            <a:off x="548640" y="2103120"/>
            <a:ext cx="2331720" cy="347472"/>
          </a:xfrm>
          <a:prstGeom prst="rect">
            <a:avLst/>
          </a:prstGeom>
          <a:noFill/>
          <a:ln/>
        </p:spPr>
        <p:txBody>
          <a:bodyPr wrap="square" rtlCol="0" anchor="ctr"/>
          <a:lstStyle/>
          <a:p>
            <a:pPr algn="ctr" indent="0" marL="0">
              <a:buNone/>
            </a:pPr>
            <a:r>
              <a:rPr lang="en-US" sz="1400" b="1" dirty="0">
                <a:solidFill>
                  <a:srgbClr val="8891B4"/>
                </a:solidFill>
                <a:latin typeface="Calibri" pitchFamily="34" charset="0"/>
                <a:ea typeface="Calibri" pitchFamily="34" charset="-122"/>
                <a:cs typeface="Calibri" pitchFamily="34" charset="-120"/>
              </a:rPr>
              <a:t>GENERALIST</a:t>
            </a:r>
            <a:endParaRPr lang="en-US" sz="1400" dirty="0"/>
          </a:p>
        </p:txBody>
      </p:sp>
      <p:sp>
        <p:nvSpPr>
          <p:cNvPr id="10" name="Text 8"/>
          <p:cNvSpPr/>
          <p:nvPr/>
        </p:nvSpPr>
        <p:spPr>
          <a:xfrm>
            <a:off x="548640" y="2450592"/>
            <a:ext cx="2331720" cy="228600"/>
          </a:xfrm>
          <a:prstGeom prst="rect">
            <a:avLst/>
          </a:prstGeom>
          <a:noFill/>
          <a:ln/>
        </p:spPr>
        <p:txBody>
          <a:bodyPr wrap="square" rtlCol="0" anchor="ctr"/>
          <a:lstStyle/>
          <a:p>
            <a:pPr algn="ctr" indent="0" marL="0">
              <a:buNone/>
            </a:pPr>
            <a:r>
              <a:rPr lang="en-US" sz="1100" dirty="0">
                <a:solidFill>
                  <a:srgbClr val="E8A020"/>
                </a:solidFill>
                <a:latin typeface="Calibri" pitchFamily="34" charset="0"/>
                <a:ea typeface="Calibri" pitchFamily="34" charset="-122"/>
                <a:cs typeface="Calibri" pitchFamily="34" charset="-120"/>
              </a:rPr>
              <a:t>+ AI-Augmented</a:t>
            </a:r>
            <a:endParaRPr lang="en-US" sz="1100" dirty="0"/>
          </a:p>
        </p:txBody>
      </p:sp>
      <p:sp>
        <p:nvSpPr>
          <p:cNvPr id="11" name="Text 9"/>
          <p:cNvSpPr/>
          <p:nvPr/>
        </p:nvSpPr>
        <p:spPr>
          <a:xfrm>
            <a:off x="548640" y="2724912"/>
            <a:ext cx="2331720" cy="777240"/>
          </a:xfrm>
          <a:prstGeom prst="rect">
            <a:avLst/>
          </a:prstGeom>
          <a:noFill/>
          <a:ln/>
        </p:spPr>
        <p:txBody>
          <a:bodyPr wrap="square" rtlCol="0" anchor="ctr"/>
          <a:lstStyle/>
          <a:p>
            <a:pPr algn="ctr" indent="0" marL="0">
              <a:lnSpc>
                <a:spcPct val="120000"/>
              </a:lnSpc>
              <a:buNone/>
            </a:pPr>
            <a:r>
              <a:rPr lang="en-US" sz="1100" dirty="0">
                <a:solidFill>
                  <a:srgbClr val="8891B4"/>
                </a:solidFill>
                <a:latin typeface="Calibri" pitchFamily="34" charset="0"/>
                <a:ea typeface="Calibri" pitchFamily="34" charset="-122"/>
                <a:cs typeface="Calibri" pitchFamily="34" charset="-120"/>
              </a:rPr>
              <a:t>Capai 80% proficiency</a:t>
            </a:r>
            <a:endParaRPr lang="en-US" sz="1100" dirty="0"/>
          </a:p>
          <a:p>
            <a:pPr algn="ctr" indent="0" marL="0">
              <a:lnSpc>
                <a:spcPct val="120000"/>
              </a:lnSpc>
              <a:buNone/>
            </a:pPr>
            <a:r>
              <a:rPr lang="en-US" sz="1100" dirty="0">
                <a:solidFill>
                  <a:srgbClr val="8891B4"/>
                </a:solidFill>
                <a:latin typeface="Calibri" pitchFamily="34" charset="0"/>
                <a:ea typeface="Calibri" pitchFamily="34" charset="-122"/>
                <a:cs typeface="Calibri" pitchFamily="34" charset="-120"/>
              </a:rPr>
              <a:t>di banyak bidang dalam</a:t>
            </a:r>
            <a:endParaRPr lang="en-US" sz="1100" dirty="0"/>
          </a:p>
          <a:p>
            <a:pPr algn="ctr" indent="0" marL="0">
              <a:lnSpc>
                <a:spcPct val="120000"/>
              </a:lnSpc>
              <a:buNone/>
            </a:pPr>
            <a:r>
              <a:rPr lang="en-US" sz="1100" dirty="0">
                <a:solidFill>
                  <a:srgbClr val="8891B4"/>
                </a:solidFill>
                <a:latin typeface="Calibri" pitchFamily="34" charset="0"/>
                <a:ea typeface="Calibri" pitchFamily="34" charset="-122"/>
                <a:cs typeface="Calibri" pitchFamily="34" charset="-120"/>
              </a:rPr>
              <a:t>minggu, bukan tahun</a:t>
            </a:r>
            <a:endParaRPr lang="en-US" sz="1100" dirty="0"/>
          </a:p>
        </p:txBody>
      </p:sp>
      <p:sp>
        <p:nvSpPr>
          <p:cNvPr id="12" name="Shape 10"/>
          <p:cNvSpPr/>
          <p:nvPr/>
        </p:nvSpPr>
        <p:spPr>
          <a:xfrm>
            <a:off x="6263640" y="2029968"/>
            <a:ext cx="2331720" cy="1572768"/>
          </a:xfrm>
          <a:prstGeom prst="roundRect">
            <a:avLst>
              <a:gd name="adj" fmla="val 5814"/>
            </a:avLst>
          </a:prstGeom>
          <a:solidFill>
            <a:srgbClr val="2A3580"/>
          </a:solidFill>
          <a:ln w="12700">
            <a:solidFill>
              <a:srgbClr val="E8A020"/>
            </a:solidFill>
            <a:prstDash val="solid"/>
          </a:ln>
        </p:spPr>
      </p:sp>
      <p:sp>
        <p:nvSpPr>
          <p:cNvPr id="13" name="Text 11"/>
          <p:cNvSpPr/>
          <p:nvPr/>
        </p:nvSpPr>
        <p:spPr>
          <a:xfrm>
            <a:off x="6263640" y="2103120"/>
            <a:ext cx="2331720" cy="347472"/>
          </a:xfrm>
          <a:prstGeom prst="rect">
            <a:avLst/>
          </a:prstGeom>
          <a:noFill/>
          <a:ln/>
        </p:spPr>
        <p:txBody>
          <a:bodyPr wrap="square" rtlCol="0" anchor="ctr"/>
          <a:lstStyle/>
          <a:p>
            <a:pPr algn="ctr" indent="0" marL="0">
              <a:buNone/>
            </a:pPr>
            <a:r>
              <a:rPr lang="en-US" sz="1400" b="1" dirty="0">
                <a:solidFill>
                  <a:srgbClr val="E8A020"/>
                </a:solidFill>
                <a:latin typeface="Calibri" pitchFamily="34" charset="0"/>
                <a:ea typeface="Calibri" pitchFamily="34" charset="-122"/>
                <a:cs typeface="Calibri" pitchFamily="34" charset="-120"/>
              </a:rPr>
              <a:t>SPECIALIST</a:t>
            </a:r>
            <a:endParaRPr lang="en-US" sz="1400" dirty="0"/>
          </a:p>
        </p:txBody>
      </p:sp>
      <p:sp>
        <p:nvSpPr>
          <p:cNvPr id="14" name="Text 12"/>
          <p:cNvSpPr/>
          <p:nvPr/>
        </p:nvSpPr>
        <p:spPr>
          <a:xfrm>
            <a:off x="6263640" y="2450592"/>
            <a:ext cx="2331720" cy="22860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AI-Resilient</a:t>
            </a:r>
            <a:endParaRPr lang="en-US" sz="1100" dirty="0"/>
          </a:p>
        </p:txBody>
      </p:sp>
      <p:sp>
        <p:nvSpPr>
          <p:cNvPr id="15" name="Text 13"/>
          <p:cNvSpPr/>
          <p:nvPr/>
        </p:nvSpPr>
        <p:spPr>
          <a:xfrm>
            <a:off x="6263640" y="2724912"/>
            <a:ext cx="2331720" cy="777240"/>
          </a:xfrm>
          <a:prstGeom prst="rect">
            <a:avLst/>
          </a:prstGeom>
          <a:noFill/>
          <a:ln/>
        </p:spPr>
        <p:txBody>
          <a:bodyPr wrap="square" rtlCol="0" anchor="ctr"/>
          <a:lstStyle/>
          <a:p>
            <a:pPr algn="ctr" indent="0" marL="0">
              <a:lnSpc>
                <a:spcPct val="120000"/>
              </a:lnSpc>
              <a:buNone/>
            </a:pPr>
            <a:r>
              <a:rPr lang="en-US" sz="1100" dirty="0">
                <a:solidFill>
                  <a:srgbClr val="8891B4"/>
                </a:solidFill>
                <a:latin typeface="Calibri" pitchFamily="34" charset="0"/>
                <a:ea typeface="Calibri" pitchFamily="34" charset="-122"/>
                <a:cs typeface="Calibri" pitchFamily="34" charset="-120"/>
              </a:rPr>
              <a:t>Nilai di "last 10%":</a:t>
            </a:r>
            <a:endParaRPr lang="en-US" sz="1100" dirty="0"/>
          </a:p>
          <a:p>
            <a:pPr algn="ctr" indent="0" marL="0">
              <a:lnSpc>
                <a:spcPct val="120000"/>
              </a:lnSpc>
              <a:buNone/>
            </a:pPr>
            <a:r>
              <a:rPr lang="en-US" sz="1100" dirty="0">
                <a:solidFill>
                  <a:srgbClr val="8891B4"/>
                </a:solidFill>
                <a:latin typeface="Calibri" pitchFamily="34" charset="0"/>
                <a:ea typeface="Calibri" pitchFamily="34" charset="-122"/>
                <a:cs typeface="Calibri" pitchFamily="34" charset="-120"/>
              </a:rPr>
              <a:t>judgment, etika, konteks</a:t>
            </a:r>
            <a:endParaRPr lang="en-US" sz="1100" dirty="0"/>
          </a:p>
          <a:p>
            <a:pPr algn="ctr" indent="0" marL="0">
              <a:lnSpc>
                <a:spcPct val="120000"/>
              </a:lnSpc>
              <a:buNone/>
            </a:pPr>
            <a:r>
              <a:rPr lang="en-US" sz="1100" dirty="0">
                <a:solidFill>
                  <a:srgbClr val="8891B4"/>
                </a:solidFill>
                <a:latin typeface="Calibri" pitchFamily="34" charset="0"/>
                <a:ea typeface="Calibri" pitchFamily="34" charset="-122"/>
                <a:cs typeface="Calibri" pitchFamily="34" charset="-120"/>
              </a:rPr>
              <a:t>mendalam yang AI tak bisa replikasi</a:t>
            </a:r>
            <a:endParaRPr lang="en-US" sz="1100" dirty="0"/>
          </a:p>
        </p:txBody>
      </p:sp>
      <p:sp>
        <p:nvSpPr>
          <p:cNvPr id="16" name="Text 14"/>
          <p:cNvSpPr/>
          <p:nvPr/>
        </p:nvSpPr>
        <p:spPr>
          <a:xfrm>
            <a:off x="3611880" y="2103120"/>
            <a:ext cx="1920240" cy="658368"/>
          </a:xfrm>
          <a:prstGeom prst="rect">
            <a:avLst/>
          </a:prstGeom>
          <a:noFill/>
          <a:ln/>
        </p:spPr>
        <p:txBody>
          <a:bodyPr wrap="square" rtlCol="0" anchor="ctr"/>
          <a:lstStyle/>
          <a:p>
            <a:pPr algn="ctr" indent="0" marL="0">
              <a:lnSpc>
                <a:spcPct val="110000"/>
              </a:lnSpc>
              <a:buNone/>
            </a:pPr>
            <a:r>
              <a:rPr lang="en-US" sz="1400" b="1" dirty="0">
                <a:solidFill>
                  <a:srgbClr val="FFFFFF"/>
                </a:solidFill>
                <a:latin typeface="Calibri" pitchFamily="34" charset="0"/>
                <a:ea typeface="Calibri" pitchFamily="34" charset="-122"/>
                <a:cs typeface="Calibri" pitchFamily="34" charset="-120"/>
              </a:rPr>
              <a:t>T-SHAPED</a:t>
            </a:r>
            <a:endParaRPr lang="en-US" sz="1400" dirty="0"/>
          </a:p>
          <a:p>
            <a:pPr algn="ctr" indent="0" marL="0">
              <a:lnSpc>
                <a:spcPct val="110000"/>
              </a:lnSpc>
              <a:buNone/>
            </a:pPr>
            <a:r>
              <a:rPr lang="en-US" sz="1400" b="1" dirty="0">
                <a:solidFill>
                  <a:srgbClr val="FFFFFF"/>
                </a:solidFill>
                <a:latin typeface="Calibri" pitchFamily="34" charset="0"/>
                <a:ea typeface="Calibri" pitchFamily="34" charset="-122"/>
                <a:cs typeface="Calibri" pitchFamily="34" charset="-120"/>
              </a:rPr>
              <a:t>★ WINNER</a:t>
            </a:r>
            <a:endParaRPr lang="en-US" sz="1400" dirty="0"/>
          </a:p>
        </p:txBody>
      </p:sp>
      <p:sp>
        <p:nvSpPr>
          <p:cNvPr id="17" name="Text 15"/>
          <p:cNvSpPr/>
          <p:nvPr/>
        </p:nvSpPr>
        <p:spPr>
          <a:xfrm>
            <a:off x="3566160" y="2788920"/>
            <a:ext cx="2011680" cy="731520"/>
          </a:xfrm>
          <a:prstGeom prst="rect">
            <a:avLst/>
          </a:prstGeom>
          <a:noFill/>
          <a:ln/>
        </p:spPr>
        <p:txBody>
          <a:bodyPr wrap="square" rtlCol="0" anchor="ctr"/>
          <a:lstStyle/>
          <a:p>
            <a:pPr algn="ctr" indent="0" marL="0">
              <a:lnSpc>
                <a:spcPct val="115000"/>
              </a:lnSpc>
              <a:buNone/>
            </a:pPr>
            <a:r>
              <a:rPr lang="en-US" sz="1100" dirty="0">
                <a:solidFill>
                  <a:srgbClr val="8891B4"/>
                </a:solidFill>
                <a:latin typeface="Calibri" pitchFamily="34" charset="0"/>
                <a:ea typeface="Calibri" pitchFamily="34" charset="-122"/>
                <a:cs typeface="Calibri" pitchFamily="34" charset="-120"/>
              </a:rPr>
              <a:t>Depth dalam 1 domain</a:t>
            </a:r>
            <a:endParaRPr lang="en-US" sz="1100" dirty="0"/>
          </a:p>
          <a:p>
            <a:pPr algn="ctr" indent="0" marL="0">
              <a:lnSpc>
                <a:spcPct val="115000"/>
              </a:lnSpc>
              <a:buNone/>
            </a:pPr>
            <a:r>
              <a:rPr lang="en-US" sz="1100" dirty="0">
                <a:solidFill>
                  <a:srgbClr val="8891B4"/>
                </a:solidFill>
                <a:latin typeface="Calibri" pitchFamily="34" charset="0"/>
                <a:ea typeface="Calibri" pitchFamily="34" charset="-122"/>
                <a:cs typeface="Calibri" pitchFamily="34" charset="-120"/>
              </a:rPr>
              <a:t>+ Breadth lintas fungsi</a:t>
            </a:r>
            <a:endParaRPr lang="en-US" sz="1100" dirty="0"/>
          </a:p>
          <a:p>
            <a:pPr algn="ctr" indent="0" marL="0">
              <a:lnSpc>
                <a:spcPct val="115000"/>
              </a:lnSpc>
              <a:buNone/>
            </a:pPr>
            <a:r>
              <a:rPr lang="en-US" sz="1100" dirty="0">
                <a:solidFill>
                  <a:srgbClr val="8891B4"/>
                </a:solidFill>
                <a:latin typeface="Calibri" pitchFamily="34" charset="0"/>
                <a:ea typeface="Calibri" pitchFamily="34" charset="-122"/>
                <a:cs typeface="Calibri" pitchFamily="34" charset="-120"/>
              </a:rPr>
              <a:t>= Most Valuable</a:t>
            </a:r>
            <a:endParaRPr lang="en-US" sz="1100" dirty="0"/>
          </a:p>
        </p:txBody>
      </p:sp>
      <p:sp>
        <p:nvSpPr>
          <p:cNvPr id="18" name="Shape 16"/>
          <p:cNvSpPr/>
          <p:nvPr/>
        </p:nvSpPr>
        <p:spPr>
          <a:xfrm>
            <a:off x="502920" y="4160520"/>
            <a:ext cx="8229600" cy="621792"/>
          </a:xfrm>
          <a:prstGeom prst="roundRect">
            <a:avLst>
              <a:gd name="adj" fmla="val 11765"/>
            </a:avLst>
          </a:prstGeom>
          <a:solidFill>
            <a:srgbClr val="E8A020"/>
          </a:solidFill>
          <a:ln/>
        </p:spPr>
      </p:sp>
      <p:sp>
        <p:nvSpPr>
          <p:cNvPr id="19" name="Text 17"/>
          <p:cNvSpPr/>
          <p:nvPr/>
        </p:nvSpPr>
        <p:spPr>
          <a:xfrm>
            <a:off x="502920" y="4160520"/>
            <a:ext cx="8229600" cy="621792"/>
          </a:xfrm>
          <a:prstGeom prst="rect">
            <a:avLst/>
          </a:prstGeom>
          <a:noFill/>
          <a:ln/>
        </p:spPr>
        <p:txBody>
          <a:bodyPr wrap="square" rtlCol="0" anchor="ctr"/>
          <a:lstStyle/>
          <a:p>
            <a:pPr algn="ctr" indent="0" marL="0">
              <a:buNone/>
            </a:pPr>
            <a:r>
              <a:rPr lang="en-US" sz="1200" dirty="0">
                <a:solidFill>
                  <a:srgbClr val="141E52"/>
                </a:solidFill>
                <a:latin typeface="Calibri" pitchFamily="34" charset="0"/>
                <a:ea typeface="Calibri" pitchFamily="34" charset="-122"/>
                <a:cs typeface="Calibri" pitchFamily="34" charset="-120"/>
              </a:rPr>
              <a:t>85% employer berencana upskilling karyawan  ·  63% sebut skill gap sebagai hambatan transformasi utama  (WEF Future of Jobs, 2025)</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E2761"/>
          </a:solidFill>
          <a:ln/>
        </p:spPr>
      </p:sp>
      <p:sp>
        <p:nvSpPr>
          <p:cNvPr id="3" name="Text 1"/>
          <p:cNvSpPr/>
          <p:nvPr/>
        </p:nvSpPr>
        <p:spPr>
          <a:xfrm>
            <a:off x="502920" y="91440"/>
            <a:ext cx="8229600" cy="502920"/>
          </a:xfrm>
          <a:prstGeom prst="rect">
            <a:avLst/>
          </a:prstGeom>
          <a:noFill/>
          <a:ln/>
        </p:spPr>
        <p:txBody>
          <a:bodyPr wrap="square" rtlCol="0" anchor="ctr"/>
          <a:lstStyle/>
          <a:p>
            <a:pPr algn="l" indent="0" marL="0">
              <a:buNone/>
            </a:pPr>
            <a:r>
              <a:rPr lang="en-US" sz="2300" b="1" dirty="0">
                <a:solidFill>
                  <a:srgbClr val="FFFFFF"/>
                </a:solidFill>
                <a:latin typeface="Calibri" pitchFamily="34" charset="0"/>
                <a:ea typeface="Calibri" pitchFamily="34" charset="-122"/>
                <a:cs typeface="Calibri" pitchFamily="34" charset="-120"/>
              </a:rPr>
              <a:t>Connecting the Dots — Implikasi untuk Store Concept Team</a:t>
            </a:r>
            <a:endParaRPr lang="en-US" sz="2300" dirty="0"/>
          </a:p>
        </p:txBody>
      </p:sp>
      <p:sp>
        <p:nvSpPr>
          <p:cNvPr id="4" name="Text 2"/>
          <p:cNvSpPr/>
          <p:nvPr/>
        </p:nvSpPr>
        <p:spPr>
          <a:xfrm>
            <a:off x="502920" y="603504"/>
            <a:ext cx="8229600" cy="274320"/>
          </a:xfrm>
          <a:prstGeom prst="rect">
            <a:avLst/>
          </a:prstGeom>
          <a:noFill/>
          <a:ln/>
        </p:spPr>
        <p:txBody>
          <a:bodyPr wrap="square" rtlCol="0" anchor="ctr"/>
          <a:lstStyle/>
          <a:p>
            <a:pPr algn="l" indent="0" marL="0">
              <a:buNone/>
            </a:pPr>
            <a:r>
              <a:rPr lang="en-US" sz="1200" dirty="0">
                <a:solidFill>
                  <a:srgbClr val="8891B4"/>
                </a:solidFill>
                <a:latin typeface="Calibri" pitchFamily="34" charset="0"/>
                <a:ea typeface="Calibri" pitchFamily="34" charset="-122"/>
                <a:cs typeface="Calibri" pitchFamily="34" charset="-120"/>
              </a:rPr>
              <a:t>Tiga kekuatan makro bertemu dan menciptakan realitas baru yang harus direspons tim kita</a:t>
            </a:r>
            <a:endParaRPr lang="en-US" sz="1200" dirty="0"/>
          </a:p>
        </p:txBody>
      </p:sp>
      <p:sp>
        <p:nvSpPr>
          <p:cNvPr id="5" name="Shape 3"/>
          <p:cNvSpPr/>
          <p:nvPr/>
        </p:nvSpPr>
        <p:spPr>
          <a:xfrm>
            <a:off x="475488" y="1078992"/>
            <a:ext cx="2651760" cy="3749040"/>
          </a:xfrm>
          <a:prstGeom prst="roundRect">
            <a:avLst>
              <a:gd name="adj" fmla="val 3448"/>
            </a:avLst>
          </a:prstGeom>
          <a:solidFill>
            <a:srgbClr val="F0F2FA"/>
          </a:solidFill>
          <a:ln/>
        </p:spPr>
      </p:sp>
      <p:sp>
        <p:nvSpPr>
          <p:cNvPr id="6" name="Shape 4"/>
          <p:cNvSpPr/>
          <p:nvPr/>
        </p:nvSpPr>
        <p:spPr>
          <a:xfrm>
            <a:off x="475488" y="1078992"/>
            <a:ext cx="2651760" cy="658368"/>
          </a:xfrm>
          <a:prstGeom prst="roundRect">
            <a:avLst>
              <a:gd name="adj" fmla="val 13889"/>
            </a:avLst>
          </a:prstGeom>
          <a:solidFill>
            <a:srgbClr val="1F7A8C"/>
          </a:solidFill>
          <a:ln/>
        </p:spPr>
      </p:sp>
      <p:sp>
        <p:nvSpPr>
          <p:cNvPr id="7" name="Shape 5"/>
          <p:cNvSpPr/>
          <p:nvPr/>
        </p:nvSpPr>
        <p:spPr>
          <a:xfrm>
            <a:off x="475488" y="1389888"/>
            <a:ext cx="2651760" cy="347472"/>
          </a:xfrm>
          <a:prstGeom prst="rect">
            <a:avLst/>
          </a:prstGeom>
          <a:solidFill>
            <a:srgbClr val="1F7A8C"/>
          </a:solidFill>
          <a:ln/>
        </p:spPr>
      </p:sp>
      <p:sp>
        <p:nvSpPr>
          <p:cNvPr id="8" name="Text 6"/>
          <p:cNvSpPr/>
          <p:nvPr/>
        </p:nvSpPr>
        <p:spPr>
          <a:xfrm>
            <a:off x="612648" y="1115568"/>
            <a:ext cx="2377440" cy="365760"/>
          </a:xfrm>
          <a:prstGeom prst="rect">
            <a:avLst/>
          </a:prstGeom>
          <a:noFill/>
          <a:ln/>
        </p:spPr>
        <p:txBody>
          <a:bodyPr wrap="square" rtlCol="0" anchor="ctr"/>
          <a:lstStyle/>
          <a:p>
            <a:pPr algn="l" indent="0" marL="0">
              <a:buNone/>
            </a:pPr>
            <a:r>
              <a:rPr lang="en-US" sz="1400" b="1" dirty="0">
                <a:solidFill>
                  <a:srgbClr val="FFFFFF"/>
                </a:solidFill>
                <a:latin typeface="Calibri" pitchFamily="34" charset="0"/>
                <a:ea typeface="Calibri" pitchFamily="34" charset="-122"/>
                <a:cs typeface="Calibri" pitchFamily="34" charset="-120"/>
              </a:rPr>
              <a:t>🛒  Consumer Reality</a:t>
            </a:r>
            <a:endParaRPr lang="en-US" sz="1400" dirty="0"/>
          </a:p>
        </p:txBody>
      </p:sp>
      <p:sp>
        <p:nvSpPr>
          <p:cNvPr id="9" name="Text 7"/>
          <p:cNvSpPr/>
          <p:nvPr/>
        </p:nvSpPr>
        <p:spPr>
          <a:xfrm>
            <a:off x="612648" y="1481328"/>
            <a:ext cx="2377440" cy="219456"/>
          </a:xfrm>
          <a:prstGeom prst="rect">
            <a:avLst/>
          </a:prstGeom>
          <a:noFill/>
          <a:ln/>
        </p:spPr>
        <p:txBody>
          <a:bodyPr wrap="square"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Perilaku konsumen berubah</a:t>
            </a:r>
            <a:endParaRPr lang="en-US" sz="900" dirty="0"/>
          </a:p>
        </p:txBody>
      </p:sp>
      <p:sp>
        <p:nvSpPr>
          <p:cNvPr id="10" name="Shape 8"/>
          <p:cNvSpPr/>
          <p:nvPr/>
        </p:nvSpPr>
        <p:spPr>
          <a:xfrm>
            <a:off x="612648" y="1847088"/>
            <a:ext cx="2377440" cy="841248"/>
          </a:xfrm>
          <a:prstGeom prst="roundRect">
            <a:avLst>
              <a:gd name="adj" fmla="val 7609"/>
            </a:avLst>
          </a:prstGeom>
          <a:solidFill>
            <a:srgbClr val="FFFFFF"/>
          </a:solidFill>
          <a:ln/>
        </p:spPr>
      </p:sp>
      <p:sp>
        <p:nvSpPr>
          <p:cNvPr id="11" name="Shape 9"/>
          <p:cNvSpPr/>
          <p:nvPr/>
        </p:nvSpPr>
        <p:spPr>
          <a:xfrm>
            <a:off x="694944" y="1938528"/>
            <a:ext cx="82296" cy="82296"/>
          </a:xfrm>
          <a:prstGeom prst="ellipse">
            <a:avLst/>
          </a:prstGeom>
          <a:solidFill>
            <a:srgbClr val="1F7A8C"/>
          </a:solidFill>
          <a:ln/>
        </p:spPr>
      </p:sp>
      <p:sp>
        <p:nvSpPr>
          <p:cNvPr id="12" name="Text 10"/>
          <p:cNvSpPr/>
          <p:nvPr/>
        </p:nvSpPr>
        <p:spPr>
          <a:xfrm>
            <a:off x="822960" y="1901952"/>
            <a:ext cx="2148840" cy="256032"/>
          </a:xfrm>
          <a:prstGeom prst="rect">
            <a:avLst/>
          </a:prstGeom>
          <a:noFill/>
          <a:ln/>
        </p:spPr>
        <p:txBody>
          <a:bodyPr wrap="square" rtlCol="0" anchor="ctr"/>
          <a:lstStyle/>
          <a:p>
            <a:pPr algn="l" indent="0" marL="0">
              <a:buNone/>
            </a:pPr>
            <a:r>
              <a:rPr lang="en-US" sz="1200" b="1" dirty="0">
                <a:solidFill>
                  <a:srgbClr val="1A2355"/>
                </a:solidFill>
                <a:latin typeface="Calibri" pitchFamily="34" charset="0"/>
                <a:ea typeface="Calibri" pitchFamily="34" charset="-122"/>
                <a:cs typeface="Calibri" pitchFamily="34" charset="-120"/>
              </a:rPr>
              <a:t>Smart value-seeking</a:t>
            </a:r>
            <a:endParaRPr lang="en-US" sz="1200" dirty="0"/>
          </a:p>
        </p:txBody>
      </p:sp>
      <p:sp>
        <p:nvSpPr>
          <p:cNvPr id="13" name="Text 11"/>
          <p:cNvSpPr/>
          <p:nvPr/>
        </p:nvSpPr>
        <p:spPr>
          <a:xfrm>
            <a:off x="822960" y="2167128"/>
            <a:ext cx="2148840" cy="457200"/>
          </a:xfrm>
          <a:prstGeom prst="rect">
            <a:avLst/>
          </a:prstGeom>
          <a:noFill/>
          <a:ln/>
        </p:spPr>
        <p:txBody>
          <a:bodyPr wrap="square" rtlCol="0" anchor="ctr"/>
          <a:lstStyle/>
          <a:p>
            <a:pPr algn="l" indent="0" marL="0">
              <a:lnSpc>
                <a:spcPct val="115000"/>
              </a:lnSpc>
              <a:buNone/>
            </a:pPr>
            <a:r>
              <a:rPr lang="en-US" sz="1000" dirty="0">
                <a:solidFill>
                  <a:srgbClr val="3D4A6E"/>
                </a:solidFill>
                <a:latin typeface="Calibri" pitchFamily="34" charset="0"/>
                <a:ea typeface="Calibri" pitchFamily="34" charset="-122"/>
                <a:cs typeface="Calibri" pitchFamily="34" charset="-120"/>
              </a:rPr>
              <a:t>Konsumen lebih selektif, prioritaskan "quality at right price". Bukan sekadar murah.</a:t>
            </a:r>
            <a:endParaRPr lang="en-US" sz="1000" dirty="0"/>
          </a:p>
        </p:txBody>
      </p:sp>
      <p:sp>
        <p:nvSpPr>
          <p:cNvPr id="14" name="Shape 12"/>
          <p:cNvSpPr/>
          <p:nvPr/>
        </p:nvSpPr>
        <p:spPr>
          <a:xfrm>
            <a:off x="612648" y="2807208"/>
            <a:ext cx="2377440" cy="841248"/>
          </a:xfrm>
          <a:prstGeom prst="roundRect">
            <a:avLst>
              <a:gd name="adj" fmla="val 7609"/>
            </a:avLst>
          </a:prstGeom>
          <a:solidFill>
            <a:srgbClr val="FFFFFF"/>
          </a:solidFill>
          <a:ln/>
        </p:spPr>
      </p:sp>
      <p:sp>
        <p:nvSpPr>
          <p:cNvPr id="15" name="Shape 13"/>
          <p:cNvSpPr/>
          <p:nvPr/>
        </p:nvSpPr>
        <p:spPr>
          <a:xfrm>
            <a:off x="694944" y="2898648"/>
            <a:ext cx="82296" cy="82296"/>
          </a:xfrm>
          <a:prstGeom prst="ellipse">
            <a:avLst/>
          </a:prstGeom>
          <a:solidFill>
            <a:srgbClr val="1F7A8C"/>
          </a:solidFill>
          <a:ln/>
        </p:spPr>
      </p:sp>
      <p:sp>
        <p:nvSpPr>
          <p:cNvPr id="16" name="Text 14"/>
          <p:cNvSpPr/>
          <p:nvPr/>
        </p:nvSpPr>
        <p:spPr>
          <a:xfrm>
            <a:off x="822960" y="2862072"/>
            <a:ext cx="2148840" cy="256032"/>
          </a:xfrm>
          <a:prstGeom prst="rect">
            <a:avLst/>
          </a:prstGeom>
          <a:noFill/>
          <a:ln/>
        </p:spPr>
        <p:txBody>
          <a:bodyPr wrap="square" rtlCol="0" anchor="ctr"/>
          <a:lstStyle/>
          <a:p>
            <a:pPr algn="l" indent="0" marL="0">
              <a:buNone/>
            </a:pPr>
            <a:r>
              <a:rPr lang="en-US" sz="1200" b="1" dirty="0">
                <a:solidFill>
                  <a:srgbClr val="1A2355"/>
                </a:solidFill>
                <a:latin typeface="Calibri" pitchFamily="34" charset="0"/>
                <a:ea typeface="Calibri" pitchFamily="34" charset="-122"/>
                <a:cs typeface="Calibri" pitchFamily="34" charset="-120"/>
              </a:rPr>
              <a:t>Digital-first journey</a:t>
            </a:r>
            <a:endParaRPr lang="en-US" sz="1200" dirty="0"/>
          </a:p>
        </p:txBody>
      </p:sp>
      <p:sp>
        <p:nvSpPr>
          <p:cNvPr id="17" name="Text 15"/>
          <p:cNvSpPr/>
          <p:nvPr/>
        </p:nvSpPr>
        <p:spPr>
          <a:xfrm>
            <a:off x="822960" y="3127248"/>
            <a:ext cx="2148840" cy="457200"/>
          </a:xfrm>
          <a:prstGeom prst="rect">
            <a:avLst/>
          </a:prstGeom>
          <a:noFill/>
          <a:ln/>
        </p:spPr>
        <p:txBody>
          <a:bodyPr wrap="square" rtlCol="0" anchor="ctr"/>
          <a:lstStyle/>
          <a:p>
            <a:pPr algn="l" indent="0" marL="0">
              <a:lnSpc>
                <a:spcPct val="115000"/>
              </a:lnSpc>
              <a:buNone/>
            </a:pPr>
            <a:r>
              <a:rPr lang="en-US" sz="1000" dirty="0">
                <a:solidFill>
                  <a:srgbClr val="3D4A6E"/>
                </a:solidFill>
                <a:latin typeface="Calibri" pitchFamily="34" charset="0"/>
                <a:ea typeface="Calibri" pitchFamily="34" charset="-122"/>
                <a:cs typeface="Calibri" pitchFamily="34" charset="-120"/>
              </a:rPr>
              <a:t>Research online sebelum beli. Omnichannel experience jadi standar minimum.</a:t>
            </a:r>
            <a:endParaRPr lang="en-US" sz="1000" dirty="0"/>
          </a:p>
        </p:txBody>
      </p:sp>
      <p:sp>
        <p:nvSpPr>
          <p:cNvPr id="18" name="Shape 16"/>
          <p:cNvSpPr/>
          <p:nvPr/>
        </p:nvSpPr>
        <p:spPr>
          <a:xfrm>
            <a:off x="612648" y="3767328"/>
            <a:ext cx="2377440" cy="841248"/>
          </a:xfrm>
          <a:prstGeom prst="roundRect">
            <a:avLst>
              <a:gd name="adj" fmla="val 7609"/>
            </a:avLst>
          </a:prstGeom>
          <a:solidFill>
            <a:srgbClr val="FFFFFF"/>
          </a:solidFill>
          <a:ln/>
        </p:spPr>
      </p:sp>
      <p:sp>
        <p:nvSpPr>
          <p:cNvPr id="19" name="Shape 17"/>
          <p:cNvSpPr/>
          <p:nvPr/>
        </p:nvSpPr>
        <p:spPr>
          <a:xfrm>
            <a:off x="694944" y="3858768"/>
            <a:ext cx="82296" cy="82296"/>
          </a:xfrm>
          <a:prstGeom prst="ellipse">
            <a:avLst/>
          </a:prstGeom>
          <a:solidFill>
            <a:srgbClr val="1F7A8C"/>
          </a:solidFill>
          <a:ln/>
        </p:spPr>
      </p:sp>
      <p:sp>
        <p:nvSpPr>
          <p:cNvPr id="20" name="Text 18"/>
          <p:cNvSpPr/>
          <p:nvPr/>
        </p:nvSpPr>
        <p:spPr>
          <a:xfrm>
            <a:off x="822960" y="3822192"/>
            <a:ext cx="2148840" cy="256032"/>
          </a:xfrm>
          <a:prstGeom prst="rect">
            <a:avLst/>
          </a:prstGeom>
          <a:noFill/>
          <a:ln/>
        </p:spPr>
        <p:txBody>
          <a:bodyPr wrap="square" rtlCol="0" anchor="ctr"/>
          <a:lstStyle/>
          <a:p>
            <a:pPr algn="l" indent="0" marL="0">
              <a:buNone/>
            </a:pPr>
            <a:r>
              <a:rPr lang="en-US" sz="1200" b="1" dirty="0">
                <a:solidFill>
                  <a:srgbClr val="1A2355"/>
                </a:solidFill>
                <a:latin typeface="Calibri" pitchFamily="34" charset="0"/>
                <a:ea typeface="Calibri" pitchFamily="34" charset="-122"/>
                <a:cs typeface="Calibri" pitchFamily="34" charset="-120"/>
              </a:rPr>
              <a:t>Aspirant class dominan</a:t>
            </a:r>
            <a:endParaRPr lang="en-US" sz="1200" dirty="0"/>
          </a:p>
        </p:txBody>
      </p:sp>
      <p:sp>
        <p:nvSpPr>
          <p:cNvPr id="21" name="Text 19"/>
          <p:cNvSpPr/>
          <p:nvPr/>
        </p:nvSpPr>
        <p:spPr>
          <a:xfrm>
            <a:off x="822960" y="4087368"/>
            <a:ext cx="2148840" cy="457200"/>
          </a:xfrm>
          <a:prstGeom prst="rect">
            <a:avLst/>
          </a:prstGeom>
          <a:noFill/>
          <a:ln/>
        </p:spPr>
        <p:txBody>
          <a:bodyPr wrap="square" rtlCol="0" anchor="ctr"/>
          <a:lstStyle/>
          <a:p>
            <a:pPr algn="l" indent="0" marL="0">
              <a:lnSpc>
                <a:spcPct val="115000"/>
              </a:lnSpc>
              <a:buNone/>
            </a:pPr>
            <a:r>
              <a:rPr lang="en-US" sz="1000" dirty="0">
                <a:solidFill>
                  <a:srgbClr val="3D4A6E"/>
                </a:solidFill>
                <a:latin typeface="Calibri" pitchFamily="34" charset="0"/>
                <a:ea typeface="Calibri" pitchFamily="34" charset="-122"/>
                <a:cs typeface="Calibri" pitchFamily="34" charset="-120"/>
              </a:rPr>
              <a:t>142 juta orang yang aspiratif tapi value-conscious — pasar terbesar belum dioptimasi.</a:t>
            </a:r>
            <a:endParaRPr lang="en-US" sz="1000" dirty="0"/>
          </a:p>
        </p:txBody>
      </p:sp>
      <p:sp>
        <p:nvSpPr>
          <p:cNvPr id="22" name="Shape 20"/>
          <p:cNvSpPr/>
          <p:nvPr/>
        </p:nvSpPr>
        <p:spPr>
          <a:xfrm>
            <a:off x="3291840" y="1078992"/>
            <a:ext cx="2651760" cy="3749040"/>
          </a:xfrm>
          <a:prstGeom prst="roundRect">
            <a:avLst>
              <a:gd name="adj" fmla="val 3448"/>
            </a:avLst>
          </a:prstGeom>
          <a:solidFill>
            <a:srgbClr val="F0F2FA"/>
          </a:solidFill>
          <a:ln/>
        </p:spPr>
      </p:sp>
      <p:sp>
        <p:nvSpPr>
          <p:cNvPr id="23" name="Shape 21"/>
          <p:cNvSpPr/>
          <p:nvPr/>
        </p:nvSpPr>
        <p:spPr>
          <a:xfrm>
            <a:off x="3291840" y="1078992"/>
            <a:ext cx="2651760" cy="658368"/>
          </a:xfrm>
          <a:prstGeom prst="roundRect">
            <a:avLst>
              <a:gd name="adj" fmla="val 13889"/>
            </a:avLst>
          </a:prstGeom>
          <a:solidFill>
            <a:srgbClr val="1E2761"/>
          </a:solidFill>
          <a:ln/>
        </p:spPr>
      </p:sp>
      <p:sp>
        <p:nvSpPr>
          <p:cNvPr id="24" name="Shape 22"/>
          <p:cNvSpPr/>
          <p:nvPr/>
        </p:nvSpPr>
        <p:spPr>
          <a:xfrm>
            <a:off x="3291840" y="1389888"/>
            <a:ext cx="2651760" cy="347472"/>
          </a:xfrm>
          <a:prstGeom prst="rect">
            <a:avLst/>
          </a:prstGeom>
          <a:solidFill>
            <a:srgbClr val="1E2761"/>
          </a:solidFill>
          <a:ln/>
        </p:spPr>
      </p:sp>
      <p:sp>
        <p:nvSpPr>
          <p:cNvPr id="25" name="Text 23"/>
          <p:cNvSpPr/>
          <p:nvPr/>
        </p:nvSpPr>
        <p:spPr>
          <a:xfrm>
            <a:off x="3429000" y="1115568"/>
            <a:ext cx="2377440" cy="365760"/>
          </a:xfrm>
          <a:prstGeom prst="rect">
            <a:avLst/>
          </a:prstGeom>
          <a:noFill/>
          <a:ln/>
        </p:spPr>
        <p:txBody>
          <a:bodyPr wrap="square" rtlCol="0" anchor="ctr"/>
          <a:lstStyle/>
          <a:p>
            <a:pPr algn="l" indent="0" marL="0">
              <a:buNone/>
            </a:pPr>
            <a:r>
              <a:rPr lang="en-US" sz="1400" b="1" dirty="0">
                <a:solidFill>
                  <a:srgbClr val="FFFFFF"/>
                </a:solidFill>
                <a:latin typeface="Calibri" pitchFamily="34" charset="0"/>
                <a:ea typeface="Calibri" pitchFamily="34" charset="-122"/>
                <a:cs typeface="Calibri" pitchFamily="34" charset="-120"/>
              </a:rPr>
              <a:t>🏪  Market Shift</a:t>
            </a:r>
            <a:endParaRPr lang="en-US" sz="1400" dirty="0"/>
          </a:p>
        </p:txBody>
      </p:sp>
      <p:sp>
        <p:nvSpPr>
          <p:cNvPr id="26" name="Text 24"/>
          <p:cNvSpPr/>
          <p:nvPr/>
        </p:nvSpPr>
        <p:spPr>
          <a:xfrm>
            <a:off x="3429000" y="1481328"/>
            <a:ext cx="2377440" cy="219456"/>
          </a:xfrm>
          <a:prstGeom prst="rect">
            <a:avLst/>
          </a:prstGeom>
          <a:noFill/>
          <a:ln/>
        </p:spPr>
        <p:txBody>
          <a:bodyPr wrap="square"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Lanskap retail bergeser</a:t>
            </a:r>
            <a:endParaRPr lang="en-US" sz="900" dirty="0"/>
          </a:p>
        </p:txBody>
      </p:sp>
      <p:sp>
        <p:nvSpPr>
          <p:cNvPr id="27" name="Shape 25"/>
          <p:cNvSpPr/>
          <p:nvPr/>
        </p:nvSpPr>
        <p:spPr>
          <a:xfrm>
            <a:off x="3429000" y="1847088"/>
            <a:ext cx="2377440" cy="841248"/>
          </a:xfrm>
          <a:prstGeom prst="roundRect">
            <a:avLst>
              <a:gd name="adj" fmla="val 7609"/>
            </a:avLst>
          </a:prstGeom>
          <a:solidFill>
            <a:srgbClr val="FFFFFF"/>
          </a:solidFill>
          <a:ln/>
        </p:spPr>
      </p:sp>
      <p:sp>
        <p:nvSpPr>
          <p:cNvPr id="28" name="Shape 26"/>
          <p:cNvSpPr/>
          <p:nvPr/>
        </p:nvSpPr>
        <p:spPr>
          <a:xfrm>
            <a:off x="3511296" y="1938528"/>
            <a:ext cx="82296" cy="82296"/>
          </a:xfrm>
          <a:prstGeom prst="ellipse">
            <a:avLst/>
          </a:prstGeom>
          <a:solidFill>
            <a:srgbClr val="1E2761"/>
          </a:solidFill>
          <a:ln/>
        </p:spPr>
      </p:sp>
      <p:sp>
        <p:nvSpPr>
          <p:cNvPr id="29" name="Text 27"/>
          <p:cNvSpPr/>
          <p:nvPr/>
        </p:nvSpPr>
        <p:spPr>
          <a:xfrm>
            <a:off x="3639312" y="1901952"/>
            <a:ext cx="2148840" cy="256032"/>
          </a:xfrm>
          <a:prstGeom prst="rect">
            <a:avLst/>
          </a:prstGeom>
          <a:noFill/>
          <a:ln/>
        </p:spPr>
        <p:txBody>
          <a:bodyPr wrap="square" rtlCol="0" anchor="ctr"/>
          <a:lstStyle/>
          <a:p>
            <a:pPr algn="l" indent="0" marL="0">
              <a:buNone/>
            </a:pPr>
            <a:r>
              <a:rPr lang="en-US" sz="1200" b="1" dirty="0">
                <a:solidFill>
                  <a:srgbClr val="1A2355"/>
                </a:solidFill>
                <a:latin typeface="Calibri" pitchFamily="34" charset="0"/>
                <a:ea typeface="Calibri" pitchFamily="34" charset="-122"/>
                <a:cs typeface="Calibri" pitchFamily="34" charset="-120"/>
              </a:rPr>
              <a:t>Niche beats mass</a:t>
            </a:r>
            <a:endParaRPr lang="en-US" sz="1200" dirty="0"/>
          </a:p>
        </p:txBody>
      </p:sp>
      <p:sp>
        <p:nvSpPr>
          <p:cNvPr id="30" name="Text 28"/>
          <p:cNvSpPr/>
          <p:nvPr/>
        </p:nvSpPr>
        <p:spPr>
          <a:xfrm>
            <a:off x="3639312" y="2167128"/>
            <a:ext cx="2148840" cy="457200"/>
          </a:xfrm>
          <a:prstGeom prst="rect">
            <a:avLst/>
          </a:prstGeom>
          <a:noFill/>
          <a:ln/>
        </p:spPr>
        <p:txBody>
          <a:bodyPr wrap="square" rtlCol="0" anchor="ctr"/>
          <a:lstStyle/>
          <a:p>
            <a:pPr algn="l" indent="0" marL="0">
              <a:lnSpc>
                <a:spcPct val="115000"/>
              </a:lnSpc>
              <a:buNone/>
            </a:pPr>
            <a:r>
              <a:rPr lang="en-US" sz="1000" dirty="0">
                <a:solidFill>
                  <a:srgbClr val="3D4A6E"/>
                </a:solidFill>
                <a:latin typeface="Calibri" pitchFamily="34" charset="0"/>
                <a:ea typeface="Calibri" pitchFamily="34" charset="-122"/>
                <a:cs typeface="Calibri" pitchFamily="34" charset="-120"/>
              </a:rPr>
              <a:t>Konsumen mencari expertise dan curation, bukan assortment lebar generalis.</a:t>
            </a:r>
            <a:endParaRPr lang="en-US" sz="1000" dirty="0"/>
          </a:p>
        </p:txBody>
      </p:sp>
      <p:sp>
        <p:nvSpPr>
          <p:cNvPr id="31" name="Shape 29"/>
          <p:cNvSpPr/>
          <p:nvPr/>
        </p:nvSpPr>
        <p:spPr>
          <a:xfrm>
            <a:off x="3429000" y="2807208"/>
            <a:ext cx="2377440" cy="841248"/>
          </a:xfrm>
          <a:prstGeom prst="roundRect">
            <a:avLst>
              <a:gd name="adj" fmla="val 7609"/>
            </a:avLst>
          </a:prstGeom>
          <a:solidFill>
            <a:srgbClr val="FFFFFF"/>
          </a:solidFill>
          <a:ln/>
        </p:spPr>
      </p:sp>
      <p:sp>
        <p:nvSpPr>
          <p:cNvPr id="32" name="Shape 30"/>
          <p:cNvSpPr/>
          <p:nvPr/>
        </p:nvSpPr>
        <p:spPr>
          <a:xfrm>
            <a:off x="3511296" y="2898648"/>
            <a:ext cx="82296" cy="82296"/>
          </a:xfrm>
          <a:prstGeom prst="ellipse">
            <a:avLst/>
          </a:prstGeom>
          <a:solidFill>
            <a:srgbClr val="1E2761"/>
          </a:solidFill>
          <a:ln/>
        </p:spPr>
      </p:sp>
      <p:sp>
        <p:nvSpPr>
          <p:cNvPr id="33" name="Text 31"/>
          <p:cNvSpPr/>
          <p:nvPr/>
        </p:nvSpPr>
        <p:spPr>
          <a:xfrm>
            <a:off x="3639312" y="2862072"/>
            <a:ext cx="2148840" cy="256032"/>
          </a:xfrm>
          <a:prstGeom prst="rect">
            <a:avLst/>
          </a:prstGeom>
          <a:noFill/>
          <a:ln/>
        </p:spPr>
        <p:txBody>
          <a:bodyPr wrap="square" rtlCol="0" anchor="ctr"/>
          <a:lstStyle/>
          <a:p>
            <a:pPr algn="l" indent="0" marL="0">
              <a:buNone/>
            </a:pPr>
            <a:r>
              <a:rPr lang="en-US" sz="1200" b="1" dirty="0">
                <a:solidFill>
                  <a:srgbClr val="1A2355"/>
                </a:solidFill>
                <a:latin typeface="Calibri" pitchFamily="34" charset="0"/>
                <a:ea typeface="Calibri" pitchFamily="34" charset="-122"/>
                <a:cs typeface="Calibri" pitchFamily="34" charset="-120"/>
              </a:rPr>
              <a:t>Tier 2-3 cities</a:t>
            </a:r>
            <a:endParaRPr lang="en-US" sz="1200" dirty="0"/>
          </a:p>
        </p:txBody>
      </p:sp>
      <p:sp>
        <p:nvSpPr>
          <p:cNvPr id="34" name="Text 32"/>
          <p:cNvSpPr/>
          <p:nvPr/>
        </p:nvSpPr>
        <p:spPr>
          <a:xfrm>
            <a:off x="3639312" y="3127248"/>
            <a:ext cx="2148840" cy="457200"/>
          </a:xfrm>
          <a:prstGeom prst="rect">
            <a:avLst/>
          </a:prstGeom>
          <a:noFill/>
          <a:ln/>
        </p:spPr>
        <p:txBody>
          <a:bodyPr wrap="square" rtlCol="0" anchor="ctr"/>
          <a:lstStyle/>
          <a:p>
            <a:pPr algn="l" indent="0" marL="0">
              <a:lnSpc>
                <a:spcPct val="115000"/>
              </a:lnSpc>
              <a:buNone/>
            </a:pPr>
            <a:r>
              <a:rPr lang="en-US" sz="1000" dirty="0">
                <a:solidFill>
                  <a:srgbClr val="3D4A6E"/>
                </a:solidFill>
                <a:latin typeface="Calibri" pitchFamily="34" charset="0"/>
                <a:ea typeface="Calibri" pitchFamily="34" charset="-122"/>
                <a:cs typeface="Calibri" pitchFamily="34" charset="-120"/>
              </a:rPr>
              <a:t>Growth engine baru ada di luar Jakarta — potensi besar yang masih underserved.</a:t>
            </a:r>
            <a:endParaRPr lang="en-US" sz="1000" dirty="0"/>
          </a:p>
        </p:txBody>
      </p:sp>
      <p:sp>
        <p:nvSpPr>
          <p:cNvPr id="35" name="Shape 33"/>
          <p:cNvSpPr/>
          <p:nvPr/>
        </p:nvSpPr>
        <p:spPr>
          <a:xfrm>
            <a:off x="3429000" y="3767328"/>
            <a:ext cx="2377440" cy="841248"/>
          </a:xfrm>
          <a:prstGeom prst="roundRect">
            <a:avLst>
              <a:gd name="adj" fmla="val 7609"/>
            </a:avLst>
          </a:prstGeom>
          <a:solidFill>
            <a:srgbClr val="FFFFFF"/>
          </a:solidFill>
          <a:ln/>
        </p:spPr>
      </p:sp>
      <p:sp>
        <p:nvSpPr>
          <p:cNvPr id="36" name="Shape 34"/>
          <p:cNvSpPr/>
          <p:nvPr/>
        </p:nvSpPr>
        <p:spPr>
          <a:xfrm>
            <a:off x="3511296" y="3858768"/>
            <a:ext cx="82296" cy="82296"/>
          </a:xfrm>
          <a:prstGeom prst="ellipse">
            <a:avLst/>
          </a:prstGeom>
          <a:solidFill>
            <a:srgbClr val="1E2761"/>
          </a:solidFill>
          <a:ln/>
        </p:spPr>
      </p:sp>
      <p:sp>
        <p:nvSpPr>
          <p:cNvPr id="37" name="Text 35"/>
          <p:cNvSpPr/>
          <p:nvPr/>
        </p:nvSpPr>
        <p:spPr>
          <a:xfrm>
            <a:off x="3639312" y="3822192"/>
            <a:ext cx="2148840" cy="256032"/>
          </a:xfrm>
          <a:prstGeom prst="rect">
            <a:avLst/>
          </a:prstGeom>
          <a:noFill/>
          <a:ln/>
        </p:spPr>
        <p:txBody>
          <a:bodyPr wrap="square" rtlCol="0" anchor="ctr"/>
          <a:lstStyle/>
          <a:p>
            <a:pPr algn="l" indent="0" marL="0">
              <a:buNone/>
            </a:pPr>
            <a:r>
              <a:rPr lang="en-US" sz="1200" b="1" dirty="0">
                <a:solidFill>
                  <a:srgbClr val="1A2355"/>
                </a:solidFill>
                <a:latin typeface="Calibri" pitchFamily="34" charset="0"/>
                <a:ea typeface="Calibri" pitchFamily="34" charset="-122"/>
                <a:cs typeface="Calibri" pitchFamily="34" charset="-120"/>
              </a:rPr>
              <a:t>AI menggantikan fungsi generalis</a:t>
            </a:r>
            <a:endParaRPr lang="en-US" sz="1200" dirty="0"/>
          </a:p>
        </p:txBody>
      </p:sp>
      <p:sp>
        <p:nvSpPr>
          <p:cNvPr id="38" name="Text 36"/>
          <p:cNvSpPr/>
          <p:nvPr/>
        </p:nvSpPr>
        <p:spPr>
          <a:xfrm>
            <a:off x="3639312" y="4087368"/>
            <a:ext cx="2148840" cy="457200"/>
          </a:xfrm>
          <a:prstGeom prst="rect">
            <a:avLst/>
          </a:prstGeom>
          <a:noFill/>
          <a:ln/>
        </p:spPr>
        <p:txBody>
          <a:bodyPr wrap="square" rtlCol="0" anchor="ctr"/>
          <a:lstStyle/>
          <a:p>
            <a:pPr algn="l" indent="0" marL="0">
              <a:lnSpc>
                <a:spcPct val="115000"/>
              </a:lnSpc>
              <a:buNone/>
            </a:pPr>
            <a:r>
              <a:rPr lang="en-US" sz="1000" dirty="0">
                <a:solidFill>
                  <a:srgbClr val="3D4A6E"/>
                </a:solidFill>
                <a:latin typeface="Calibri" pitchFamily="34" charset="0"/>
                <a:ea typeface="Calibri" pitchFamily="34" charset="-122"/>
                <a:cs typeface="Calibri" pitchFamily="34" charset="-120"/>
              </a:rPr>
              <a:t>E-commerce + AI eliminasi peran retail yang tidak memberikan value unik.</a:t>
            </a:r>
            <a:endParaRPr lang="en-US" sz="1000" dirty="0"/>
          </a:p>
        </p:txBody>
      </p:sp>
      <p:sp>
        <p:nvSpPr>
          <p:cNvPr id="39" name="Shape 37"/>
          <p:cNvSpPr/>
          <p:nvPr/>
        </p:nvSpPr>
        <p:spPr>
          <a:xfrm>
            <a:off x="6108192" y="1078992"/>
            <a:ext cx="2651760" cy="3749040"/>
          </a:xfrm>
          <a:prstGeom prst="roundRect">
            <a:avLst>
              <a:gd name="adj" fmla="val 3448"/>
            </a:avLst>
          </a:prstGeom>
          <a:solidFill>
            <a:srgbClr val="F0F2FA"/>
          </a:solidFill>
          <a:ln/>
        </p:spPr>
      </p:sp>
      <p:sp>
        <p:nvSpPr>
          <p:cNvPr id="40" name="Shape 38"/>
          <p:cNvSpPr/>
          <p:nvPr/>
        </p:nvSpPr>
        <p:spPr>
          <a:xfrm>
            <a:off x="6108192" y="1078992"/>
            <a:ext cx="2651760" cy="658368"/>
          </a:xfrm>
          <a:prstGeom prst="roundRect">
            <a:avLst>
              <a:gd name="adj" fmla="val 13889"/>
            </a:avLst>
          </a:prstGeom>
          <a:solidFill>
            <a:srgbClr val="C8860A"/>
          </a:solidFill>
          <a:ln/>
        </p:spPr>
      </p:sp>
      <p:sp>
        <p:nvSpPr>
          <p:cNvPr id="41" name="Shape 39"/>
          <p:cNvSpPr/>
          <p:nvPr/>
        </p:nvSpPr>
        <p:spPr>
          <a:xfrm>
            <a:off x="6108192" y="1389888"/>
            <a:ext cx="2651760" cy="347472"/>
          </a:xfrm>
          <a:prstGeom prst="rect">
            <a:avLst/>
          </a:prstGeom>
          <a:solidFill>
            <a:srgbClr val="C8860A"/>
          </a:solidFill>
          <a:ln/>
        </p:spPr>
      </p:sp>
      <p:sp>
        <p:nvSpPr>
          <p:cNvPr id="42" name="Text 40"/>
          <p:cNvSpPr/>
          <p:nvPr/>
        </p:nvSpPr>
        <p:spPr>
          <a:xfrm>
            <a:off x="6245352" y="1115568"/>
            <a:ext cx="2377440" cy="365760"/>
          </a:xfrm>
          <a:prstGeom prst="rect">
            <a:avLst/>
          </a:prstGeom>
          <a:noFill/>
          <a:ln/>
        </p:spPr>
        <p:txBody>
          <a:bodyPr wrap="square" rtlCol="0" anchor="ctr"/>
          <a:lstStyle/>
          <a:p>
            <a:pPr algn="l" indent="0" marL="0">
              <a:buNone/>
            </a:pPr>
            <a:r>
              <a:rPr lang="en-US" sz="1400" b="1" dirty="0">
                <a:solidFill>
                  <a:srgbClr val="FFFFFF"/>
                </a:solidFill>
                <a:latin typeface="Calibri" pitchFamily="34" charset="0"/>
                <a:ea typeface="Calibri" pitchFamily="34" charset="-122"/>
                <a:cs typeface="Calibri" pitchFamily="34" charset="-120"/>
              </a:rPr>
              <a:t>👥  Team Capability Need</a:t>
            </a:r>
            <a:endParaRPr lang="en-US" sz="1400" dirty="0"/>
          </a:p>
        </p:txBody>
      </p:sp>
      <p:sp>
        <p:nvSpPr>
          <p:cNvPr id="43" name="Text 41"/>
          <p:cNvSpPr/>
          <p:nvPr/>
        </p:nvSpPr>
        <p:spPr>
          <a:xfrm>
            <a:off x="6245352" y="1481328"/>
            <a:ext cx="2377440" cy="219456"/>
          </a:xfrm>
          <a:prstGeom prst="rect">
            <a:avLst/>
          </a:prstGeom>
          <a:noFill/>
          <a:ln/>
        </p:spPr>
        <p:txBody>
          <a:bodyPr wrap="square"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Kebutuhan tim berevolusi</a:t>
            </a:r>
            <a:endParaRPr lang="en-US" sz="900" dirty="0"/>
          </a:p>
        </p:txBody>
      </p:sp>
      <p:sp>
        <p:nvSpPr>
          <p:cNvPr id="44" name="Shape 42"/>
          <p:cNvSpPr/>
          <p:nvPr/>
        </p:nvSpPr>
        <p:spPr>
          <a:xfrm>
            <a:off x="6245352" y="1847088"/>
            <a:ext cx="2377440" cy="841248"/>
          </a:xfrm>
          <a:prstGeom prst="roundRect">
            <a:avLst>
              <a:gd name="adj" fmla="val 7609"/>
            </a:avLst>
          </a:prstGeom>
          <a:solidFill>
            <a:srgbClr val="FFFFFF"/>
          </a:solidFill>
          <a:ln/>
        </p:spPr>
      </p:sp>
      <p:sp>
        <p:nvSpPr>
          <p:cNvPr id="45" name="Shape 43"/>
          <p:cNvSpPr/>
          <p:nvPr/>
        </p:nvSpPr>
        <p:spPr>
          <a:xfrm>
            <a:off x="6327648" y="1938528"/>
            <a:ext cx="82296" cy="82296"/>
          </a:xfrm>
          <a:prstGeom prst="ellipse">
            <a:avLst/>
          </a:prstGeom>
          <a:solidFill>
            <a:srgbClr val="C8860A"/>
          </a:solidFill>
          <a:ln/>
        </p:spPr>
      </p:sp>
      <p:sp>
        <p:nvSpPr>
          <p:cNvPr id="46" name="Text 44"/>
          <p:cNvSpPr/>
          <p:nvPr/>
        </p:nvSpPr>
        <p:spPr>
          <a:xfrm>
            <a:off x="6455664" y="1901952"/>
            <a:ext cx="2148840" cy="256032"/>
          </a:xfrm>
          <a:prstGeom prst="rect">
            <a:avLst/>
          </a:prstGeom>
          <a:noFill/>
          <a:ln/>
        </p:spPr>
        <p:txBody>
          <a:bodyPr wrap="square" rtlCol="0" anchor="ctr"/>
          <a:lstStyle/>
          <a:p>
            <a:pPr algn="l" indent="0" marL="0">
              <a:buNone/>
            </a:pPr>
            <a:r>
              <a:rPr lang="en-US" sz="1200" b="1" dirty="0">
                <a:solidFill>
                  <a:srgbClr val="1A2355"/>
                </a:solidFill>
                <a:latin typeface="Calibri" pitchFamily="34" charset="0"/>
                <a:ea typeface="Calibri" pitchFamily="34" charset="-122"/>
                <a:cs typeface="Calibri" pitchFamily="34" charset="-120"/>
              </a:rPr>
              <a:t>T-shaped retailer</a:t>
            </a:r>
            <a:endParaRPr lang="en-US" sz="1200" dirty="0"/>
          </a:p>
        </p:txBody>
      </p:sp>
      <p:sp>
        <p:nvSpPr>
          <p:cNvPr id="47" name="Text 45"/>
          <p:cNvSpPr/>
          <p:nvPr/>
        </p:nvSpPr>
        <p:spPr>
          <a:xfrm>
            <a:off x="6455664" y="2167128"/>
            <a:ext cx="2148840" cy="457200"/>
          </a:xfrm>
          <a:prstGeom prst="rect">
            <a:avLst/>
          </a:prstGeom>
          <a:noFill/>
          <a:ln/>
        </p:spPr>
        <p:txBody>
          <a:bodyPr wrap="square" rtlCol="0" anchor="ctr"/>
          <a:lstStyle/>
          <a:p>
            <a:pPr algn="l" indent="0" marL="0">
              <a:lnSpc>
                <a:spcPct val="115000"/>
              </a:lnSpc>
              <a:buNone/>
            </a:pPr>
            <a:r>
              <a:rPr lang="en-US" sz="1000" dirty="0">
                <a:solidFill>
                  <a:srgbClr val="3D4A6E"/>
                </a:solidFill>
                <a:latin typeface="Calibri" pitchFamily="34" charset="0"/>
                <a:ea typeface="Calibri" pitchFamily="34" charset="-122"/>
                <a:cs typeface="Calibri" pitchFamily="34" charset="-120"/>
              </a:rPr>
              <a:t>Product/category depth + digital &amp; omnichannel breadth = competitive advantage.</a:t>
            </a:r>
            <a:endParaRPr lang="en-US" sz="1000" dirty="0"/>
          </a:p>
        </p:txBody>
      </p:sp>
      <p:sp>
        <p:nvSpPr>
          <p:cNvPr id="48" name="Shape 46"/>
          <p:cNvSpPr/>
          <p:nvPr/>
        </p:nvSpPr>
        <p:spPr>
          <a:xfrm>
            <a:off x="6245352" y="2807208"/>
            <a:ext cx="2377440" cy="841248"/>
          </a:xfrm>
          <a:prstGeom prst="roundRect">
            <a:avLst>
              <a:gd name="adj" fmla="val 7609"/>
            </a:avLst>
          </a:prstGeom>
          <a:solidFill>
            <a:srgbClr val="FFFFFF"/>
          </a:solidFill>
          <a:ln/>
        </p:spPr>
      </p:sp>
      <p:sp>
        <p:nvSpPr>
          <p:cNvPr id="49" name="Shape 47"/>
          <p:cNvSpPr/>
          <p:nvPr/>
        </p:nvSpPr>
        <p:spPr>
          <a:xfrm>
            <a:off x="6327648" y="2898648"/>
            <a:ext cx="82296" cy="82296"/>
          </a:xfrm>
          <a:prstGeom prst="ellipse">
            <a:avLst/>
          </a:prstGeom>
          <a:solidFill>
            <a:srgbClr val="C8860A"/>
          </a:solidFill>
          <a:ln/>
        </p:spPr>
      </p:sp>
      <p:sp>
        <p:nvSpPr>
          <p:cNvPr id="50" name="Text 48"/>
          <p:cNvSpPr/>
          <p:nvPr/>
        </p:nvSpPr>
        <p:spPr>
          <a:xfrm>
            <a:off x="6455664" y="2862072"/>
            <a:ext cx="2148840" cy="256032"/>
          </a:xfrm>
          <a:prstGeom prst="rect">
            <a:avLst/>
          </a:prstGeom>
          <a:noFill/>
          <a:ln/>
        </p:spPr>
        <p:txBody>
          <a:bodyPr wrap="square" rtlCol="0" anchor="ctr"/>
          <a:lstStyle/>
          <a:p>
            <a:pPr algn="l" indent="0" marL="0">
              <a:buNone/>
            </a:pPr>
            <a:r>
              <a:rPr lang="en-US" sz="1200" b="1" dirty="0">
                <a:solidFill>
                  <a:srgbClr val="1A2355"/>
                </a:solidFill>
                <a:latin typeface="Calibri" pitchFamily="34" charset="0"/>
                <a:ea typeface="Calibri" pitchFamily="34" charset="-122"/>
                <a:cs typeface="Calibri" pitchFamily="34" charset="-120"/>
              </a:rPr>
              <a:t>Upskilling urgent</a:t>
            </a:r>
            <a:endParaRPr lang="en-US" sz="1200" dirty="0"/>
          </a:p>
        </p:txBody>
      </p:sp>
      <p:sp>
        <p:nvSpPr>
          <p:cNvPr id="51" name="Text 49"/>
          <p:cNvSpPr/>
          <p:nvPr/>
        </p:nvSpPr>
        <p:spPr>
          <a:xfrm>
            <a:off x="6455664" y="3127248"/>
            <a:ext cx="2148840" cy="457200"/>
          </a:xfrm>
          <a:prstGeom prst="rect">
            <a:avLst/>
          </a:prstGeom>
          <a:noFill/>
          <a:ln/>
        </p:spPr>
        <p:txBody>
          <a:bodyPr wrap="square" rtlCol="0" anchor="ctr"/>
          <a:lstStyle/>
          <a:p>
            <a:pPr algn="l" indent="0" marL="0">
              <a:lnSpc>
                <a:spcPct val="115000"/>
              </a:lnSpc>
              <a:buNone/>
            </a:pPr>
            <a:r>
              <a:rPr lang="en-US" sz="1000" dirty="0">
                <a:solidFill>
                  <a:srgbClr val="3D4A6E"/>
                </a:solidFill>
                <a:latin typeface="Calibri" pitchFamily="34" charset="0"/>
                <a:ea typeface="Calibri" pitchFamily="34" charset="-122"/>
                <a:cs typeface="Calibri" pitchFamily="34" charset="-120"/>
              </a:rPr>
              <a:t>85% industri sudah reskill workforce mereka — tim yang diam tertinggal.</a:t>
            </a:r>
            <a:endParaRPr lang="en-US" sz="1000" dirty="0"/>
          </a:p>
        </p:txBody>
      </p:sp>
      <p:sp>
        <p:nvSpPr>
          <p:cNvPr id="52" name="Shape 50"/>
          <p:cNvSpPr/>
          <p:nvPr/>
        </p:nvSpPr>
        <p:spPr>
          <a:xfrm>
            <a:off x="6245352" y="3767328"/>
            <a:ext cx="2377440" cy="841248"/>
          </a:xfrm>
          <a:prstGeom prst="roundRect">
            <a:avLst>
              <a:gd name="adj" fmla="val 7609"/>
            </a:avLst>
          </a:prstGeom>
          <a:solidFill>
            <a:srgbClr val="FFFFFF"/>
          </a:solidFill>
          <a:ln/>
        </p:spPr>
      </p:sp>
      <p:sp>
        <p:nvSpPr>
          <p:cNvPr id="53" name="Shape 51"/>
          <p:cNvSpPr/>
          <p:nvPr/>
        </p:nvSpPr>
        <p:spPr>
          <a:xfrm>
            <a:off x="6327648" y="3858768"/>
            <a:ext cx="82296" cy="82296"/>
          </a:xfrm>
          <a:prstGeom prst="ellipse">
            <a:avLst/>
          </a:prstGeom>
          <a:solidFill>
            <a:srgbClr val="C8860A"/>
          </a:solidFill>
          <a:ln/>
        </p:spPr>
      </p:sp>
      <p:sp>
        <p:nvSpPr>
          <p:cNvPr id="54" name="Text 52"/>
          <p:cNvSpPr/>
          <p:nvPr/>
        </p:nvSpPr>
        <p:spPr>
          <a:xfrm>
            <a:off x="6455664" y="3822192"/>
            <a:ext cx="2148840" cy="256032"/>
          </a:xfrm>
          <a:prstGeom prst="rect">
            <a:avLst/>
          </a:prstGeom>
          <a:noFill/>
          <a:ln/>
        </p:spPr>
        <p:txBody>
          <a:bodyPr wrap="square" rtlCol="0" anchor="ctr"/>
          <a:lstStyle/>
          <a:p>
            <a:pPr algn="l" indent="0" marL="0">
              <a:buNone/>
            </a:pPr>
            <a:r>
              <a:rPr lang="en-US" sz="1200" b="1" dirty="0">
                <a:solidFill>
                  <a:srgbClr val="1A2355"/>
                </a:solidFill>
                <a:latin typeface="Calibri" pitchFamily="34" charset="0"/>
                <a:ea typeface="Calibri" pitchFamily="34" charset="-122"/>
                <a:cs typeface="Calibri" pitchFamily="34" charset="-120"/>
              </a:rPr>
              <a:t>Specialist store wins</a:t>
            </a:r>
            <a:endParaRPr lang="en-US" sz="1200" dirty="0"/>
          </a:p>
        </p:txBody>
      </p:sp>
      <p:sp>
        <p:nvSpPr>
          <p:cNvPr id="55" name="Text 53"/>
          <p:cNvSpPr/>
          <p:nvPr/>
        </p:nvSpPr>
        <p:spPr>
          <a:xfrm>
            <a:off x="6455664" y="4087368"/>
            <a:ext cx="2148840" cy="457200"/>
          </a:xfrm>
          <a:prstGeom prst="rect">
            <a:avLst/>
          </a:prstGeom>
          <a:noFill/>
          <a:ln/>
        </p:spPr>
        <p:txBody>
          <a:bodyPr wrap="square" rtlCol="0" anchor="ctr"/>
          <a:lstStyle/>
          <a:p>
            <a:pPr algn="l" indent="0" marL="0">
              <a:lnSpc>
                <a:spcPct val="115000"/>
              </a:lnSpc>
              <a:buNone/>
            </a:pPr>
            <a:r>
              <a:rPr lang="en-US" sz="1000" dirty="0">
                <a:solidFill>
                  <a:srgbClr val="3D4A6E"/>
                </a:solidFill>
                <a:latin typeface="Calibri" pitchFamily="34" charset="0"/>
                <a:ea typeface="Calibri" pitchFamily="34" charset="-122"/>
                <a:cs typeface="Calibri" pitchFamily="34" charset="-120"/>
              </a:rPr>
              <a:t>Deep category knowledge yang dikurasi = reason to visit yang tidak bisa digantikan online.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2FA"/>
        </a:solidFill>
      </p:bgPr>
    </p:bg>
    <p:spTree>
      <p:nvGrpSpPr>
        <p:cNvPr id="1" name=""/>
        <p:cNvGrpSpPr/>
        <p:nvPr/>
      </p:nvGrpSpPr>
      <p:grpSpPr>
        <a:xfrm>
          <a:off x="0" y="0"/>
          <a:ext cx="0" cy="0"/>
          <a:chOff x="0" y="0"/>
          <a:chExt cx="0" cy="0"/>
        </a:xfrm>
      </p:grpSpPr>
      <p:sp>
        <p:nvSpPr>
          <p:cNvPr id="2" name="Text 0"/>
          <p:cNvSpPr/>
          <p:nvPr/>
        </p:nvSpPr>
        <p:spPr>
          <a:xfrm>
            <a:off x="502920" y="256032"/>
            <a:ext cx="7315200" cy="502920"/>
          </a:xfrm>
          <a:prstGeom prst="rect">
            <a:avLst/>
          </a:prstGeom>
          <a:noFill/>
          <a:ln/>
        </p:spPr>
        <p:txBody>
          <a:bodyPr wrap="square" rtlCol="0" anchor="ctr"/>
          <a:lstStyle/>
          <a:p>
            <a:pPr algn="l" indent="0" marL="0">
              <a:buNone/>
            </a:pPr>
            <a:r>
              <a:rPr lang="en-US" sz="3000" b="1" dirty="0">
                <a:solidFill>
                  <a:srgbClr val="1A2355"/>
                </a:solidFill>
                <a:latin typeface="Calibri" pitchFamily="34" charset="0"/>
                <a:ea typeface="Calibri" pitchFamily="34" charset="-122"/>
                <a:cs typeface="Calibri" pitchFamily="34" charset="-120"/>
              </a:rPr>
              <a:t>5 Rekomendasi Strategis</a:t>
            </a:r>
            <a:endParaRPr lang="en-US" sz="3000" dirty="0"/>
          </a:p>
        </p:txBody>
      </p:sp>
      <p:sp>
        <p:nvSpPr>
          <p:cNvPr id="3" name="Text 1"/>
          <p:cNvSpPr/>
          <p:nvPr/>
        </p:nvSpPr>
        <p:spPr>
          <a:xfrm>
            <a:off x="502920" y="758952"/>
            <a:ext cx="8229600" cy="256032"/>
          </a:xfrm>
          <a:prstGeom prst="rect">
            <a:avLst/>
          </a:prstGeom>
          <a:noFill/>
          <a:ln/>
        </p:spPr>
        <p:txBody>
          <a:bodyPr wrap="square" rtlCol="0" anchor="ctr"/>
          <a:lstStyle/>
          <a:p>
            <a:pPr algn="l" indent="0" marL="0">
              <a:buNone/>
            </a:pPr>
            <a:r>
              <a:rPr lang="en-US" sz="1300" dirty="0">
                <a:solidFill>
                  <a:srgbClr val="3D4A6E"/>
                </a:solidFill>
                <a:latin typeface="Calibri" pitchFamily="34" charset="0"/>
                <a:ea typeface="Calibri" pitchFamily="34" charset="-122"/>
                <a:cs typeface="Calibri" pitchFamily="34" charset="-120"/>
              </a:rPr>
              <a:t>Langkah konkret untuk Store Concept Team menghadapi perubahan tiga kekuatan makro</a:t>
            </a:r>
            <a:endParaRPr lang="en-US" sz="1300" dirty="0"/>
          </a:p>
        </p:txBody>
      </p:sp>
      <p:sp>
        <p:nvSpPr>
          <p:cNvPr id="4" name="Shape 2"/>
          <p:cNvSpPr/>
          <p:nvPr/>
        </p:nvSpPr>
        <p:spPr>
          <a:xfrm>
            <a:off x="502920" y="1115568"/>
            <a:ext cx="8119872" cy="713232"/>
          </a:xfrm>
          <a:prstGeom prst="roundRect">
            <a:avLst>
              <a:gd name="adj" fmla="val 11538"/>
            </a:avLst>
          </a:prstGeom>
          <a:solidFill>
            <a:srgbClr val="FFFFFF"/>
          </a:solidFill>
          <a:ln/>
          <a:effectLst>
            <a:outerShdw sx="100000" sy="100000" kx="0" ky="0" algn="bl" rotWithShape="0" blurRad="76200" dist="25400" dir="2700000">
              <a:srgbClr val="CCCCCC">
                <a:alpha val="14000"/>
              </a:srgbClr>
            </a:outerShdw>
          </a:effectLst>
        </p:spPr>
      </p:sp>
      <p:sp>
        <p:nvSpPr>
          <p:cNvPr id="5" name="Shape 3"/>
          <p:cNvSpPr/>
          <p:nvPr/>
        </p:nvSpPr>
        <p:spPr>
          <a:xfrm>
            <a:off x="603504" y="1207008"/>
            <a:ext cx="530352" cy="530352"/>
          </a:xfrm>
          <a:prstGeom prst="ellipse">
            <a:avLst/>
          </a:prstGeom>
          <a:solidFill>
            <a:srgbClr val="1E2761"/>
          </a:solidFill>
          <a:ln/>
        </p:spPr>
      </p:sp>
      <p:sp>
        <p:nvSpPr>
          <p:cNvPr id="6" name="Text 4"/>
          <p:cNvSpPr/>
          <p:nvPr/>
        </p:nvSpPr>
        <p:spPr>
          <a:xfrm>
            <a:off x="603504" y="1207008"/>
            <a:ext cx="530352"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7" name="Text 5"/>
          <p:cNvSpPr/>
          <p:nvPr/>
        </p:nvSpPr>
        <p:spPr>
          <a:xfrm>
            <a:off x="1261872" y="1188720"/>
            <a:ext cx="3200400" cy="320040"/>
          </a:xfrm>
          <a:prstGeom prst="rect">
            <a:avLst/>
          </a:prstGeom>
          <a:noFill/>
          <a:ln/>
        </p:spPr>
        <p:txBody>
          <a:bodyPr wrap="square" rtlCol="0" anchor="ctr"/>
          <a:lstStyle/>
          <a:p>
            <a:pPr algn="l" indent="0" marL="0">
              <a:buNone/>
            </a:pPr>
            <a:r>
              <a:rPr lang="en-US" sz="1300" b="1" dirty="0">
                <a:solidFill>
                  <a:srgbClr val="1A2355"/>
                </a:solidFill>
                <a:latin typeface="Calibri" pitchFamily="34" charset="0"/>
                <a:ea typeface="Calibri" pitchFamily="34" charset="-122"/>
                <a:cs typeface="Calibri" pitchFamily="34" charset="-120"/>
              </a:rPr>
              <a:t>Repositioning Target Segment → Aspirant Class</a:t>
            </a:r>
            <a:endParaRPr lang="en-US" sz="1300" dirty="0"/>
          </a:p>
        </p:txBody>
      </p:sp>
      <p:sp>
        <p:nvSpPr>
          <p:cNvPr id="8" name="Text 6"/>
          <p:cNvSpPr/>
          <p:nvPr/>
        </p:nvSpPr>
        <p:spPr>
          <a:xfrm>
            <a:off x="1261872" y="1517904"/>
            <a:ext cx="7223760" cy="274320"/>
          </a:xfrm>
          <a:prstGeom prst="rect">
            <a:avLst/>
          </a:prstGeom>
          <a:noFill/>
          <a:ln/>
        </p:spPr>
        <p:txBody>
          <a:bodyPr wrap="square" rtlCol="0" anchor="ctr"/>
          <a:lstStyle/>
          <a:p>
            <a:pPr algn="l" indent="0" marL="0">
              <a:buNone/>
            </a:pPr>
            <a:r>
              <a:rPr lang="en-US" sz="1000" dirty="0">
                <a:solidFill>
                  <a:srgbClr val="3D4A6E"/>
                </a:solidFill>
                <a:latin typeface="Calibri" pitchFamily="34" charset="0"/>
                <a:ea typeface="Calibri" pitchFamily="34" charset="-122"/>
                <a:cs typeface="Calibri" pitchFamily="34" charset="-120"/>
              </a:rPr>
              <a:t>Geser fokus dari "shrinking middle class" ke Aspirant Class (142 juta, 50.4% populasi). Desain store concept yang menjawab smart-value expectations mereka — premium feel, right price.</a:t>
            </a:r>
            <a:endParaRPr lang="en-US" sz="1000" dirty="0"/>
          </a:p>
        </p:txBody>
      </p:sp>
      <p:sp>
        <p:nvSpPr>
          <p:cNvPr id="9" name="Shape 7"/>
          <p:cNvSpPr/>
          <p:nvPr/>
        </p:nvSpPr>
        <p:spPr>
          <a:xfrm>
            <a:off x="8503920" y="1207008"/>
            <a:ext cx="73152" cy="530352"/>
          </a:xfrm>
          <a:prstGeom prst="roundRect">
            <a:avLst>
              <a:gd name="adj" fmla="val 50000"/>
            </a:avLst>
          </a:prstGeom>
          <a:solidFill>
            <a:srgbClr val="1E2761"/>
          </a:solidFill>
          <a:ln/>
        </p:spPr>
      </p:sp>
      <p:sp>
        <p:nvSpPr>
          <p:cNvPr id="10" name="Shape 8"/>
          <p:cNvSpPr/>
          <p:nvPr/>
        </p:nvSpPr>
        <p:spPr>
          <a:xfrm>
            <a:off x="502920" y="1883664"/>
            <a:ext cx="8119872" cy="713232"/>
          </a:xfrm>
          <a:prstGeom prst="roundRect">
            <a:avLst>
              <a:gd name="adj" fmla="val 11538"/>
            </a:avLst>
          </a:prstGeom>
          <a:solidFill>
            <a:srgbClr val="FFFFFF"/>
          </a:solidFill>
          <a:ln/>
          <a:effectLst>
            <a:outerShdw sx="100000" sy="100000" kx="0" ky="0" algn="bl" rotWithShape="0" blurRad="76200" dist="25400" dir="2700000">
              <a:srgbClr val="CCCCCC">
                <a:alpha val="14000"/>
              </a:srgbClr>
            </a:outerShdw>
          </a:effectLst>
        </p:spPr>
      </p:sp>
      <p:sp>
        <p:nvSpPr>
          <p:cNvPr id="11" name="Shape 9"/>
          <p:cNvSpPr/>
          <p:nvPr/>
        </p:nvSpPr>
        <p:spPr>
          <a:xfrm>
            <a:off x="603504" y="1975104"/>
            <a:ext cx="530352" cy="530352"/>
          </a:xfrm>
          <a:prstGeom prst="ellipse">
            <a:avLst/>
          </a:prstGeom>
          <a:solidFill>
            <a:srgbClr val="1F7A8C"/>
          </a:solidFill>
          <a:ln/>
        </p:spPr>
      </p:sp>
      <p:sp>
        <p:nvSpPr>
          <p:cNvPr id="12" name="Text 10"/>
          <p:cNvSpPr/>
          <p:nvPr/>
        </p:nvSpPr>
        <p:spPr>
          <a:xfrm>
            <a:off x="603504" y="1975104"/>
            <a:ext cx="530352"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13" name="Text 11"/>
          <p:cNvSpPr/>
          <p:nvPr/>
        </p:nvSpPr>
        <p:spPr>
          <a:xfrm>
            <a:off x="1261872" y="1956816"/>
            <a:ext cx="3200400" cy="320040"/>
          </a:xfrm>
          <a:prstGeom prst="rect">
            <a:avLst/>
          </a:prstGeom>
          <a:noFill/>
          <a:ln/>
        </p:spPr>
        <p:txBody>
          <a:bodyPr wrap="square" rtlCol="0" anchor="ctr"/>
          <a:lstStyle/>
          <a:p>
            <a:pPr algn="l" indent="0" marL="0">
              <a:buNone/>
            </a:pPr>
            <a:r>
              <a:rPr lang="en-US" sz="1300" b="1" dirty="0">
                <a:solidFill>
                  <a:srgbClr val="1A2355"/>
                </a:solidFill>
                <a:latin typeface="Calibri" pitchFamily="34" charset="0"/>
                <a:ea typeface="Calibri" pitchFamily="34" charset="-122"/>
                <a:cs typeface="Calibri" pitchFamily="34" charset="-120"/>
              </a:rPr>
              <a:t>Store Specialist: Kuasai 1-2 Kategori Secara Mendalam</a:t>
            </a:r>
            <a:endParaRPr lang="en-US" sz="1300" dirty="0"/>
          </a:p>
        </p:txBody>
      </p:sp>
      <p:sp>
        <p:nvSpPr>
          <p:cNvPr id="14" name="Text 12"/>
          <p:cNvSpPr/>
          <p:nvPr/>
        </p:nvSpPr>
        <p:spPr>
          <a:xfrm>
            <a:off x="1261872" y="2286000"/>
            <a:ext cx="7223760" cy="274320"/>
          </a:xfrm>
          <a:prstGeom prst="rect">
            <a:avLst/>
          </a:prstGeom>
          <a:noFill/>
          <a:ln/>
        </p:spPr>
        <p:txBody>
          <a:bodyPr wrap="square" rtlCol="0" anchor="ctr"/>
          <a:lstStyle/>
          <a:p>
            <a:pPr algn="l" indent="0" marL="0">
              <a:buNone/>
            </a:pPr>
            <a:r>
              <a:rPr lang="en-US" sz="1000" dirty="0">
                <a:solidFill>
                  <a:srgbClr val="3D4A6E"/>
                </a:solidFill>
                <a:latin typeface="Calibri" pitchFamily="34" charset="0"/>
                <a:ea typeface="Calibri" pitchFamily="34" charset="-122"/>
                <a:cs typeface="Calibri" pitchFamily="34" charset="-120"/>
              </a:rPr>
              <a:t>Dari general assortment ke specialist concept. Pilih kategori unggulan, build expertise mendalam, jadilah destination store yang tak bisa digantikan e-commerce generalis.</a:t>
            </a:r>
            <a:endParaRPr lang="en-US" sz="1000" dirty="0"/>
          </a:p>
        </p:txBody>
      </p:sp>
      <p:sp>
        <p:nvSpPr>
          <p:cNvPr id="15" name="Shape 13"/>
          <p:cNvSpPr/>
          <p:nvPr/>
        </p:nvSpPr>
        <p:spPr>
          <a:xfrm>
            <a:off x="8503920" y="1975104"/>
            <a:ext cx="73152" cy="530352"/>
          </a:xfrm>
          <a:prstGeom prst="roundRect">
            <a:avLst>
              <a:gd name="adj" fmla="val 50000"/>
            </a:avLst>
          </a:prstGeom>
          <a:solidFill>
            <a:srgbClr val="1F7A8C"/>
          </a:solidFill>
          <a:ln/>
        </p:spPr>
      </p:sp>
      <p:sp>
        <p:nvSpPr>
          <p:cNvPr id="16" name="Shape 14"/>
          <p:cNvSpPr/>
          <p:nvPr/>
        </p:nvSpPr>
        <p:spPr>
          <a:xfrm>
            <a:off x="502920" y="2651760"/>
            <a:ext cx="8119872" cy="713232"/>
          </a:xfrm>
          <a:prstGeom prst="roundRect">
            <a:avLst>
              <a:gd name="adj" fmla="val 11538"/>
            </a:avLst>
          </a:prstGeom>
          <a:solidFill>
            <a:srgbClr val="FFFFFF"/>
          </a:solidFill>
          <a:ln/>
          <a:effectLst>
            <a:outerShdw sx="100000" sy="100000" kx="0" ky="0" algn="bl" rotWithShape="0" blurRad="76200" dist="25400" dir="2700000">
              <a:srgbClr val="CCCCCC">
                <a:alpha val="14000"/>
              </a:srgbClr>
            </a:outerShdw>
          </a:effectLst>
        </p:spPr>
      </p:sp>
      <p:sp>
        <p:nvSpPr>
          <p:cNvPr id="17" name="Shape 15"/>
          <p:cNvSpPr/>
          <p:nvPr/>
        </p:nvSpPr>
        <p:spPr>
          <a:xfrm>
            <a:off x="603504" y="2743200"/>
            <a:ext cx="530352" cy="530352"/>
          </a:xfrm>
          <a:prstGeom prst="ellipse">
            <a:avLst/>
          </a:prstGeom>
          <a:solidFill>
            <a:srgbClr val="C8860A"/>
          </a:solidFill>
          <a:ln/>
        </p:spPr>
      </p:sp>
      <p:sp>
        <p:nvSpPr>
          <p:cNvPr id="18" name="Text 16"/>
          <p:cNvSpPr/>
          <p:nvPr/>
        </p:nvSpPr>
        <p:spPr>
          <a:xfrm>
            <a:off x="603504" y="2743200"/>
            <a:ext cx="530352"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19" name="Text 17"/>
          <p:cNvSpPr/>
          <p:nvPr/>
        </p:nvSpPr>
        <p:spPr>
          <a:xfrm>
            <a:off x="1261872" y="2724912"/>
            <a:ext cx="3200400" cy="320040"/>
          </a:xfrm>
          <a:prstGeom prst="rect">
            <a:avLst/>
          </a:prstGeom>
          <a:noFill/>
          <a:ln/>
        </p:spPr>
        <p:txBody>
          <a:bodyPr wrap="square" rtlCol="0" anchor="ctr"/>
          <a:lstStyle/>
          <a:p>
            <a:pPr algn="l" indent="0" marL="0">
              <a:buNone/>
            </a:pPr>
            <a:r>
              <a:rPr lang="en-US" sz="1300" b="1" dirty="0">
                <a:solidFill>
                  <a:srgbClr val="1A2355"/>
                </a:solidFill>
                <a:latin typeface="Calibri" pitchFamily="34" charset="0"/>
                <a:ea typeface="Calibri" pitchFamily="34" charset="-122"/>
                <a:cs typeface="Calibri" pitchFamily="34" charset="-120"/>
              </a:rPr>
              <a:t>Value-First Store Design &amp; Merchandising</a:t>
            </a:r>
            <a:endParaRPr lang="en-US" sz="1300" dirty="0"/>
          </a:p>
        </p:txBody>
      </p:sp>
      <p:sp>
        <p:nvSpPr>
          <p:cNvPr id="20" name="Text 18"/>
          <p:cNvSpPr/>
          <p:nvPr/>
        </p:nvSpPr>
        <p:spPr>
          <a:xfrm>
            <a:off x="1261872" y="3054096"/>
            <a:ext cx="7223760" cy="274320"/>
          </a:xfrm>
          <a:prstGeom prst="rect">
            <a:avLst/>
          </a:prstGeom>
          <a:noFill/>
          <a:ln/>
        </p:spPr>
        <p:txBody>
          <a:bodyPr wrap="square" rtlCol="0" anchor="ctr"/>
          <a:lstStyle/>
          <a:p>
            <a:pPr algn="l" indent="0" marL="0">
              <a:buNone/>
            </a:pPr>
            <a:r>
              <a:rPr lang="en-US" sz="1000" dirty="0">
                <a:solidFill>
                  <a:srgbClr val="3D4A6E"/>
                </a:solidFill>
                <a:latin typeface="Calibri" pitchFamily="34" charset="0"/>
                <a:ea typeface="Calibri" pitchFamily="34" charset="-122"/>
                <a:cs typeface="Calibri" pitchFamily="34" charset="-120"/>
              </a:rPr>
              <a:t>Komunikasikan "quality at right price" di seluruh touchpoint visual: display, signage, product curation. Bukan diskon, bukan premium palsu — tapi smart value yang terasa &amp; terbukti.</a:t>
            </a:r>
            <a:endParaRPr lang="en-US" sz="1000" dirty="0"/>
          </a:p>
        </p:txBody>
      </p:sp>
      <p:sp>
        <p:nvSpPr>
          <p:cNvPr id="21" name="Shape 19"/>
          <p:cNvSpPr/>
          <p:nvPr/>
        </p:nvSpPr>
        <p:spPr>
          <a:xfrm>
            <a:off x="8503920" y="2743200"/>
            <a:ext cx="73152" cy="530352"/>
          </a:xfrm>
          <a:prstGeom prst="roundRect">
            <a:avLst>
              <a:gd name="adj" fmla="val 50000"/>
            </a:avLst>
          </a:prstGeom>
          <a:solidFill>
            <a:srgbClr val="C8860A"/>
          </a:solidFill>
          <a:ln/>
        </p:spPr>
      </p:sp>
      <p:sp>
        <p:nvSpPr>
          <p:cNvPr id="22" name="Shape 20"/>
          <p:cNvSpPr/>
          <p:nvPr/>
        </p:nvSpPr>
        <p:spPr>
          <a:xfrm>
            <a:off x="502920" y="3419856"/>
            <a:ext cx="8119872" cy="713232"/>
          </a:xfrm>
          <a:prstGeom prst="roundRect">
            <a:avLst>
              <a:gd name="adj" fmla="val 11538"/>
            </a:avLst>
          </a:prstGeom>
          <a:solidFill>
            <a:srgbClr val="FFFFFF"/>
          </a:solidFill>
          <a:ln/>
          <a:effectLst>
            <a:outerShdw sx="100000" sy="100000" kx="0" ky="0" algn="bl" rotWithShape="0" blurRad="76200" dist="25400" dir="2700000">
              <a:srgbClr val="CCCCCC">
                <a:alpha val="14000"/>
              </a:srgbClr>
            </a:outerShdw>
          </a:effectLst>
        </p:spPr>
      </p:sp>
      <p:sp>
        <p:nvSpPr>
          <p:cNvPr id="23" name="Shape 21"/>
          <p:cNvSpPr/>
          <p:nvPr/>
        </p:nvSpPr>
        <p:spPr>
          <a:xfrm>
            <a:off x="603504" y="3511296"/>
            <a:ext cx="530352" cy="530352"/>
          </a:xfrm>
          <a:prstGeom prst="ellipse">
            <a:avLst/>
          </a:prstGeom>
          <a:solidFill>
            <a:srgbClr val="6A1B9A"/>
          </a:solidFill>
          <a:ln/>
        </p:spPr>
      </p:sp>
      <p:sp>
        <p:nvSpPr>
          <p:cNvPr id="24" name="Text 22"/>
          <p:cNvSpPr/>
          <p:nvPr/>
        </p:nvSpPr>
        <p:spPr>
          <a:xfrm>
            <a:off x="603504" y="3511296"/>
            <a:ext cx="530352"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25" name="Text 23"/>
          <p:cNvSpPr/>
          <p:nvPr/>
        </p:nvSpPr>
        <p:spPr>
          <a:xfrm>
            <a:off x="1261872" y="3493008"/>
            <a:ext cx="3200400" cy="320040"/>
          </a:xfrm>
          <a:prstGeom prst="rect">
            <a:avLst/>
          </a:prstGeom>
          <a:noFill/>
          <a:ln/>
        </p:spPr>
        <p:txBody>
          <a:bodyPr wrap="square" rtlCol="0" anchor="ctr"/>
          <a:lstStyle/>
          <a:p>
            <a:pPr algn="l" indent="0" marL="0">
              <a:buNone/>
            </a:pPr>
            <a:r>
              <a:rPr lang="en-US" sz="1300" b="1" dirty="0">
                <a:solidFill>
                  <a:srgbClr val="1A2355"/>
                </a:solidFill>
                <a:latin typeface="Calibri" pitchFamily="34" charset="0"/>
                <a:ea typeface="Calibri" pitchFamily="34" charset="-122"/>
                <a:cs typeface="Calibri" pitchFamily="34" charset="-120"/>
              </a:rPr>
              <a:t>Bangun T-Shaped Retail Team</a:t>
            </a:r>
            <a:endParaRPr lang="en-US" sz="1300" dirty="0"/>
          </a:p>
        </p:txBody>
      </p:sp>
      <p:sp>
        <p:nvSpPr>
          <p:cNvPr id="26" name="Text 24"/>
          <p:cNvSpPr/>
          <p:nvPr/>
        </p:nvSpPr>
        <p:spPr>
          <a:xfrm>
            <a:off x="1261872" y="3822192"/>
            <a:ext cx="7223760" cy="274320"/>
          </a:xfrm>
          <a:prstGeom prst="rect">
            <a:avLst/>
          </a:prstGeom>
          <a:noFill/>
          <a:ln/>
        </p:spPr>
        <p:txBody>
          <a:bodyPr wrap="square" rtlCol="0" anchor="ctr"/>
          <a:lstStyle/>
          <a:p>
            <a:pPr algn="l" indent="0" marL="0">
              <a:buNone/>
            </a:pPr>
            <a:r>
              <a:rPr lang="en-US" sz="1000" dirty="0">
                <a:solidFill>
                  <a:srgbClr val="3D4A6E"/>
                </a:solidFill>
                <a:latin typeface="Calibri" pitchFamily="34" charset="0"/>
                <a:ea typeface="Calibri" pitchFamily="34" charset="-122"/>
                <a:cs typeface="Calibri" pitchFamily="34" charset="-120"/>
              </a:rPr>
              <a:t>Program upskilling: deep category knowledge (specialist depth) + digital/omnichannel fluency (generalist breadth). Tim yang bisa serve phygital customer journey dengan confident.</a:t>
            </a:r>
            <a:endParaRPr lang="en-US" sz="1000" dirty="0"/>
          </a:p>
        </p:txBody>
      </p:sp>
      <p:sp>
        <p:nvSpPr>
          <p:cNvPr id="27" name="Shape 25"/>
          <p:cNvSpPr/>
          <p:nvPr/>
        </p:nvSpPr>
        <p:spPr>
          <a:xfrm>
            <a:off x="8503920" y="3511296"/>
            <a:ext cx="73152" cy="530352"/>
          </a:xfrm>
          <a:prstGeom prst="roundRect">
            <a:avLst>
              <a:gd name="adj" fmla="val 50000"/>
            </a:avLst>
          </a:prstGeom>
          <a:solidFill>
            <a:srgbClr val="6A1B9A"/>
          </a:solidFill>
          <a:ln/>
        </p:spPr>
      </p:sp>
      <p:sp>
        <p:nvSpPr>
          <p:cNvPr id="28" name="Shape 26"/>
          <p:cNvSpPr/>
          <p:nvPr/>
        </p:nvSpPr>
        <p:spPr>
          <a:xfrm>
            <a:off x="502920" y="4187952"/>
            <a:ext cx="8119872" cy="713232"/>
          </a:xfrm>
          <a:prstGeom prst="roundRect">
            <a:avLst>
              <a:gd name="adj" fmla="val 11538"/>
            </a:avLst>
          </a:prstGeom>
          <a:solidFill>
            <a:srgbClr val="FFFFFF"/>
          </a:solidFill>
          <a:ln/>
          <a:effectLst>
            <a:outerShdw sx="100000" sy="100000" kx="0" ky="0" algn="bl" rotWithShape="0" blurRad="76200" dist="25400" dir="2700000">
              <a:srgbClr val="CCCCCC">
                <a:alpha val="14000"/>
              </a:srgbClr>
            </a:outerShdw>
          </a:effectLst>
        </p:spPr>
      </p:sp>
      <p:sp>
        <p:nvSpPr>
          <p:cNvPr id="29" name="Shape 27"/>
          <p:cNvSpPr/>
          <p:nvPr/>
        </p:nvSpPr>
        <p:spPr>
          <a:xfrm>
            <a:off x="603504" y="4279392"/>
            <a:ext cx="530352" cy="530352"/>
          </a:xfrm>
          <a:prstGeom prst="ellipse">
            <a:avLst/>
          </a:prstGeom>
          <a:solidFill>
            <a:srgbClr val="00695C"/>
          </a:solidFill>
          <a:ln/>
        </p:spPr>
      </p:sp>
      <p:sp>
        <p:nvSpPr>
          <p:cNvPr id="30" name="Text 28"/>
          <p:cNvSpPr/>
          <p:nvPr/>
        </p:nvSpPr>
        <p:spPr>
          <a:xfrm>
            <a:off x="603504" y="4279392"/>
            <a:ext cx="530352"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31" name="Text 29"/>
          <p:cNvSpPr/>
          <p:nvPr/>
        </p:nvSpPr>
        <p:spPr>
          <a:xfrm>
            <a:off x="1261872" y="4261104"/>
            <a:ext cx="3200400" cy="320040"/>
          </a:xfrm>
          <a:prstGeom prst="rect">
            <a:avLst/>
          </a:prstGeom>
          <a:noFill/>
          <a:ln/>
        </p:spPr>
        <p:txBody>
          <a:bodyPr wrap="square" rtlCol="0" anchor="ctr"/>
          <a:lstStyle/>
          <a:p>
            <a:pPr algn="l" indent="0" marL="0">
              <a:buNone/>
            </a:pPr>
            <a:r>
              <a:rPr lang="en-US" sz="1300" b="1" dirty="0">
                <a:solidFill>
                  <a:srgbClr val="1A2355"/>
                </a:solidFill>
                <a:latin typeface="Calibri" pitchFamily="34" charset="0"/>
                <a:ea typeface="Calibri" pitchFamily="34" charset="-122"/>
                <a:cs typeface="Calibri" pitchFamily="34" charset="-120"/>
              </a:rPr>
              <a:t>Integrasi Phygital: Online ↔ Offline Seamless</a:t>
            </a:r>
            <a:endParaRPr lang="en-US" sz="1300" dirty="0"/>
          </a:p>
        </p:txBody>
      </p:sp>
      <p:sp>
        <p:nvSpPr>
          <p:cNvPr id="32" name="Text 30"/>
          <p:cNvSpPr/>
          <p:nvPr/>
        </p:nvSpPr>
        <p:spPr>
          <a:xfrm>
            <a:off x="1261872" y="4590288"/>
            <a:ext cx="7223760" cy="274320"/>
          </a:xfrm>
          <a:prstGeom prst="rect">
            <a:avLst/>
          </a:prstGeom>
          <a:noFill/>
          <a:ln/>
        </p:spPr>
        <p:txBody>
          <a:bodyPr wrap="square" rtlCol="0" anchor="ctr"/>
          <a:lstStyle/>
          <a:p>
            <a:pPr algn="l" indent="0" marL="0">
              <a:buNone/>
            </a:pPr>
            <a:r>
              <a:rPr lang="en-US" sz="1000" dirty="0">
                <a:solidFill>
                  <a:srgbClr val="3D4A6E"/>
                </a:solidFill>
                <a:latin typeface="Calibri" pitchFamily="34" charset="0"/>
                <a:ea typeface="Calibri" pitchFamily="34" charset="-122"/>
                <a:cs typeface="Calibri" pitchFamily="34" charset="-120"/>
              </a:rPr>
              <a:t>Store concept yang menggabungkan fisik dan digital: click-to-collect, in-store digital tools, QRIS payment, loyalty capture. Omnichannel bukan opsi — ini sudah standar konsumen.</a:t>
            </a:r>
            <a:endParaRPr lang="en-US" sz="1000" dirty="0"/>
          </a:p>
        </p:txBody>
      </p:sp>
      <p:sp>
        <p:nvSpPr>
          <p:cNvPr id="33" name="Shape 31"/>
          <p:cNvSpPr/>
          <p:nvPr/>
        </p:nvSpPr>
        <p:spPr>
          <a:xfrm>
            <a:off x="8503920" y="4279392"/>
            <a:ext cx="73152" cy="530352"/>
          </a:xfrm>
          <a:prstGeom prst="roundRect">
            <a:avLst>
              <a:gd name="adj" fmla="val 50000"/>
            </a:avLst>
          </a:prstGeom>
          <a:solidFill>
            <a:srgbClr val="00695C"/>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02920" y="228600"/>
            <a:ext cx="7315200" cy="502920"/>
          </a:xfrm>
          <a:prstGeom prst="rect">
            <a:avLst/>
          </a:prstGeom>
          <a:noFill/>
          <a:ln/>
        </p:spPr>
        <p:txBody>
          <a:bodyPr wrap="square"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Roadmap Implementasi</a:t>
            </a:r>
            <a:endParaRPr lang="en-US" sz="3000" dirty="0"/>
          </a:p>
        </p:txBody>
      </p:sp>
      <p:sp>
        <p:nvSpPr>
          <p:cNvPr id="3" name="Text 1"/>
          <p:cNvSpPr/>
          <p:nvPr/>
        </p:nvSpPr>
        <p:spPr>
          <a:xfrm>
            <a:off x="502920" y="731520"/>
            <a:ext cx="8229600" cy="274320"/>
          </a:xfrm>
          <a:prstGeom prst="rect">
            <a:avLst/>
          </a:prstGeom>
          <a:noFill/>
          <a:ln/>
        </p:spPr>
        <p:txBody>
          <a:bodyPr wrap="square" rtlCol="0" anchor="ctr"/>
          <a:lstStyle/>
          <a:p>
            <a:pPr algn="l" indent="0" marL="0">
              <a:buNone/>
            </a:pPr>
            <a:r>
              <a:rPr lang="en-US" sz="1300" dirty="0">
                <a:solidFill>
                  <a:srgbClr val="8891B4"/>
                </a:solidFill>
                <a:latin typeface="Calibri" pitchFamily="34" charset="0"/>
                <a:ea typeface="Calibri" pitchFamily="34" charset="-122"/>
                <a:cs typeface="Calibri" pitchFamily="34" charset="-120"/>
              </a:rPr>
              <a:t>3 fase terstruktur untuk mengeksekusi rekomendasi dari validasi hingga scaling</a:t>
            </a:r>
            <a:endParaRPr lang="en-US" sz="1300" dirty="0"/>
          </a:p>
        </p:txBody>
      </p:sp>
      <p:sp>
        <p:nvSpPr>
          <p:cNvPr id="4" name="Shape 2"/>
          <p:cNvSpPr/>
          <p:nvPr/>
        </p:nvSpPr>
        <p:spPr>
          <a:xfrm>
            <a:off x="658368" y="2167128"/>
            <a:ext cx="7845552" cy="54864"/>
          </a:xfrm>
          <a:prstGeom prst="rect">
            <a:avLst/>
          </a:prstGeom>
          <a:solidFill>
            <a:srgbClr val="2A3580"/>
          </a:solidFill>
          <a:ln/>
        </p:spPr>
      </p:sp>
      <p:sp>
        <p:nvSpPr>
          <p:cNvPr id="5" name="Text 3"/>
          <p:cNvSpPr/>
          <p:nvPr/>
        </p:nvSpPr>
        <p:spPr>
          <a:xfrm>
            <a:off x="594360" y="960120"/>
            <a:ext cx="2514600" cy="685800"/>
          </a:xfrm>
          <a:prstGeom prst="rect">
            <a:avLst/>
          </a:prstGeom>
          <a:noFill/>
          <a:ln/>
        </p:spPr>
        <p:txBody>
          <a:bodyPr wrap="square" rtlCol="0" anchor="ctr"/>
          <a:lstStyle/>
          <a:p>
            <a:pPr algn="ctr" indent="0" marL="0">
              <a:lnSpc>
                <a:spcPct val="110000"/>
              </a:lnSpc>
              <a:buNone/>
            </a:pPr>
            <a:r>
              <a:rPr lang="en-US" sz="1800" b="1" dirty="0">
                <a:solidFill>
                  <a:srgbClr val="FFFFFF"/>
                </a:solidFill>
                <a:latin typeface="Calibri" pitchFamily="34" charset="0"/>
                <a:ea typeface="Calibri" pitchFamily="34" charset="-122"/>
                <a:cs typeface="Calibri" pitchFamily="34" charset="-120"/>
              </a:rPr>
              <a:t>Riset &amp;</a:t>
            </a:r>
            <a:endParaRPr lang="en-US" sz="1800" dirty="0"/>
          </a:p>
          <a:p>
            <a:pPr algn="ctr" indent="0" marL="0">
              <a:lnSpc>
                <a:spcPct val="110000"/>
              </a:lnSpc>
              <a:buNone/>
            </a:pPr>
            <a:r>
              <a:rPr lang="en-US" sz="1800" b="1" dirty="0">
                <a:solidFill>
                  <a:srgbClr val="FFFFFF"/>
                </a:solidFill>
                <a:latin typeface="Calibri" pitchFamily="34" charset="0"/>
                <a:ea typeface="Calibri" pitchFamily="34" charset="-122"/>
                <a:cs typeface="Calibri" pitchFamily="34" charset="-120"/>
              </a:rPr>
              <a:t>Validasi</a:t>
            </a:r>
            <a:endParaRPr lang="en-US" sz="1800" dirty="0"/>
          </a:p>
        </p:txBody>
      </p:sp>
      <p:sp>
        <p:nvSpPr>
          <p:cNvPr id="6" name="Text 4"/>
          <p:cNvSpPr/>
          <p:nvPr/>
        </p:nvSpPr>
        <p:spPr>
          <a:xfrm>
            <a:off x="594360" y="1664208"/>
            <a:ext cx="2514600" cy="274320"/>
          </a:xfrm>
          <a:prstGeom prst="rect">
            <a:avLst/>
          </a:prstGeom>
          <a:noFill/>
          <a:ln/>
        </p:spPr>
        <p:txBody>
          <a:bodyPr wrap="square" rtlCol="0" anchor="ctr"/>
          <a:lstStyle/>
          <a:p>
            <a:pPr algn="ctr" indent="0" marL="0">
              <a:buNone/>
            </a:pPr>
            <a:r>
              <a:rPr lang="en-US" sz="1100" b="1" dirty="0">
                <a:solidFill>
                  <a:srgbClr val="1F7A8C"/>
                </a:solidFill>
                <a:latin typeface="Calibri" pitchFamily="34" charset="0"/>
                <a:ea typeface="Calibri" pitchFamily="34" charset="-122"/>
                <a:cs typeface="Calibri" pitchFamily="34" charset="-120"/>
              </a:rPr>
              <a:t>0 – 6 Bulan</a:t>
            </a:r>
            <a:endParaRPr lang="en-US" sz="1100" dirty="0"/>
          </a:p>
        </p:txBody>
      </p:sp>
      <p:sp>
        <p:nvSpPr>
          <p:cNvPr id="7" name="Shape 5"/>
          <p:cNvSpPr/>
          <p:nvPr/>
        </p:nvSpPr>
        <p:spPr>
          <a:xfrm>
            <a:off x="1595628" y="1956816"/>
            <a:ext cx="502920" cy="502920"/>
          </a:xfrm>
          <a:prstGeom prst="ellipse">
            <a:avLst/>
          </a:prstGeom>
          <a:solidFill>
            <a:srgbClr val="1F7A8C"/>
          </a:solidFill>
          <a:ln w="12700">
            <a:solidFill>
              <a:srgbClr val="1E2761"/>
            </a:solidFill>
            <a:prstDash val="solid"/>
          </a:ln>
        </p:spPr>
      </p:sp>
      <p:sp>
        <p:nvSpPr>
          <p:cNvPr id="8" name="Text 6"/>
          <p:cNvSpPr/>
          <p:nvPr/>
        </p:nvSpPr>
        <p:spPr>
          <a:xfrm>
            <a:off x="1595628" y="1956816"/>
            <a:ext cx="502920" cy="502920"/>
          </a:xfrm>
          <a:prstGeom prst="rect">
            <a:avLst/>
          </a:prstGeom>
          <a:noFill/>
          <a:ln/>
        </p:spPr>
        <p:txBody>
          <a:bodyPr wrap="square" lIns="0" tIns="0" rIns="0" bIns="0" rtlCol="0" anchor="ctr"/>
          <a:lstStyle/>
          <a:p>
            <a:pPr algn="ctr" indent="0" marL="0">
              <a:buNone/>
            </a:pPr>
            <a:r>
              <a:rPr lang="en-US" sz="1700" b="1" dirty="0">
                <a:solidFill>
                  <a:srgbClr val="141E52"/>
                </a:solidFill>
                <a:latin typeface="Calibri" pitchFamily="34" charset="0"/>
                <a:ea typeface="Calibri" pitchFamily="34" charset="-122"/>
                <a:cs typeface="Calibri" pitchFamily="34" charset="-120"/>
              </a:rPr>
              <a:t>1</a:t>
            </a:r>
            <a:endParaRPr lang="en-US" sz="1700" dirty="0"/>
          </a:p>
        </p:txBody>
      </p:sp>
      <p:sp>
        <p:nvSpPr>
          <p:cNvPr id="9" name="Shape 7"/>
          <p:cNvSpPr/>
          <p:nvPr/>
        </p:nvSpPr>
        <p:spPr>
          <a:xfrm>
            <a:off x="594360" y="2606040"/>
            <a:ext cx="2514600" cy="2286000"/>
          </a:xfrm>
          <a:prstGeom prst="roundRect">
            <a:avLst>
              <a:gd name="adj" fmla="val 4000"/>
            </a:avLst>
          </a:prstGeom>
          <a:solidFill>
            <a:srgbClr val="2A3580"/>
          </a:solidFill>
          <a:ln w="12700">
            <a:solidFill>
              <a:srgbClr val="1F7A8C"/>
            </a:solidFill>
            <a:prstDash val="solid"/>
          </a:ln>
        </p:spPr>
      </p:sp>
      <p:sp>
        <p:nvSpPr>
          <p:cNvPr id="10" name="Shape 8"/>
          <p:cNvSpPr/>
          <p:nvPr/>
        </p:nvSpPr>
        <p:spPr>
          <a:xfrm>
            <a:off x="758952" y="2889504"/>
            <a:ext cx="82296" cy="82296"/>
          </a:xfrm>
          <a:prstGeom prst="ellipse">
            <a:avLst/>
          </a:prstGeom>
          <a:solidFill>
            <a:srgbClr val="1F7A8C"/>
          </a:solidFill>
          <a:ln/>
        </p:spPr>
      </p:sp>
      <p:sp>
        <p:nvSpPr>
          <p:cNvPr id="11" name="Text 9"/>
          <p:cNvSpPr/>
          <p:nvPr/>
        </p:nvSpPr>
        <p:spPr>
          <a:xfrm>
            <a:off x="886968" y="2761488"/>
            <a:ext cx="2103120" cy="438912"/>
          </a:xfrm>
          <a:prstGeom prst="rect">
            <a:avLst/>
          </a:prstGeom>
          <a:noFill/>
          <a:ln/>
        </p:spPr>
        <p:txBody>
          <a:bodyPr wrap="square" rtlCol="0" anchor="ctr"/>
          <a:lstStyle/>
          <a:p>
            <a:pPr algn="l" indent="0" marL="0">
              <a:lnSpc>
                <a:spcPct val="110000"/>
              </a:lnSpc>
              <a:buNone/>
            </a:pPr>
            <a:r>
              <a:rPr lang="en-US" sz="1100" dirty="0">
                <a:solidFill>
                  <a:srgbClr val="8891B4"/>
                </a:solidFill>
                <a:latin typeface="Calibri" pitchFamily="34" charset="0"/>
                <a:ea typeface="Calibri" pitchFamily="34" charset="-122"/>
                <a:cs typeface="Calibri" pitchFamily="34" charset="-120"/>
              </a:rPr>
              <a:t>Pemetaan perilaku Aspirant Class di kota target</a:t>
            </a:r>
            <a:endParaRPr lang="en-US" sz="1100" dirty="0"/>
          </a:p>
        </p:txBody>
      </p:sp>
      <p:sp>
        <p:nvSpPr>
          <p:cNvPr id="12" name="Shape 10"/>
          <p:cNvSpPr/>
          <p:nvPr/>
        </p:nvSpPr>
        <p:spPr>
          <a:xfrm>
            <a:off x="758952" y="3392424"/>
            <a:ext cx="82296" cy="82296"/>
          </a:xfrm>
          <a:prstGeom prst="ellipse">
            <a:avLst/>
          </a:prstGeom>
          <a:solidFill>
            <a:srgbClr val="1F7A8C"/>
          </a:solidFill>
          <a:ln/>
        </p:spPr>
      </p:sp>
      <p:sp>
        <p:nvSpPr>
          <p:cNvPr id="13" name="Text 11"/>
          <p:cNvSpPr/>
          <p:nvPr/>
        </p:nvSpPr>
        <p:spPr>
          <a:xfrm>
            <a:off x="886968" y="3264408"/>
            <a:ext cx="2103120" cy="438912"/>
          </a:xfrm>
          <a:prstGeom prst="rect">
            <a:avLst/>
          </a:prstGeom>
          <a:noFill/>
          <a:ln/>
        </p:spPr>
        <p:txBody>
          <a:bodyPr wrap="square" rtlCol="0" anchor="ctr"/>
          <a:lstStyle/>
          <a:p>
            <a:pPr algn="l" indent="0" marL="0">
              <a:lnSpc>
                <a:spcPct val="110000"/>
              </a:lnSpc>
              <a:buNone/>
            </a:pPr>
            <a:r>
              <a:rPr lang="en-US" sz="1100" dirty="0">
                <a:solidFill>
                  <a:srgbClr val="8891B4"/>
                </a:solidFill>
                <a:latin typeface="Calibri" pitchFamily="34" charset="0"/>
                <a:ea typeface="Calibri" pitchFamily="34" charset="-122"/>
                <a:cs typeface="Calibri" pitchFamily="34" charset="-120"/>
              </a:rPr>
              <a:t>Audit kapabilitas &amp; gap tim saat ini</a:t>
            </a:r>
            <a:endParaRPr lang="en-US" sz="1100" dirty="0"/>
          </a:p>
        </p:txBody>
      </p:sp>
      <p:sp>
        <p:nvSpPr>
          <p:cNvPr id="14" name="Shape 12"/>
          <p:cNvSpPr/>
          <p:nvPr/>
        </p:nvSpPr>
        <p:spPr>
          <a:xfrm>
            <a:off x="758952" y="3895344"/>
            <a:ext cx="82296" cy="82296"/>
          </a:xfrm>
          <a:prstGeom prst="ellipse">
            <a:avLst/>
          </a:prstGeom>
          <a:solidFill>
            <a:srgbClr val="1F7A8C"/>
          </a:solidFill>
          <a:ln/>
        </p:spPr>
      </p:sp>
      <p:sp>
        <p:nvSpPr>
          <p:cNvPr id="15" name="Text 13"/>
          <p:cNvSpPr/>
          <p:nvPr/>
        </p:nvSpPr>
        <p:spPr>
          <a:xfrm>
            <a:off x="886968" y="3767328"/>
            <a:ext cx="2103120" cy="438912"/>
          </a:xfrm>
          <a:prstGeom prst="rect">
            <a:avLst/>
          </a:prstGeom>
          <a:noFill/>
          <a:ln/>
        </p:spPr>
        <p:txBody>
          <a:bodyPr wrap="square" rtlCol="0" anchor="ctr"/>
          <a:lstStyle/>
          <a:p>
            <a:pPr algn="l" indent="0" marL="0">
              <a:lnSpc>
                <a:spcPct val="110000"/>
              </a:lnSpc>
              <a:buNone/>
            </a:pPr>
            <a:r>
              <a:rPr lang="en-US" sz="1100" dirty="0">
                <a:solidFill>
                  <a:srgbClr val="8891B4"/>
                </a:solidFill>
                <a:latin typeface="Calibri" pitchFamily="34" charset="0"/>
                <a:ea typeface="Calibri" pitchFamily="34" charset="-122"/>
                <a:cs typeface="Calibri" pitchFamily="34" charset="-120"/>
              </a:rPr>
              <a:t>Tetapkan "specialist category pillar" utama</a:t>
            </a:r>
            <a:endParaRPr lang="en-US" sz="1100" dirty="0"/>
          </a:p>
        </p:txBody>
      </p:sp>
      <p:sp>
        <p:nvSpPr>
          <p:cNvPr id="16" name="Shape 14"/>
          <p:cNvSpPr/>
          <p:nvPr/>
        </p:nvSpPr>
        <p:spPr>
          <a:xfrm>
            <a:off x="758952" y="4398264"/>
            <a:ext cx="82296" cy="82296"/>
          </a:xfrm>
          <a:prstGeom prst="ellipse">
            <a:avLst/>
          </a:prstGeom>
          <a:solidFill>
            <a:srgbClr val="1F7A8C"/>
          </a:solidFill>
          <a:ln/>
        </p:spPr>
      </p:sp>
      <p:sp>
        <p:nvSpPr>
          <p:cNvPr id="17" name="Text 15"/>
          <p:cNvSpPr/>
          <p:nvPr/>
        </p:nvSpPr>
        <p:spPr>
          <a:xfrm>
            <a:off x="886968" y="4270248"/>
            <a:ext cx="2103120" cy="438912"/>
          </a:xfrm>
          <a:prstGeom prst="rect">
            <a:avLst/>
          </a:prstGeom>
          <a:noFill/>
          <a:ln/>
        </p:spPr>
        <p:txBody>
          <a:bodyPr wrap="square" rtlCol="0" anchor="ctr"/>
          <a:lstStyle/>
          <a:p>
            <a:pPr algn="l" indent="0" marL="0">
              <a:lnSpc>
                <a:spcPct val="110000"/>
              </a:lnSpc>
              <a:buNone/>
            </a:pPr>
            <a:r>
              <a:rPr lang="en-US" sz="1100" dirty="0">
                <a:solidFill>
                  <a:srgbClr val="8891B4"/>
                </a:solidFill>
                <a:latin typeface="Calibri" pitchFamily="34" charset="0"/>
                <a:ea typeface="Calibri" pitchFamily="34" charset="-122"/>
                <a:cs typeface="Calibri" pitchFamily="34" charset="-120"/>
              </a:rPr>
              <a:t>Benchmark competitor specialist concepts</a:t>
            </a:r>
            <a:endParaRPr lang="en-US" sz="1100" dirty="0"/>
          </a:p>
        </p:txBody>
      </p:sp>
      <p:sp>
        <p:nvSpPr>
          <p:cNvPr id="18" name="Text 16"/>
          <p:cNvSpPr/>
          <p:nvPr/>
        </p:nvSpPr>
        <p:spPr>
          <a:xfrm>
            <a:off x="3493008" y="960120"/>
            <a:ext cx="2514600" cy="685800"/>
          </a:xfrm>
          <a:prstGeom prst="rect">
            <a:avLst/>
          </a:prstGeom>
          <a:noFill/>
          <a:ln/>
        </p:spPr>
        <p:txBody>
          <a:bodyPr wrap="square" rtlCol="0" anchor="ctr"/>
          <a:lstStyle/>
          <a:p>
            <a:pPr algn="ctr" indent="0" marL="0">
              <a:lnSpc>
                <a:spcPct val="110000"/>
              </a:lnSpc>
              <a:buNone/>
            </a:pPr>
            <a:r>
              <a:rPr lang="en-US" sz="1800" b="1" dirty="0">
                <a:solidFill>
                  <a:srgbClr val="FFFFFF"/>
                </a:solidFill>
                <a:latin typeface="Calibri" pitchFamily="34" charset="0"/>
                <a:ea typeface="Calibri" pitchFamily="34" charset="-122"/>
                <a:cs typeface="Calibri" pitchFamily="34" charset="-120"/>
              </a:rPr>
              <a:t>Pilot &amp;</a:t>
            </a:r>
            <a:endParaRPr lang="en-US" sz="1800" dirty="0"/>
          </a:p>
          <a:p>
            <a:pPr algn="ctr" indent="0" marL="0">
              <a:lnSpc>
                <a:spcPct val="110000"/>
              </a:lnSpc>
              <a:buNone/>
            </a:pPr>
            <a:r>
              <a:rPr lang="en-US" sz="1800" b="1" dirty="0">
                <a:solidFill>
                  <a:srgbClr val="FFFFFF"/>
                </a:solidFill>
                <a:latin typeface="Calibri" pitchFamily="34" charset="0"/>
                <a:ea typeface="Calibri" pitchFamily="34" charset="-122"/>
                <a:cs typeface="Calibri" pitchFamily="34" charset="-120"/>
              </a:rPr>
              <a:t>Optimasi</a:t>
            </a:r>
            <a:endParaRPr lang="en-US" sz="1800" dirty="0"/>
          </a:p>
        </p:txBody>
      </p:sp>
      <p:sp>
        <p:nvSpPr>
          <p:cNvPr id="19" name="Text 17"/>
          <p:cNvSpPr/>
          <p:nvPr/>
        </p:nvSpPr>
        <p:spPr>
          <a:xfrm>
            <a:off x="3493008" y="1664208"/>
            <a:ext cx="2514600" cy="274320"/>
          </a:xfrm>
          <a:prstGeom prst="rect">
            <a:avLst/>
          </a:prstGeom>
          <a:noFill/>
          <a:ln/>
        </p:spPr>
        <p:txBody>
          <a:bodyPr wrap="square" rtlCol="0" anchor="ctr"/>
          <a:lstStyle/>
          <a:p>
            <a:pPr algn="ctr" indent="0" marL="0">
              <a:buNone/>
            </a:pPr>
            <a:r>
              <a:rPr lang="en-US" sz="1100" b="1" dirty="0">
                <a:solidFill>
                  <a:srgbClr val="E8A020"/>
                </a:solidFill>
                <a:latin typeface="Calibri" pitchFamily="34" charset="0"/>
                <a:ea typeface="Calibri" pitchFamily="34" charset="-122"/>
                <a:cs typeface="Calibri" pitchFamily="34" charset="-120"/>
              </a:rPr>
              <a:t>6 – 18 Bulan</a:t>
            </a:r>
            <a:endParaRPr lang="en-US" sz="1100" dirty="0"/>
          </a:p>
        </p:txBody>
      </p:sp>
      <p:sp>
        <p:nvSpPr>
          <p:cNvPr id="20" name="Shape 18"/>
          <p:cNvSpPr/>
          <p:nvPr/>
        </p:nvSpPr>
        <p:spPr>
          <a:xfrm>
            <a:off x="4494276" y="1956816"/>
            <a:ext cx="502920" cy="502920"/>
          </a:xfrm>
          <a:prstGeom prst="ellipse">
            <a:avLst/>
          </a:prstGeom>
          <a:solidFill>
            <a:srgbClr val="E8A020"/>
          </a:solidFill>
          <a:ln w="12700">
            <a:solidFill>
              <a:srgbClr val="1E2761"/>
            </a:solidFill>
            <a:prstDash val="solid"/>
          </a:ln>
        </p:spPr>
      </p:sp>
      <p:sp>
        <p:nvSpPr>
          <p:cNvPr id="21" name="Text 19"/>
          <p:cNvSpPr/>
          <p:nvPr/>
        </p:nvSpPr>
        <p:spPr>
          <a:xfrm>
            <a:off x="4494276" y="1956816"/>
            <a:ext cx="502920" cy="502920"/>
          </a:xfrm>
          <a:prstGeom prst="rect">
            <a:avLst/>
          </a:prstGeom>
          <a:noFill/>
          <a:ln/>
        </p:spPr>
        <p:txBody>
          <a:bodyPr wrap="square" lIns="0" tIns="0" rIns="0" bIns="0" rtlCol="0" anchor="ctr"/>
          <a:lstStyle/>
          <a:p>
            <a:pPr algn="ctr" indent="0" marL="0">
              <a:buNone/>
            </a:pPr>
            <a:r>
              <a:rPr lang="en-US" sz="1700" b="1" dirty="0">
                <a:solidFill>
                  <a:srgbClr val="141E52"/>
                </a:solidFill>
                <a:latin typeface="Calibri" pitchFamily="34" charset="0"/>
                <a:ea typeface="Calibri" pitchFamily="34" charset="-122"/>
                <a:cs typeface="Calibri" pitchFamily="34" charset="-120"/>
              </a:rPr>
              <a:t>2</a:t>
            </a:r>
            <a:endParaRPr lang="en-US" sz="1700" dirty="0"/>
          </a:p>
        </p:txBody>
      </p:sp>
      <p:sp>
        <p:nvSpPr>
          <p:cNvPr id="22" name="Shape 20"/>
          <p:cNvSpPr/>
          <p:nvPr/>
        </p:nvSpPr>
        <p:spPr>
          <a:xfrm>
            <a:off x="3493008" y="2606040"/>
            <a:ext cx="2514600" cy="2286000"/>
          </a:xfrm>
          <a:prstGeom prst="roundRect">
            <a:avLst>
              <a:gd name="adj" fmla="val 4000"/>
            </a:avLst>
          </a:prstGeom>
          <a:solidFill>
            <a:srgbClr val="2A3580"/>
          </a:solidFill>
          <a:ln w="12700">
            <a:solidFill>
              <a:srgbClr val="E8A020"/>
            </a:solidFill>
            <a:prstDash val="solid"/>
          </a:ln>
        </p:spPr>
      </p:sp>
      <p:sp>
        <p:nvSpPr>
          <p:cNvPr id="23" name="Shape 21"/>
          <p:cNvSpPr/>
          <p:nvPr/>
        </p:nvSpPr>
        <p:spPr>
          <a:xfrm>
            <a:off x="3657600" y="2889504"/>
            <a:ext cx="82296" cy="82296"/>
          </a:xfrm>
          <a:prstGeom prst="ellipse">
            <a:avLst/>
          </a:prstGeom>
          <a:solidFill>
            <a:srgbClr val="E8A020"/>
          </a:solidFill>
          <a:ln/>
        </p:spPr>
      </p:sp>
      <p:sp>
        <p:nvSpPr>
          <p:cNvPr id="24" name="Text 22"/>
          <p:cNvSpPr/>
          <p:nvPr/>
        </p:nvSpPr>
        <p:spPr>
          <a:xfrm>
            <a:off x="3785616" y="2761488"/>
            <a:ext cx="2103120" cy="438912"/>
          </a:xfrm>
          <a:prstGeom prst="rect">
            <a:avLst/>
          </a:prstGeom>
          <a:noFill/>
          <a:ln/>
        </p:spPr>
        <p:txBody>
          <a:bodyPr wrap="square" rtlCol="0" anchor="ctr"/>
          <a:lstStyle/>
          <a:p>
            <a:pPr algn="l" indent="0" marL="0">
              <a:lnSpc>
                <a:spcPct val="110000"/>
              </a:lnSpc>
              <a:buNone/>
            </a:pPr>
            <a:r>
              <a:rPr lang="en-US" sz="1100" dirty="0">
                <a:solidFill>
                  <a:srgbClr val="8891B4"/>
                </a:solidFill>
                <a:latin typeface="Calibri" pitchFamily="34" charset="0"/>
                <a:ea typeface="Calibri" pitchFamily="34" charset="-122"/>
                <a:cs typeface="Calibri" pitchFamily="34" charset="-120"/>
              </a:rPr>
              <a:t>Launch 2-3 pilot specialist store concept</a:t>
            </a:r>
            <a:endParaRPr lang="en-US" sz="1100" dirty="0"/>
          </a:p>
        </p:txBody>
      </p:sp>
      <p:sp>
        <p:nvSpPr>
          <p:cNvPr id="25" name="Shape 23"/>
          <p:cNvSpPr/>
          <p:nvPr/>
        </p:nvSpPr>
        <p:spPr>
          <a:xfrm>
            <a:off x="3657600" y="3392424"/>
            <a:ext cx="82296" cy="82296"/>
          </a:xfrm>
          <a:prstGeom prst="ellipse">
            <a:avLst/>
          </a:prstGeom>
          <a:solidFill>
            <a:srgbClr val="E8A020"/>
          </a:solidFill>
          <a:ln/>
        </p:spPr>
      </p:sp>
      <p:sp>
        <p:nvSpPr>
          <p:cNvPr id="26" name="Text 24"/>
          <p:cNvSpPr/>
          <p:nvPr/>
        </p:nvSpPr>
        <p:spPr>
          <a:xfrm>
            <a:off x="3785616" y="3264408"/>
            <a:ext cx="2103120" cy="438912"/>
          </a:xfrm>
          <a:prstGeom prst="rect">
            <a:avLst/>
          </a:prstGeom>
          <a:noFill/>
          <a:ln/>
        </p:spPr>
        <p:txBody>
          <a:bodyPr wrap="square" rtlCol="0" anchor="ctr"/>
          <a:lstStyle/>
          <a:p>
            <a:pPr algn="l" indent="0" marL="0">
              <a:lnSpc>
                <a:spcPct val="110000"/>
              </a:lnSpc>
              <a:buNone/>
            </a:pPr>
            <a:r>
              <a:rPr lang="en-US" sz="1100" dirty="0">
                <a:solidFill>
                  <a:srgbClr val="8891B4"/>
                </a:solidFill>
                <a:latin typeface="Calibri" pitchFamily="34" charset="0"/>
                <a:ea typeface="Calibri" pitchFamily="34" charset="-122"/>
                <a:cs typeface="Calibri" pitchFamily="34" charset="-120"/>
              </a:rPr>
              <a:t>T-shaped training program batch pertama</a:t>
            </a:r>
            <a:endParaRPr lang="en-US" sz="1100" dirty="0"/>
          </a:p>
        </p:txBody>
      </p:sp>
      <p:sp>
        <p:nvSpPr>
          <p:cNvPr id="27" name="Shape 25"/>
          <p:cNvSpPr/>
          <p:nvPr/>
        </p:nvSpPr>
        <p:spPr>
          <a:xfrm>
            <a:off x="3657600" y="3895344"/>
            <a:ext cx="82296" cy="82296"/>
          </a:xfrm>
          <a:prstGeom prst="ellipse">
            <a:avLst/>
          </a:prstGeom>
          <a:solidFill>
            <a:srgbClr val="E8A020"/>
          </a:solidFill>
          <a:ln/>
        </p:spPr>
      </p:sp>
      <p:sp>
        <p:nvSpPr>
          <p:cNvPr id="28" name="Text 26"/>
          <p:cNvSpPr/>
          <p:nvPr/>
        </p:nvSpPr>
        <p:spPr>
          <a:xfrm>
            <a:off x="3785616" y="3767328"/>
            <a:ext cx="2103120" cy="438912"/>
          </a:xfrm>
          <a:prstGeom prst="rect">
            <a:avLst/>
          </a:prstGeom>
          <a:noFill/>
          <a:ln/>
        </p:spPr>
        <p:txBody>
          <a:bodyPr wrap="square" rtlCol="0" anchor="ctr"/>
          <a:lstStyle/>
          <a:p>
            <a:pPr algn="l" indent="0" marL="0">
              <a:lnSpc>
                <a:spcPct val="110000"/>
              </a:lnSpc>
              <a:buNone/>
            </a:pPr>
            <a:r>
              <a:rPr lang="en-US" sz="1100" dirty="0">
                <a:solidFill>
                  <a:srgbClr val="8891B4"/>
                </a:solidFill>
                <a:latin typeface="Calibri" pitchFamily="34" charset="0"/>
                <a:ea typeface="Calibri" pitchFamily="34" charset="-122"/>
                <a:cs typeface="Calibri" pitchFamily="34" charset="-120"/>
              </a:rPr>
              <a:t>Test phygital MVP: QRIS + click-to-collect</a:t>
            </a:r>
            <a:endParaRPr lang="en-US" sz="1100" dirty="0"/>
          </a:p>
        </p:txBody>
      </p:sp>
      <p:sp>
        <p:nvSpPr>
          <p:cNvPr id="29" name="Shape 27"/>
          <p:cNvSpPr/>
          <p:nvPr/>
        </p:nvSpPr>
        <p:spPr>
          <a:xfrm>
            <a:off x="3657600" y="4398264"/>
            <a:ext cx="82296" cy="82296"/>
          </a:xfrm>
          <a:prstGeom prst="ellipse">
            <a:avLst/>
          </a:prstGeom>
          <a:solidFill>
            <a:srgbClr val="E8A020"/>
          </a:solidFill>
          <a:ln/>
        </p:spPr>
      </p:sp>
      <p:sp>
        <p:nvSpPr>
          <p:cNvPr id="30" name="Text 28"/>
          <p:cNvSpPr/>
          <p:nvPr/>
        </p:nvSpPr>
        <p:spPr>
          <a:xfrm>
            <a:off x="3785616" y="4270248"/>
            <a:ext cx="2103120" cy="438912"/>
          </a:xfrm>
          <a:prstGeom prst="rect">
            <a:avLst/>
          </a:prstGeom>
          <a:noFill/>
          <a:ln/>
        </p:spPr>
        <p:txBody>
          <a:bodyPr wrap="square" rtlCol="0" anchor="ctr"/>
          <a:lstStyle/>
          <a:p>
            <a:pPr algn="l" indent="0" marL="0">
              <a:lnSpc>
                <a:spcPct val="110000"/>
              </a:lnSpc>
              <a:buNone/>
            </a:pPr>
            <a:r>
              <a:rPr lang="en-US" sz="1100" dirty="0">
                <a:solidFill>
                  <a:srgbClr val="8891B4"/>
                </a:solidFill>
                <a:latin typeface="Calibri" pitchFamily="34" charset="0"/>
                <a:ea typeface="Calibri" pitchFamily="34" charset="-122"/>
                <a:cs typeface="Calibri" pitchFamily="34" charset="-120"/>
              </a:rPr>
              <a:t>Collect data, iterate, dan refine concept</a:t>
            </a:r>
            <a:endParaRPr lang="en-US" sz="1100" dirty="0"/>
          </a:p>
        </p:txBody>
      </p:sp>
      <p:sp>
        <p:nvSpPr>
          <p:cNvPr id="31" name="Text 29"/>
          <p:cNvSpPr/>
          <p:nvPr/>
        </p:nvSpPr>
        <p:spPr>
          <a:xfrm>
            <a:off x="6391656" y="960120"/>
            <a:ext cx="2514600" cy="685800"/>
          </a:xfrm>
          <a:prstGeom prst="rect">
            <a:avLst/>
          </a:prstGeom>
          <a:noFill/>
          <a:ln/>
        </p:spPr>
        <p:txBody>
          <a:bodyPr wrap="square" rtlCol="0" anchor="ctr"/>
          <a:lstStyle/>
          <a:p>
            <a:pPr algn="ctr" indent="0" marL="0">
              <a:lnSpc>
                <a:spcPct val="110000"/>
              </a:lnSpc>
              <a:buNone/>
            </a:pPr>
            <a:r>
              <a:rPr lang="en-US" sz="1800" b="1" dirty="0">
                <a:solidFill>
                  <a:srgbClr val="FFFFFF"/>
                </a:solidFill>
                <a:latin typeface="Calibri" pitchFamily="34" charset="0"/>
                <a:ea typeface="Calibri" pitchFamily="34" charset="-122"/>
                <a:cs typeface="Calibri" pitchFamily="34" charset="-120"/>
              </a:rPr>
              <a:t>Scale &amp;</a:t>
            </a:r>
            <a:endParaRPr lang="en-US" sz="1800" dirty="0"/>
          </a:p>
          <a:p>
            <a:pPr algn="ctr" indent="0" marL="0">
              <a:lnSpc>
                <a:spcPct val="110000"/>
              </a:lnSpc>
              <a:buNone/>
            </a:pPr>
            <a:r>
              <a:rPr lang="en-US" sz="1800" b="1" dirty="0">
                <a:solidFill>
                  <a:srgbClr val="FFFFFF"/>
                </a:solidFill>
                <a:latin typeface="Calibri" pitchFamily="34" charset="0"/>
                <a:ea typeface="Calibri" pitchFamily="34" charset="-122"/>
                <a:cs typeface="Calibri" pitchFamily="34" charset="-120"/>
              </a:rPr>
              <a:t>Expand</a:t>
            </a:r>
            <a:endParaRPr lang="en-US" sz="1800" dirty="0"/>
          </a:p>
        </p:txBody>
      </p:sp>
      <p:sp>
        <p:nvSpPr>
          <p:cNvPr id="32" name="Text 30"/>
          <p:cNvSpPr/>
          <p:nvPr/>
        </p:nvSpPr>
        <p:spPr>
          <a:xfrm>
            <a:off x="6391656" y="1664208"/>
            <a:ext cx="2514600" cy="274320"/>
          </a:xfrm>
          <a:prstGeom prst="rect">
            <a:avLst/>
          </a:prstGeom>
          <a:noFill/>
          <a:ln/>
        </p:spPr>
        <p:txBody>
          <a:bodyPr wrap="square" rtlCol="0" anchor="ctr"/>
          <a:lstStyle/>
          <a:p>
            <a:pPr algn="ctr" indent="0" marL="0">
              <a:buNone/>
            </a:pPr>
            <a:r>
              <a:rPr lang="en-US" sz="1100" b="1" dirty="0">
                <a:solidFill>
                  <a:srgbClr val="2E7D32"/>
                </a:solidFill>
                <a:latin typeface="Calibri" pitchFamily="34" charset="0"/>
                <a:ea typeface="Calibri" pitchFamily="34" charset="-122"/>
                <a:cs typeface="Calibri" pitchFamily="34" charset="-120"/>
              </a:rPr>
              <a:t>18 – 36 Bulan</a:t>
            </a:r>
            <a:endParaRPr lang="en-US" sz="1100" dirty="0"/>
          </a:p>
        </p:txBody>
      </p:sp>
      <p:sp>
        <p:nvSpPr>
          <p:cNvPr id="33" name="Shape 31"/>
          <p:cNvSpPr/>
          <p:nvPr/>
        </p:nvSpPr>
        <p:spPr>
          <a:xfrm>
            <a:off x="7392924" y="1956816"/>
            <a:ext cx="502920" cy="502920"/>
          </a:xfrm>
          <a:prstGeom prst="ellipse">
            <a:avLst/>
          </a:prstGeom>
          <a:solidFill>
            <a:srgbClr val="2E7D32"/>
          </a:solidFill>
          <a:ln w="12700">
            <a:solidFill>
              <a:srgbClr val="1E2761"/>
            </a:solidFill>
            <a:prstDash val="solid"/>
          </a:ln>
        </p:spPr>
      </p:sp>
      <p:sp>
        <p:nvSpPr>
          <p:cNvPr id="34" name="Text 32"/>
          <p:cNvSpPr/>
          <p:nvPr/>
        </p:nvSpPr>
        <p:spPr>
          <a:xfrm>
            <a:off x="7392924" y="1956816"/>
            <a:ext cx="502920" cy="502920"/>
          </a:xfrm>
          <a:prstGeom prst="rect">
            <a:avLst/>
          </a:prstGeom>
          <a:noFill/>
          <a:ln/>
        </p:spPr>
        <p:txBody>
          <a:bodyPr wrap="square" lIns="0" tIns="0" rIns="0" bIns="0" rtlCol="0" anchor="ctr"/>
          <a:lstStyle/>
          <a:p>
            <a:pPr algn="ctr" indent="0" marL="0">
              <a:buNone/>
            </a:pPr>
            <a:r>
              <a:rPr lang="en-US" sz="1700" b="1" dirty="0">
                <a:solidFill>
                  <a:srgbClr val="141E52"/>
                </a:solidFill>
                <a:latin typeface="Calibri" pitchFamily="34" charset="0"/>
                <a:ea typeface="Calibri" pitchFamily="34" charset="-122"/>
                <a:cs typeface="Calibri" pitchFamily="34" charset="-120"/>
              </a:rPr>
              <a:t>3</a:t>
            </a:r>
            <a:endParaRPr lang="en-US" sz="1700" dirty="0"/>
          </a:p>
        </p:txBody>
      </p:sp>
      <p:sp>
        <p:nvSpPr>
          <p:cNvPr id="35" name="Shape 33"/>
          <p:cNvSpPr/>
          <p:nvPr/>
        </p:nvSpPr>
        <p:spPr>
          <a:xfrm>
            <a:off x="6391656" y="2606040"/>
            <a:ext cx="2514600" cy="2286000"/>
          </a:xfrm>
          <a:prstGeom prst="roundRect">
            <a:avLst>
              <a:gd name="adj" fmla="val 4000"/>
            </a:avLst>
          </a:prstGeom>
          <a:solidFill>
            <a:srgbClr val="2A3580"/>
          </a:solidFill>
          <a:ln w="12700">
            <a:solidFill>
              <a:srgbClr val="2E7D32"/>
            </a:solidFill>
            <a:prstDash val="solid"/>
          </a:ln>
        </p:spPr>
      </p:sp>
      <p:sp>
        <p:nvSpPr>
          <p:cNvPr id="36" name="Shape 34"/>
          <p:cNvSpPr/>
          <p:nvPr/>
        </p:nvSpPr>
        <p:spPr>
          <a:xfrm>
            <a:off x="6556248" y="2889504"/>
            <a:ext cx="82296" cy="82296"/>
          </a:xfrm>
          <a:prstGeom prst="ellipse">
            <a:avLst/>
          </a:prstGeom>
          <a:solidFill>
            <a:srgbClr val="2E7D32"/>
          </a:solidFill>
          <a:ln/>
        </p:spPr>
      </p:sp>
      <p:sp>
        <p:nvSpPr>
          <p:cNvPr id="37" name="Text 35"/>
          <p:cNvSpPr/>
          <p:nvPr/>
        </p:nvSpPr>
        <p:spPr>
          <a:xfrm>
            <a:off x="6684264" y="2761488"/>
            <a:ext cx="2103120" cy="438912"/>
          </a:xfrm>
          <a:prstGeom prst="rect">
            <a:avLst/>
          </a:prstGeom>
          <a:noFill/>
          <a:ln/>
        </p:spPr>
        <p:txBody>
          <a:bodyPr wrap="square" rtlCol="0" anchor="ctr"/>
          <a:lstStyle/>
          <a:p>
            <a:pPr algn="l" indent="0" marL="0">
              <a:lnSpc>
                <a:spcPct val="110000"/>
              </a:lnSpc>
              <a:buNone/>
            </a:pPr>
            <a:r>
              <a:rPr lang="en-US" sz="1100" dirty="0">
                <a:solidFill>
                  <a:srgbClr val="8891B4"/>
                </a:solidFill>
                <a:latin typeface="Calibri" pitchFamily="34" charset="0"/>
                <a:ea typeface="Calibri" pitchFamily="34" charset="-122"/>
                <a:cs typeface="Calibri" pitchFamily="34" charset="-120"/>
              </a:rPr>
              <a:t>Scale ke seluruh jaringan store</a:t>
            </a:r>
            <a:endParaRPr lang="en-US" sz="1100" dirty="0"/>
          </a:p>
        </p:txBody>
      </p:sp>
      <p:sp>
        <p:nvSpPr>
          <p:cNvPr id="38" name="Shape 36"/>
          <p:cNvSpPr/>
          <p:nvPr/>
        </p:nvSpPr>
        <p:spPr>
          <a:xfrm>
            <a:off x="6556248" y="3392424"/>
            <a:ext cx="82296" cy="82296"/>
          </a:xfrm>
          <a:prstGeom prst="ellipse">
            <a:avLst/>
          </a:prstGeom>
          <a:solidFill>
            <a:srgbClr val="2E7D32"/>
          </a:solidFill>
          <a:ln/>
        </p:spPr>
      </p:sp>
      <p:sp>
        <p:nvSpPr>
          <p:cNvPr id="39" name="Text 37"/>
          <p:cNvSpPr/>
          <p:nvPr/>
        </p:nvSpPr>
        <p:spPr>
          <a:xfrm>
            <a:off x="6684264" y="3264408"/>
            <a:ext cx="2103120" cy="438912"/>
          </a:xfrm>
          <a:prstGeom prst="rect">
            <a:avLst/>
          </a:prstGeom>
          <a:noFill/>
          <a:ln/>
        </p:spPr>
        <p:txBody>
          <a:bodyPr wrap="square" rtlCol="0" anchor="ctr"/>
          <a:lstStyle/>
          <a:p>
            <a:pPr algn="l" indent="0" marL="0">
              <a:lnSpc>
                <a:spcPct val="110000"/>
              </a:lnSpc>
              <a:buNone/>
            </a:pPr>
            <a:r>
              <a:rPr lang="en-US" sz="1100" dirty="0">
                <a:solidFill>
                  <a:srgbClr val="8891B4"/>
                </a:solidFill>
                <a:latin typeface="Calibri" pitchFamily="34" charset="0"/>
                <a:ea typeface="Calibri" pitchFamily="34" charset="-122"/>
                <a:cs typeface="Calibri" pitchFamily="34" charset="-120"/>
              </a:rPr>
              <a:t>Replikasi ke Tier 2 cities prioritas</a:t>
            </a:r>
            <a:endParaRPr lang="en-US" sz="1100" dirty="0"/>
          </a:p>
        </p:txBody>
      </p:sp>
      <p:sp>
        <p:nvSpPr>
          <p:cNvPr id="40" name="Shape 38"/>
          <p:cNvSpPr/>
          <p:nvPr/>
        </p:nvSpPr>
        <p:spPr>
          <a:xfrm>
            <a:off x="6556248" y="3895344"/>
            <a:ext cx="82296" cy="82296"/>
          </a:xfrm>
          <a:prstGeom prst="ellipse">
            <a:avLst/>
          </a:prstGeom>
          <a:solidFill>
            <a:srgbClr val="2E7D32"/>
          </a:solidFill>
          <a:ln/>
        </p:spPr>
      </p:sp>
      <p:sp>
        <p:nvSpPr>
          <p:cNvPr id="41" name="Text 39"/>
          <p:cNvSpPr/>
          <p:nvPr/>
        </p:nvSpPr>
        <p:spPr>
          <a:xfrm>
            <a:off x="6684264" y="3767328"/>
            <a:ext cx="2103120" cy="438912"/>
          </a:xfrm>
          <a:prstGeom prst="rect">
            <a:avLst/>
          </a:prstGeom>
          <a:noFill/>
          <a:ln/>
        </p:spPr>
        <p:txBody>
          <a:bodyPr wrap="square" rtlCol="0" anchor="ctr"/>
          <a:lstStyle/>
          <a:p>
            <a:pPr algn="l" indent="0" marL="0">
              <a:lnSpc>
                <a:spcPct val="110000"/>
              </a:lnSpc>
              <a:buNone/>
            </a:pPr>
            <a:r>
              <a:rPr lang="en-US" sz="1100" dirty="0">
                <a:solidFill>
                  <a:srgbClr val="8891B4"/>
                </a:solidFill>
                <a:latin typeface="Calibri" pitchFamily="34" charset="0"/>
                <a:ea typeface="Calibri" pitchFamily="34" charset="-122"/>
                <a:cs typeface="Calibri" pitchFamily="34" charset="-120"/>
              </a:rPr>
              <a:t>Specialist category per cluster kota</a:t>
            </a:r>
            <a:endParaRPr lang="en-US" sz="1100" dirty="0"/>
          </a:p>
        </p:txBody>
      </p:sp>
      <p:sp>
        <p:nvSpPr>
          <p:cNvPr id="42" name="Shape 40"/>
          <p:cNvSpPr/>
          <p:nvPr/>
        </p:nvSpPr>
        <p:spPr>
          <a:xfrm>
            <a:off x="6556248" y="4398264"/>
            <a:ext cx="82296" cy="82296"/>
          </a:xfrm>
          <a:prstGeom prst="ellipse">
            <a:avLst/>
          </a:prstGeom>
          <a:solidFill>
            <a:srgbClr val="2E7D32"/>
          </a:solidFill>
          <a:ln/>
        </p:spPr>
      </p:sp>
      <p:sp>
        <p:nvSpPr>
          <p:cNvPr id="43" name="Text 41"/>
          <p:cNvSpPr/>
          <p:nvPr/>
        </p:nvSpPr>
        <p:spPr>
          <a:xfrm>
            <a:off x="6684264" y="4270248"/>
            <a:ext cx="2103120" cy="438912"/>
          </a:xfrm>
          <a:prstGeom prst="rect">
            <a:avLst/>
          </a:prstGeom>
          <a:noFill/>
          <a:ln/>
        </p:spPr>
        <p:txBody>
          <a:bodyPr wrap="square" rtlCol="0" anchor="ctr"/>
          <a:lstStyle/>
          <a:p>
            <a:pPr algn="l" indent="0" marL="0">
              <a:lnSpc>
                <a:spcPct val="110000"/>
              </a:lnSpc>
              <a:buNone/>
            </a:pPr>
            <a:r>
              <a:rPr lang="en-US" sz="1100" dirty="0">
                <a:solidFill>
                  <a:srgbClr val="8891B4"/>
                </a:solidFill>
                <a:latin typeface="Calibri" pitchFamily="34" charset="0"/>
                <a:ea typeface="Calibri" pitchFamily="34" charset="-122"/>
                <a:cs typeface="Calibri" pitchFamily="34" charset="-120"/>
              </a:rPr>
              <a:t>Team certification &amp; capability standard</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E52"/>
        </a:solidFill>
      </p:bgPr>
    </p:bg>
    <p:spTree>
      <p:nvGrpSpPr>
        <p:cNvPr id="1" name=""/>
        <p:cNvGrpSpPr/>
        <p:nvPr/>
      </p:nvGrpSpPr>
      <p:grpSpPr>
        <a:xfrm>
          <a:off x="0" y="0"/>
          <a:ext cx="0" cy="0"/>
          <a:chOff x="0" y="0"/>
          <a:chExt cx="0" cy="0"/>
        </a:xfrm>
      </p:grpSpPr>
      <p:sp>
        <p:nvSpPr>
          <p:cNvPr id="2" name="Shape 0"/>
          <p:cNvSpPr/>
          <p:nvPr/>
        </p:nvSpPr>
        <p:spPr>
          <a:xfrm>
            <a:off x="5943600" y="-2194560"/>
            <a:ext cx="6400800" cy="6400800"/>
          </a:xfrm>
          <a:prstGeom prst="ellipse">
            <a:avLst/>
          </a:prstGeom>
          <a:solidFill>
            <a:srgbClr val="2A3580">
              <a:alpha val="45000"/>
            </a:srgbClr>
          </a:solidFill>
          <a:ln/>
        </p:spPr>
      </p:sp>
      <p:sp>
        <p:nvSpPr>
          <p:cNvPr id="3" name="Shape 1"/>
          <p:cNvSpPr/>
          <p:nvPr/>
        </p:nvSpPr>
        <p:spPr>
          <a:xfrm>
            <a:off x="7772400" y="2560320"/>
            <a:ext cx="2011680" cy="2011680"/>
          </a:xfrm>
          <a:prstGeom prst="ellipse">
            <a:avLst/>
          </a:prstGeom>
          <a:solidFill>
            <a:srgbClr val="E8A020">
              <a:alpha val="25000"/>
            </a:srgbClr>
          </a:solidFill>
          <a:ln/>
        </p:spPr>
      </p:sp>
      <p:sp>
        <p:nvSpPr>
          <p:cNvPr id="4" name="Text 2"/>
          <p:cNvSpPr/>
          <p:nvPr/>
        </p:nvSpPr>
        <p:spPr>
          <a:xfrm>
            <a:off x="594360" y="384048"/>
            <a:ext cx="6858000" cy="292608"/>
          </a:xfrm>
          <a:prstGeom prst="rect">
            <a:avLst/>
          </a:prstGeom>
          <a:noFill/>
          <a:ln/>
        </p:spPr>
        <p:txBody>
          <a:bodyPr wrap="square" rtlCol="0" anchor="ctr"/>
          <a:lstStyle/>
          <a:p>
            <a:pPr algn="l" indent="0" marL="0">
              <a:buNone/>
            </a:pPr>
            <a:r>
              <a:rPr lang="en-US" sz="1100" dirty="0">
                <a:solidFill>
                  <a:srgbClr val="E8A020"/>
                </a:solidFill>
                <a:latin typeface="Calibri" pitchFamily="34" charset="0"/>
                <a:ea typeface="Calibri" pitchFamily="34" charset="-122"/>
                <a:cs typeface="Calibri" pitchFamily="34" charset="-120"/>
              </a:rPr>
              <a:t>KEY TAKEAWAYS  &amp;  NEXT STEPS</a:t>
            </a:r>
            <a:endParaRPr lang="en-US" sz="1100" dirty="0"/>
          </a:p>
        </p:txBody>
      </p:sp>
      <p:sp>
        <p:nvSpPr>
          <p:cNvPr id="5" name="Text 3"/>
          <p:cNvSpPr/>
          <p:nvPr/>
        </p:nvSpPr>
        <p:spPr>
          <a:xfrm>
            <a:off x="594360" y="731520"/>
            <a:ext cx="7772400" cy="1280160"/>
          </a:xfrm>
          <a:prstGeom prst="rect">
            <a:avLst/>
          </a:prstGeom>
          <a:noFill/>
          <a:ln/>
        </p:spPr>
        <p:txBody>
          <a:bodyPr wrap="square" rtlCol="0" anchor="ctr"/>
          <a:lstStyle/>
          <a:p>
            <a:pPr algn="l" indent="0" marL="0">
              <a:lnSpc>
                <a:spcPct val="112000"/>
              </a:lnSpc>
              <a:buNone/>
            </a:pPr>
            <a:r>
              <a:rPr lang="en-US" sz="3400" b="1" dirty="0">
                <a:solidFill>
                  <a:srgbClr val="FFFFFF"/>
                </a:solidFill>
                <a:latin typeface="Calibri" pitchFamily="34" charset="0"/>
                <a:ea typeface="Calibri" pitchFamily="34" charset="-122"/>
                <a:cs typeface="Calibri" pitchFamily="34" charset="-120"/>
              </a:rPr>
              <a:t>Retail yang Bertahan</a:t>
            </a:r>
            <a:endParaRPr lang="en-US" sz="3400" dirty="0"/>
          </a:p>
          <a:p>
            <a:pPr algn="l" indent="0" marL="0">
              <a:lnSpc>
                <a:spcPct val="112000"/>
              </a:lnSpc>
              <a:buNone/>
            </a:pPr>
            <a:r>
              <a:rPr lang="en-US" sz="3400" b="1" dirty="0">
                <a:solidFill>
                  <a:srgbClr val="FFFFFF"/>
                </a:solidFill>
                <a:latin typeface="Calibri" pitchFamily="34" charset="0"/>
                <a:ea typeface="Calibri" pitchFamily="34" charset="-122"/>
                <a:cs typeface="Calibri" pitchFamily="34" charset="-120"/>
              </a:rPr>
              <a:t>adalah yang Berani Berubah</a:t>
            </a:r>
            <a:endParaRPr lang="en-US" sz="3400" dirty="0"/>
          </a:p>
        </p:txBody>
      </p:sp>
      <p:sp>
        <p:nvSpPr>
          <p:cNvPr id="6" name="Shape 4"/>
          <p:cNvSpPr/>
          <p:nvPr/>
        </p:nvSpPr>
        <p:spPr>
          <a:xfrm>
            <a:off x="594360" y="2176272"/>
            <a:ext cx="2542032" cy="2514600"/>
          </a:xfrm>
          <a:prstGeom prst="roundRect">
            <a:avLst>
              <a:gd name="adj" fmla="val 4364"/>
            </a:avLst>
          </a:prstGeom>
          <a:solidFill>
            <a:srgbClr val="2A3580"/>
          </a:solidFill>
          <a:ln w="12700">
            <a:solidFill>
              <a:srgbClr val="1F7A8C"/>
            </a:solidFill>
            <a:prstDash val="solid"/>
          </a:ln>
        </p:spPr>
      </p:sp>
      <p:sp>
        <p:nvSpPr>
          <p:cNvPr id="7" name="Shape 5"/>
          <p:cNvSpPr/>
          <p:nvPr/>
        </p:nvSpPr>
        <p:spPr>
          <a:xfrm>
            <a:off x="1545336" y="2304288"/>
            <a:ext cx="640080" cy="640080"/>
          </a:xfrm>
          <a:prstGeom prst="ellipse">
            <a:avLst/>
          </a:prstGeom>
          <a:solidFill>
            <a:srgbClr val="1F7A8C">
              <a:alpha val="80000"/>
            </a:srgbClr>
          </a:solidFill>
          <a:ln/>
        </p:spPr>
      </p:sp>
      <p:sp>
        <p:nvSpPr>
          <p:cNvPr id="8" name="Text 6"/>
          <p:cNvSpPr/>
          <p:nvPr/>
        </p:nvSpPr>
        <p:spPr>
          <a:xfrm>
            <a:off x="1545336" y="2304288"/>
            <a:ext cx="640080" cy="640080"/>
          </a:xfrm>
          <a:prstGeom prst="rect">
            <a:avLst/>
          </a:prstGeom>
          <a:noFill/>
          <a:ln/>
        </p:spPr>
        <p:txBody>
          <a:bodyPr wrap="square" lIns="0" tIns="0" rIns="0" bIns="0" rtlCol="0" anchor="ctr"/>
          <a:lstStyle/>
          <a:p>
            <a:pPr algn="ctr" indent="0" marL="0">
              <a:buNone/>
            </a:pPr>
            <a:r>
              <a:rPr lang="en-US" sz="2400" dirty="0">
                <a:solidFill>
                  <a:srgbClr val="000000"/>
                </a:solidFill>
              </a:rPr>
              <a:t>🎯</a:t>
            </a:r>
            <a:endParaRPr lang="en-US" sz="2400" dirty="0"/>
          </a:p>
        </p:txBody>
      </p:sp>
      <p:sp>
        <p:nvSpPr>
          <p:cNvPr id="9" name="Text 7"/>
          <p:cNvSpPr/>
          <p:nvPr/>
        </p:nvSpPr>
        <p:spPr>
          <a:xfrm>
            <a:off x="731520" y="3017520"/>
            <a:ext cx="2267712" cy="384048"/>
          </a:xfrm>
          <a:prstGeom prst="rect">
            <a:avLst/>
          </a:prstGeom>
          <a:noFill/>
          <a:ln/>
        </p:spPr>
        <p:txBody>
          <a:bodyPr wrap="square" rtlCol="0" anchor="ctr"/>
          <a:lstStyle/>
          <a:p>
            <a:pPr algn="ctr" indent="0" marL="0">
              <a:buNone/>
            </a:pPr>
            <a:r>
              <a:rPr lang="en-US" sz="1400" b="1" dirty="0">
                <a:solidFill>
                  <a:srgbClr val="1F7A8C"/>
                </a:solidFill>
                <a:latin typeface="Calibri" pitchFamily="34" charset="0"/>
                <a:ea typeface="Calibri" pitchFamily="34" charset="-122"/>
                <a:cs typeface="Calibri" pitchFamily="34" charset="-120"/>
              </a:rPr>
              <a:t>Kenali Segmen Baru</a:t>
            </a:r>
            <a:endParaRPr lang="en-US" sz="1400" dirty="0"/>
          </a:p>
        </p:txBody>
      </p:sp>
      <p:sp>
        <p:nvSpPr>
          <p:cNvPr id="10" name="Text 8"/>
          <p:cNvSpPr/>
          <p:nvPr/>
        </p:nvSpPr>
        <p:spPr>
          <a:xfrm>
            <a:off x="758952" y="3429000"/>
            <a:ext cx="2212848" cy="1170432"/>
          </a:xfrm>
          <a:prstGeom prst="rect">
            <a:avLst/>
          </a:prstGeom>
          <a:noFill/>
          <a:ln/>
        </p:spPr>
        <p:txBody>
          <a:bodyPr wrap="square" rtlCol="0" anchor="ctr"/>
          <a:lstStyle/>
          <a:p>
            <a:pPr algn="ctr" indent="0" marL="0">
              <a:lnSpc>
                <a:spcPct val="120000"/>
              </a:lnSpc>
              <a:buNone/>
            </a:pPr>
            <a:r>
              <a:rPr lang="en-US" sz="1100" dirty="0">
                <a:solidFill>
                  <a:srgbClr val="8891B4"/>
                </a:solidFill>
                <a:latin typeface="Calibri" pitchFamily="34" charset="0"/>
                <a:ea typeface="Calibri" pitchFamily="34" charset="-122"/>
                <a:cs typeface="Calibri" pitchFamily="34" charset="-120"/>
              </a:rPr>
              <a:t>Aspirant class (142 juta) adalah opportunity terbesar yang belum fully tapped — lebih besar dari target kelas menengah konvensional.</a:t>
            </a:r>
            <a:endParaRPr lang="en-US" sz="1100" dirty="0"/>
          </a:p>
        </p:txBody>
      </p:sp>
      <p:sp>
        <p:nvSpPr>
          <p:cNvPr id="11" name="Shape 9"/>
          <p:cNvSpPr/>
          <p:nvPr/>
        </p:nvSpPr>
        <p:spPr>
          <a:xfrm>
            <a:off x="3300984" y="2176272"/>
            <a:ext cx="2542032" cy="2514600"/>
          </a:xfrm>
          <a:prstGeom prst="roundRect">
            <a:avLst>
              <a:gd name="adj" fmla="val 4364"/>
            </a:avLst>
          </a:prstGeom>
          <a:solidFill>
            <a:srgbClr val="2A3580"/>
          </a:solidFill>
          <a:ln w="12700">
            <a:solidFill>
              <a:srgbClr val="E8A020"/>
            </a:solidFill>
            <a:prstDash val="solid"/>
          </a:ln>
        </p:spPr>
      </p:sp>
      <p:sp>
        <p:nvSpPr>
          <p:cNvPr id="12" name="Shape 10"/>
          <p:cNvSpPr/>
          <p:nvPr/>
        </p:nvSpPr>
        <p:spPr>
          <a:xfrm>
            <a:off x="4251960" y="2304288"/>
            <a:ext cx="640080" cy="640080"/>
          </a:xfrm>
          <a:prstGeom prst="ellipse">
            <a:avLst/>
          </a:prstGeom>
          <a:solidFill>
            <a:srgbClr val="E8A020">
              <a:alpha val="80000"/>
            </a:srgbClr>
          </a:solidFill>
          <a:ln/>
        </p:spPr>
      </p:sp>
      <p:sp>
        <p:nvSpPr>
          <p:cNvPr id="13" name="Text 11"/>
          <p:cNvSpPr/>
          <p:nvPr/>
        </p:nvSpPr>
        <p:spPr>
          <a:xfrm>
            <a:off x="4251960" y="2304288"/>
            <a:ext cx="640080" cy="640080"/>
          </a:xfrm>
          <a:prstGeom prst="rect">
            <a:avLst/>
          </a:prstGeom>
          <a:noFill/>
          <a:ln/>
        </p:spPr>
        <p:txBody>
          <a:bodyPr wrap="square" lIns="0" tIns="0" rIns="0" bIns="0" rtlCol="0" anchor="ctr"/>
          <a:lstStyle/>
          <a:p>
            <a:pPr algn="ctr" indent="0" marL="0">
              <a:buNone/>
            </a:pPr>
            <a:r>
              <a:rPr lang="en-US" sz="2400" dirty="0">
                <a:solidFill>
                  <a:srgbClr val="000000"/>
                </a:solidFill>
              </a:rPr>
              <a:t>🔬</a:t>
            </a:r>
            <a:endParaRPr lang="en-US" sz="2400" dirty="0"/>
          </a:p>
        </p:txBody>
      </p:sp>
      <p:sp>
        <p:nvSpPr>
          <p:cNvPr id="14" name="Text 12"/>
          <p:cNvSpPr/>
          <p:nvPr/>
        </p:nvSpPr>
        <p:spPr>
          <a:xfrm>
            <a:off x="3438144" y="3017520"/>
            <a:ext cx="2267712" cy="384048"/>
          </a:xfrm>
          <a:prstGeom prst="rect">
            <a:avLst/>
          </a:prstGeom>
          <a:noFill/>
          <a:ln/>
        </p:spPr>
        <p:txBody>
          <a:bodyPr wrap="square" rtlCol="0" anchor="ctr"/>
          <a:lstStyle/>
          <a:p>
            <a:pPr algn="ctr" indent="0" marL="0">
              <a:buNone/>
            </a:pPr>
            <a:r>
              <a:rPr lang="en-US" sz="1400" b="1" dirty="0">
                <a:solidFill>
                  <a:srgbClr val="E8A020"/>
                </a:solidFill>
                <a:latin typeface="Calibri" pitchFamily="34" charset="0"/>
                <a:ea typeface="Calibri" pitchFamily="34" charset="-122"/>
                <a:cs typeface="Calibri" pitchFamily="34" charset="-120"/>
              </a:rPr>
              <a:t>Spesialisasi = Pertahanan</a:t>
            </a:r>
            <a:endParaRPr lang="en-US" sz="1400" dirty="0"/>
          </a:p>
        </p:txBody>
      </p:sp>
      <p:sp>
        <p:nvSpPr>
          <p:cNvPr id="15" name="Text 13"/>
          <p:cNvSpPr/>
          <p:nvPr/>
        </p:nvSpPr>
        <p:spPr>
          <a:xfrm>
            <a:off x="3465576" y="3429000"/>
            <a:ext cx="2212848" cy="1170432"/>
          </a:xfrm>
          <a:prstGeom prst="rect">
            <a:avLst/>
          </a:prstGeom>
          <a:noFill/>
          <a:ln/>
        </p:spPr>
        <p:txBody>
          <a:bodyPr wrap="square" rtlCol="0" anchor="ctr"/>
          <a:lstStyle/>
          <a:p>
            <a:pPr algn="ctr" indent="0" marL="0">
              <a:lnSpc>
                <a:spcPct val="120000"/>
              </a:lnSpc>
              <a:buNone/>
            </a:pPr>
            <a:r>
              <a:rPr lang="en-US" sz="1100" dirty="0">
                <a:solidFill>
                  <a:srgbClr val="8891B4"/>
                </a:solidFill>
                <a:latin typeface="Calibri" pitchFamily="34" charset="0"/>
                <a:ea typeface="Calibri" pitchFamily="34" charset="-122"/>
                <a:cs typeface="Calibri" pitchFamily="34" charset="-120"/>
              </a:rPr>
              <a:t>Di era AI, specialist store concept memberikan moat yang sulit ditiru. Deep expertise adalah reason to visit yang tidak bisa digantikan.</a:t>
            </a:r>
            <a:endParaRPr lang="en-US" sz="1100" dirty="0"/>
          </a:p>
        </p:txBody>
      </p:sp>
      <p:sp>
        <p:nvSpPr>
          <p:cNvPr id="16" name="Shape 14"/>
          <p:cNvSpPr/>
          <p:nvPr/>
        </p:nvSpPr>
        <p:spPr>
          <a:xfrm>
            <a:off x="6007608" y="2176272"/>
            <a:ext cx="2542032" cy="2514600"/>
          </a:xfrm>
          <a:prstGeom prst="roundRect">
            <a:avLst>
              <a:gd name="adj" fmla="val 4364"/>
            </a:avLst>
          </a:prstGeom>
          <a:solidFill>
            <a:srgbClr val="2A3580"/>
          </a:solidFill>
          <a:ln w="12700">
            <a:solidFill>
              <a:srgbClr val="2E7D32"/>
            </a:solidFill>
            <a:prstDash val="solid"/>
          </a:ln>
        </p:spPr>
      </p:sp>
      <p:sp>
        <p:nvSpPr>
          <p:cNvPr id="17" name="Shape 15"/>
          <p:cNvSpPr/>
          <p:nvPr/>
        </p:nvSpPr>
        <p:spPr>
          <a:xfrm>
            <a:off x="6958584" y="2304288"/>
            <a:ext cx="640080" cy="640080"/>
          </a:xfrm>
          <a:prstGeom prst="ellipse">
            <a:avLst/>
          </a:prstGeom>
          <a:solidFill>
            <a:srgbClr val="2E7D32">
              <a:alpha val="80000"/>
            </a:srgbClr>
          </a:solidFill>
          <a:ln/>
        </p:spPr>
      </p:sp>
      <p:sp>
        <p:nvSpPr>
          <p:cNvPr id="18" name="Text 16"/>
          <p:cNvSpPr/>
          <p:nvPr/>
        </p:nvSpPr>
        <p:spPr>
          <a:xfrm>
            <a:off x="6958584" y="2304288"/>
            <a:ext cx="640080" cy="640080"/>
          </a:xfrm>
          <a:prstGeom prst="rect">
            <a:avLst/>
          </a:prstGeom>
          <a:noFill/>
          <a:ln/>
        </p:spPr>
        <p:txBody>
          <a:bodyPr wrap="square" lIns="0" tIns="0" rIns="0" bIns="0" rtlCol="0" anchor="ctr"/>
          <a:lstStyle/>
          <a:p>
            <a:pPr algn="ctr" indent="0" marL="0">
              <a:buNone/>
            </a:pPr>
            <a:r>
              <a:rPr lang="en-US" sz="2400" dirty="0">
                <a:solidFill>
                  <a:srgbClr val="000000"/>
                </a:solidFill>
              </a:rPr>
              <a:t>⚡</a:t>
            </a:r>
            <a:endParaRPr lang="en-US" sz="2400" dirty="0"/>
          </a:p>
        </p:txBody>
      </p:sp>
      <p:sp>
        <p:nvSpPr>
          <p:cNvPr id="19" name="Text 17"/>
          <p:cNvSpPr/>
          <p:nvPr/>
        </p:nvSpPr>
        <p:spPr>
          <a:xfrm>
            <a:off x="6144768" y="3017520"/>
            <a:ext cx="2267712" cy="384048"/>
          </a:xfrm>
          <a:prstGeom prst="rect">
            <a:avLst/>
          </a:prstGeom>
          <a:noFill/>
          <a:ln/>
        </p:spPr>
        <p:txBody>
          <a:bodyPr wrap="square" rtlCol="0" anchor="ctr"/>
          <a:lstStyle/>
          <a:p>
            <a:pPr algn="ctr" indent="0" marL="0">
              <a:buNone/>
            </a:pPr>
            <a:r>
              <a:rPr lang="en-US" sz="1400" b="1" dirty="0">
                <a:solidFill>
                  <a:srgbClr val="2E7D32"/>
                </a:solidFill>
                <a:latin typeface="Calibri" pitchFamily="34" charset="0"/>
                <a:ea typeface="Calibri" pitchFamily="34" charset="-122"/>
                <a:cs typeface="Calibri" pitchFamily="34" charset="-120"/>
              </a:rPr>
              <a:t>Waktu untuk Bergerak</a:t>
            </a:r>
            <a:endParaRPr lang="en-US" sz="1400" dirty="0"/>
          </a:p>
        </p:txBody>
      </p:sp>
      <p:sp>
        <p:nvSpPr>
          <p:cNvPr id="20" name="Text 18"/>
          <p:cNvSpPr/>
          <p:nvPr/>
        </p:nvSpPr>
        <p:spPr>
          <a:xfrm>
            <a:off x="6172200" y="3429000"/>
            <a:ext cx="2212848" cy="1170432"/>
          </a:xfrm>
          <a:prstGeom prst="rect">
            <a:avLst/>
          </a:prstGeom>
          <a:noFill/>
          <a:ln/>
        </p:spPr>
        <p:txBody>
          <a:bodyPr wrap="square" rtlCol="0" anchor="ctr"/>
          <a:lstStyle/>
          <a:p>
            <a:pPr algn="ctr" indent="0" marL="0">
              <a:lnSpc>
                <a:spcPct val="120000"/>
              </a:lnSpc>
              <a:buNone/>
            </a:pPr>
            <a:r>
              <a:rPr lang="en-US" sz="1100" dirty="0">
                <a:solidFill>
                  <a:srgbClr val="8891B4"/>
                </a:solidFill>
                <a:latin typeface="Calibri" pitchFamily="34" charset="0"/>
                <a:ea typeface="Calibri" pitchFamily="34" charset="-122"/>
                <a:cs typeface="Calibri" pitchFamily="34" charset="-120"/>
              </a:rPr>
              <a:t>3 kekuatan makro ini sudah bergerak cepat. Tim yang terlambat berubah akan tertinggal dari kompetitor yang lebih agile.</a:t>
            </a:r>
            <a:endParaRPr lang="en-US" sz="1100" dirty="0"/>
          </a:p>
        </p:txBody>
      </p:sp>
      <p:sp>
        <p:nvSpPr>
          <p:cNvPr id="21" name="Text 19"/>
          <p:cNvSpPr/>
          <p:nvPr/>
        </p:nvSpPr>
        <p:spPr>
          <a:xfrm>
            <a:off x="594360" y="4773168"/>
            <a:ext cx="7955280" cy="274320"/>
          </a:xfrm>
          <a:prstGeom prst="rect">
            <a:avLst/>
          </a:prstGeom>
          <a:noFill/>
          <a:ln/>
        </p:spPr>
        <p:txBody>
          <a:bodyPr wrap="square" rtlCol="0" anchor="ctr"/>
          <a:lstStyle/>
          <a:p>
            <a:pPr algn="ctr" indent="0" marL="0">
              <a:buNone/>
            </a:pPr>
            <a:r>
              <a:rPr lang="en-US" sz="900" dirty="0">
                <a:solidFill>
                  <a:srgbClr val="4A5180"/>
                </a:solidFill>
                <a:latin typeface="Calibri" pitchFamily="34" charset="0"/>
                <a:ea typeface="Calibri" pitchFamily="34" charset="-122"/>
                <a:cs typeface="Calibri" pitchFamily="34" charset="-120"/>
              </a:rPr>
              <a:t>Store Concept Team  ·  Strategic Recommendations  ·  2025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2026-08-07T08:17:17Z</dcterms:created>
  <dcterms:modified xsi:type="dcterms:W3CDTF">2026-08-07T08:17:17Z</dcterms:modified>
</cp:coreProperties>
</file>