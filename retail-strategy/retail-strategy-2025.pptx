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A2355"/>
                </a:solidFill>
                <a:latin typeface="Arial"/>
              </a:defRPr>
            </a:pPr>
            <a:r>
              <a:rPr sz="1100" b="0" i="0" u="none" strike="noStrike">
                <a:solidFill>
                  <a:srgbClr val="1A2355"/>
                </a:solidFill>
                <a:latin typeface="Arial"/>
              </a:rPr>
              <a:t>Jumlah Kelas Menengah Indonesia (Juta Orang)</a:t>
            </a:r>
          </a:p>
        </c:rich>
      </c:tx>
      <c:layout/>
      <c:overlay val="0"/>
    </c:title>
    <c:autoTitleDeleted val="0"/>
    <c:plotArea>
      <c:layout/>
      <c:lineChart>
        <c:varyColors val="0"/>
        <c:ser>
          <c:idx val="0"/>
          <c:order val="0"/>
          <c:tx>
            <c:strRef>
              <c:f>Sheet1!$B$1</c:f>
              <c:strCache>
                <c:ptCount val="1"/>
                <c:pt idx="0">
                  <c:v>Kelas Menengah (Juta Orang)</c:v>
                </c:pt>
              </c:strCache>
            </c:strRef>
          </c:tx>
          <c:spPr>
            <a:solidFill>
              <a:srgbClr val="1E2761"/>
            </a:solidFill>
            <a:ln w="25400" cap="flat">
              <a:solidFill>
                <a:srgbClr val="1E2761"/>
              </a:solidFill>
              <a:prstDash val="solid"/>
              <a:round/>
            </a:ln>
            <a:effectLst/>
          </c:spPr>
          <c:invertIfNegative val="0"/>
          <c:dLbls>
            <c:numFmt formatCode="#,##0" sourceLinked="0"/>
            <c:txPr>
              <a:bodyPr/>
              <a:lstStyle/>
              <a:p>
                <a:pPr>
                  <a:defRPr b="0" i="0" strike="noStrike" sz="900" u="none">
                    <a:solidFill>
                      <a:srgbClr val="1A2355"/>
                    </a:solidFill>
                    <a:latin typeface="Arial"/>
                  </a:defRPr>
                </a:pPr>
              </a:p>
            </c:txPr>
            <c:dLblPos val="t"/>
            <c:showLegendKey val="0"/>
            <c:showVal val="1"/>
            <c:showCatName val="0"/>
            <c:showSerName val="0"/>
            <c:showPercent val="0"/>
            <c:showBubbleSize val="0"/>
            <c:showLeaderLines val="0"/>
          </c:dLbls>
          <c:marker>
            <c:symbol val="circle"/>
            <c:size val="7"/>
            <c:spPr>
              <a:solidFill>
                <a:srgbClr val="1E2761"/>
              </a:solidFill>
              <a:ln w="9525" cap="flat">
                <a:solidFill>
                  <a:srgbClr val="1E2761"/>
                </a:solidFill>
                <a:prstDash val="solid"/>
                <a:round/>
              </a:ln>
              <a:effectLst/>
            </c:spPr>
          </c:marker>
          <c:cat>
            <c:multiLvlStrRef>
              <c:f>Sheet1!$A$2:$A$8</c:f>
              <c:multiLvlStrCache>
                <c:ptCount val="7"/>
                <c:lvl>
                  <c:pt idx="0">
                    <c:v>2019</c:v>
                  </c:pt>
                  <c:pt idx="1">
                    <c:v>2020</c:v>
                  </c:pt>
                  <c:pt idx="2">
                    <c:v>2021</c:v>
                  </c:pt>
                  <c:pt idx="3">
                    <c:v>2022</c:v>
                  </c:pt>
                  <c:pt idx="4">
                    <c:v>2023</c:v>
                  </c:pt>
                  <c:pt idx="5">
                    <c:v>2024</c:v>
                  </c:pt>
                  <c:pt idx="6">
                    <c:v>2025</c:v>
                  </c:pt>
                </c:lvl>
              </c:multiLvlStrCache>
            </c:multiLvlStrRef>
          </c:cat>
          <c:val>
            <c:numRef>
              <c:f>Sheet1!$B$2:$B$8</c:f>
              <c:numCache>
                <c:formatCode>General</c:formatCode>
                <c:ptCount val="7"/>
                <c:pt idx="0">
                  <c:v>57.3</c:v>
                </c:pt>
                <c:pt idx="1">
                  <c:v>53.8</c:v>
                </c:pt>
                <c:pt idx="2">
                  <c:v>51.2</c:v>
                </c:pt>
                <c:pt idx="3">
                  <c:v>50.1</c:v>
                </c:pt>
                <c:pt idx="4">
                  <c:v>49.1</c:v>
                </c:pt>
                <c:pt idx="5">
                  <c:v>47.9</c:v>
                </c:pt>
                <c:pt idx="6">
                  <c:v>46.7</c:v>
                </c:pt>
              </c:numCache>
            </c:numRef>
          </c:val>
          <c:smooth val="0"/>
        </c:ser>
        <c:dLbls>
          <c:numFmt formatCode="#,##0" sourceLinked="0"/>
          <c:txPr>
            <a:bodyPr/>
            <a:lstStyle/>
            <a:p>
              <a:pPr>
                <a:defRPr b="0" i="0" strike="noStrike" sz="900" u="none">
                  <a:solidFill>
                    <a:srgbClr val="1A2355"/>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D4A6E"/>
                </a:solidFill>
                <a:latin typeface="Arial"/>
              </a:defRPr>
            </a:pPr>
            <a:endParaRPr lang="en-US"/>
          </a:p>
        </c:txPr>
        <c:crossAx val="2094734552"/>
        <c:crosses val="autoZero"/>
        <c:auto val="1"/>
        <c:lblAlgn val="ctr"/>
        <c:noMultiLvlLbl val="1"/>
      </c:catAx>
      <c:valAx>
        <c:axId val="2094734552"/>
        <c:scaling>
          <c:orientation val="minMax"/>
          <c:max val="62"/>
          <c:min val="42"/>
        </c:scaling>
        <c:delete val="0"/>
        <c:axPos val="l"/>
        <c:majorGridlines>
          <c:spPr>
            <a:ln w="12700" cap="flat">
              <a:solidFill>
                <a:srgbClr val="DDDD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D4A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Cover
Jelaskan konteks: Tim Store Concept perlu memahami 3 kekuatan besar + fenomena downtrading yang mengubah lanskap retail secara fundamental. Presentasi ini adalah peta jalan strategis berdasarkan riset WEF Davos, data BPS Indonesia, benchmarks global, dan studi workforce tren AI 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Framework
Sampaikan bahwa kita akan menganalisis situasi melalui 3 lensa: global (WEF), lokal Indonesia (termasuk fenomena downtrading), dan internal tim (T-shaped capability). Setiap lensa memberikan insight yang berbeda dan saling melengkapi.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WEF Megatrends
Sampaikan bahwa semua 5 kekuatan ini langsung berdampak pada retail. AI mengancam operasi generalis, fragmentasi geoekonomi mempengaruhi harga produk, pergeseran demografis mengubah siapa customer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Data Kelas Menengah
Highlight bahwa penurunan sudah terjadi selama 6 tahun berturut-turut. Ini bukan anomali sesaat — ini tren struktural. Target market yang selama ini jadi basis retail konvensional terus menyusut. Implikasinya: strategi retail yang didesain untuk "middle class growth" perlu di-revisi.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Downtrading
Ini bukan sekadar orang jadi miskin — ini pergeseran mindset. Conscious consumer lebih cerdas: mereka tidak mau bayar premium untuk sesuatu yang tidak memberikan value nyata. Kopi Kenangan buktikan bahwa brand yang "mengerti" segmen ini bisa tumbuh luar biasa cepat. AZKO sudah merespons — bagaimana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Aspirant Class
Ini adalah "hidden opportunity" terbesar di retail Indonesia. 142 juta orang yang ingin belanja di tempat yang membuat mereka merasa dihargai dan mendapatkan value nyata. Mereka adalah pasar jauh lebih besar dari kelas menengah konvensional, dan mereka TUMBUH, bukan menyusut.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Retail Global 2026
Retail terbaik dunia sudah bergerak dari "jual produk" ke "jual pengalaman". AZKO dan Mitra10 di Indonesia sudah mulai bergerak. Pertanyaan untuk tim: pengalaman unik apa yang bisa kita ciptakan yang tidak bisa didapatkan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Global Benchmarks
Pola yang sama terlihat di semua pemimpin: mereka tidak sekadar menjual produk, mereka menjual keahlian, pengalaman, dan komunitas. Red Star Macalline di China membuktikan model platform. Hanssem di Korea menggabungkan teknologi + konsultasi. AZKO sudah mulai bergerak di Indonesia — ini waktu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Specialist vs Generalist
Kaitkan dengan retail: store associate yang menguasai satu kategori mendalam (specialist) PLUS menggunakan AI tools untuk analisis, inventory, customer personalization (generalist breadth) = T-shaped retailer paling bernilai. Lihat IKEA yang menggandakan tim designer mereka, dan Central Group Thailand yang punya unit formal "Store of Design and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Store Concept as Value Creator
Ini adalah pergeseran paradigma yang kritis. Tim Store Concept bukan hanya menghabiskan budget — mereka MENCIPTAKAN revenue baru. 6 model bisnis ini adalah konkret cara Store Concept menghasilkan P&amp;L sendiri. Mulai dari yang paling mudah: Venue &amp; Events dan Content Studio (investasi rendah, revenue terukur).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Connecting the Dots
Ini adalah slide kunci yang menghubungkan semua insight menjadi realitas konkret. Kolom pertama: consumer sudah berubah. Kolom kedua: pasar global sudah bergeser — kita bisa benchmark. Kolom ketiga: tim kita perlu evolusi kemampuan dan paradigma. Ketiganya mengarah ke satu jawaban: Store Concept harus jadi value creator.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5 Rekomendasi
Ini adalah inti presentasi. Setiap rekomendasi lahir dari interseksi insight consumer, market, dan team. R01 + R02 = fondasi. R03 = diferensiasi. R04 = enabler internal. R05 = eksekusi konkret. Prioritaskan R01 dan R02 sebagai langkah pertama, sambil paralel setup pilot R05.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Roadmap
Fase 1 paling kritis — riset tanpa asumsi, audit jujur kapabilitas tim, pilihan specialist category yang tepat. Quick win di Fase 1: pilot Venue &amp; Events model — investasi rendah, revenue terukur dalam hitungan minggu. Jangan skip ke Fase 2 sebelum Fase 1 selesai solid. Gunakan AZKO rebrand 2025 sebagai benchmark kecepatan bergerak.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Closing
3 pesan utama yang harus dibawa pulang:
1. Pasar kita sudah bergeser ke conscious consumer &amp; aspirant class — ini peluang, bukan krisis
2. Specialist + experience = formula pemenang yang sudah terbukti global
3. First-mover advantage masih ada tapi tidak selamanya
Tutup dengan pertanyaan: "Di mana kita mulai — dan siapa yang ambil ownership hari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E52"/>
        </a:solidFill>
      </p:bgPr>
    </p:bg>
    <p:spTree>
      <p:nvGrpSpPr>
        <p:cNvPr id="1" name=""/>
        <p:cNvGrpSpPr/>
        <p:nvPr/>
      </p:nvGrpSpPr>
      <p:grpSpPr>
        <a:xfrm>
          <a:off x="0" y="0"/>
          <a:ext cx="0" cy="0"/>
          <a:chOff x="0" y="0"/>
          <a:chExt cx="0" cy="0"/>
        </a:xfrm>
      </p:grpSpPr>
      <p:sp>
        <p:nvSpPr>
          <p:cNvPr id="2" name="Shape 0"/>
          <p:cNvSpPr/>
          <p:nvPr/>
        </p:nvSpPr>
        <p:spPr>
          <a:xfrm>
            <a:off x="5943600" y="-2194560"/>
            <a:ext cx="6400800" cy="6400800"/>
          </a:xfrm>
          <a:prstGeom prst="ellipse">
            <a:avLst/>
          </a:prstGeom>
          <a:solidFill>
            <a:srgbClr val="2A3580">
              <a:alpha val="52000"/>
            </a:srgbClr>
          </a:solidFill>
          <a:ln/>
        </p:spPr>
      </p:sp>
      <p:sp>
        <p:nvSpPr>
          <p:cNvPr id="3" name="Shape 1"/>
          <p:cNvSpPr/>
          <p:nvPr/>
        </p:nvSpPr>
        <p:spPr>
          <a:xfrm>
            <a:off x="7406640" y="2194560"/>
            <a:ext cx="2560320" cy="2560320"/>
          </a:xfrm>
          <a:prstGeom prst="ellipse">
            <a:avLst/>
          </a:prstGeom>
          <a:solidFill>
            <a:srgbClr val="E8A020">
              <a:alpha val="30000"/>
            </a:srgbClr>
          </a:solidFill>
          <a:ln/>
        </p:spPr>
      </p:sp>
      <p:sp>
        <p:nvSpPr>
          <p:cNvPr id="4" name="Shape 2"/>
          <p:cNvSpPr/>
          <p:nvPr/>
        </p:nvSpPr>
        <p:spPr>
          <a:xfrm>
            <a:off x="6400800" y="3474720"/>
            <a:ext cx="1097280" cy="1097280"/>
          </a:xfrm>
          <a:prstGeom prst="ellipse">
            <a:avLst/>
          </a:prstGeom>
          <a:solidFill>
            <a:srgbClr val="E8A020">
              <a:alpha val="18000"/>
            </a:srgbClr>
          </a:solidFill>
          <a:ln/>
        </p:spPr>
      </p:sp>
      <p:sp>
        <p:nvSpPr>
          <p:cNvPr id="5" name="Shape 3"/>
          <p:cNvSpPr/>
          <p:nvPr/>
        </p:nvSpPr>
        <p:spPr>
          <a:xfrm>
            <a:off x="365760" y="201168"/>
            <a:ext cx="73152" cy="73152"/>
          </a:xfrm>
          <a:prstGeom prst="ellipse">
            <a:avLst/>
          </a:prstGeom>
          <a:solidFill>
            <a:srgbClr val="E8A020">
              <a:alpha val="70000"/>
            </a:srgbClr>
          </a:solidFill>
          <a:ln/>
        </p:spPr>
      </p:sp>
      <p:sp>
        <p:nvSpPr>
          <p:cNvPr id="6" name="Shape 4"/>
          <p:cNvSpPr/>
          <p:nvPr/>
        </p:nvSpPr>
        <p:spPr>
          <a:xfrm>
            <a:off x="749808" y="365760"/>
            <a:ext cx="73152" cy="73152"/>
          </a:xfrm>
          <a:prstGeom prst="ellipse">
            <a:avLst/>
          </a:prstGeom>
          <a:solidFill>
            <a:srgbClr val="E8A020">
              <a:alpha val="70000"/>
            </a:srgbClr>
          </a:solidFill>
          <a:ln/>
        </p:spPr>
      </p:sp>
      <p:sp>
        <p:nvSpPr>
          <p:cNvPr id="7" name="Shape 5"/>
          <p:cNvSpPr/>
          <p:nvPr/>
        </p:nvSpPr>
        <p:spPr>
          <a:xfrm>
            <a:off x="530352" y="640080"/>
            <a:ext cx="73152" cy="73152"/>
          </a:xfrm>
          <a:prstGeom prst="ellipse">
            <a:avLst/>
          </a:prstGeom>
          <a:solidFill>
            <a:srgbClr val="E8A020">
              <a:alpha val="70000"/>
            </a:srgbClr>
          </a:solidFill>
          <a:ln/>
        </p:spPr>
      </p:sp>
      <p:sp>
        <p:nvSpPr>
          <p:cNvPr id="8" name="Shape 6"/>
          <p:cNvSpPr/>
          <p:nvPr/>
        </p:nvSpPr>
        <p:spPr>
          <a:xfrm>
            <a:off x="987552" y="219456"/>
            <a:ext cx="73152" cy="73152"/>
          </a:xfrm>
          <a:prstGeom prst="ellipse">
            <a:avLst/>
          </a:prstGeom>
          <a:solidFill>
            <a:srgbClr val="E8A020">
              <a:alpha val="70000"/>
            </a:srgbClr>
          </a:solidFill>
          <a:ln/>
        </p:spPr>
      </p:sp>
      <p:sp>
        <p:nvSpPr>
          <p:cNvPr id="9" name="Shape 7"/>
          <p:cNvSpPr/>
          <p:nvPr/>
        </p:nvSpPr>
        <p:spPr>
          <a:xfrm>
            <a:off x="1115568" y="548640"/>
            <a:ext cx="73152" cy="73152"/>
          </a:xfrm>
          <a:prstGeom prst="ellipse">
            <a:avLst/>
          </a:prstGeom>
          <a:solidFill>
            <a:srgbClr val="E8A020">
              <a:alpha val="70000"/>
            </a:srgbClr>
          </a:solidFill>
          <a:ln/>
        </p:spPr>
      </p:sp>
      <p:sp>
        <p:nvSpPr>
          <p:cNvPr id="10" name="Text 8"/>
          <p:cNvSpPr/>
          <p:nvPr/>
        </p:nvSpPr>
        <p:spPr>
          <a:xfrm>
            <a:off x="594360" y="749808"/>
            <a:ext cx="6400800" cy="292608"/>
          </a:xfrm>
          <a:prstGeom prst="rect">
            <a:avLst/>
          </a:prstGeom>
          <a:noFill/>
          <a:ln/>
        </p:spPr>
        <p:txBody>
          <a:bodyPr wrap="square" rtlCol="0" anchor="ctr"/>
          <a:lstStyle/>
          <a:p>
            <a:pPr algn="l" indent="0" marL="0">
              <a:buNone/>
            </a:pPr>
            <a:r>
              <a:rPr lang="en-US" sz="1100" dirty="0">
                <a:solidFill>
                  <a:srgbClr val="E8A020"/>
                </a:solidFill>
                <a:latin typeface="Calibri" pitchFamily="34" charset="0"/>
                <a:ea typeface="Calibri" pitchFamily="34" charset="-122"/>
                <a:cs typeface="Calibri" pitchFamily="34" charset="-120"/>
              </a:rPr>
              <a:t>STRATEGIC BRIEF  ·  2025 – 2026</a:t>
            </a:r>
            <a:endParaRPr lang="en-US" sz="1100" dirty="0"/>
          </a:p>
        </p:txBody>
      </p:sp>
      <p:sp>
        <p:nvSpPr>
          <p:cNvPr id="11" name="Text 9"/>
          <p:cNvSpPr/>
          <p:nvPr/>
        </p:nvSpPr>
        <p:spPr>
          <a:xfrm>
            <a:off x="594360" y="1078992"/>
            <a:ext cx="7863840" cy="1874520"/>
          </a:xfrm>
          <a:prstGeom prst="rect">
            <a:avLst/>
          </a:prstGeom>
          <a:noFill/>
          <a:ln/>
        </p:spPr>
        <p:txBody>
          <a:bodyPr wrap="square" rtlCol="0" anchor="t"/>
          <a:lstStyle/>
          <a:p>
            <a:pPr algn="l" indent="0" marL="0">
              <a:lnSpc>
                <a:spcPct val="110000"/>
              </a:lnSpc>
              <a:buNone/>
            </a:pPr>
            <a:r>
              <a:rPr lang="en-US" sz="4200" b="1" dirty="0">
                <a:solidFill>
                  <a:srgbClr val="FFFFFF"/>
                </a:solidFill>
                <a:latin typeface="Calibri" pitchFamily="34" charset="0"/>
                <a:ea typeface="Calibri" pitchFamily="34" charset="-122"/>
                <a:cs typeface="Calibri" pitchFamily="34" charset="-120"/>
              </a:rPr>
              <a:t>Navigating the</a:t>
            </a:r>
            <a:endParaRPr lang="en-US" sz="4200" dirty="0"/>
          </a:p>
          <a:p>
            <a:pPr algn="l" indent="0" marL="0">
              <a:lnSpc>
                <a:spcPct val="110000"/>
              </a:lnSpc>
              <a:buNone/>
            </a:pPr>
            <a:r>
              <a:rPr lang="en-US" sz="4200" b="1" dirty="0">
                <a:solidFill>
                  <a:srgbClr val="FFFFFF"/>
                </a:solidFill>
                <a:latin typeface="Calibri" pitchFamily="34" charset="0"/>
                <a:ea typeface="Calibri" pitchFamily="34" charset="-122"/>
                <a:cs typeface="Calibri" pitchFamily="34" charset="-120"/>
              </a:rPr>
              <a:t>New Retail Landscape</a:t>
            </a:r>
            <a:endParaRPr lang="en-US" sz="4200" dirty="0"/>
          </a:p>
        </p:txBody>
      </p:sp>
      <p:sp>
        <p:nvSpPr>
          <p:cNvPr id="12" name="Text 10"/>
          <p:cNvSpPr/>
          <p:nvPr/>
        </p:nvSpPr>
        <p:spPr>
          <a:xfrm>
            <a:off x="594360" y="3035808"/>
            <a:ext cx="7315200" cy="438912"/>
          </a:xfrm>
          <a:prstGeom prst="rect">
            <a:avLst/>
          </a:prstGeom>
          <a:noFill/>
          <a:ln/>
        </p:spPr>
        <p:txBody>
          <a:bodyPr wrap="square" rtlCol="0" anchor="ctr"/>
          <a:lstStyle/>
          <a:p>
            <a:pPr algn="l" indent="0" marL="0">
              <a:buNone/>
            </a:pPr>
            <a:r>
              <a:rPr lang="en-US" sz="1700" dirty="0">
                <a:solidFill>
                  <a:srgbClr val="E8A020"/>
                </a:solidFill>
                <a:latin typeface="Calibri" pitchFamily="34" charset="0"/>
                <a:ea typeface="Calibri" pitchFamily="34" charset="-122"/>
                <a:cs typeface="Calibri" pitchFamily="34" charset="-120"/>
              </a:rPr>
              <a:t>Rekomendasi Strategis untuk Store Concept Team</a:t>
            </a:r>
            <a:endParaRPr lang="en-US" sz="1700" dirty="0"/>
          </a:p>
        </p:txBody>
      </p:sp>
      <p:sp>
        <p:nvSpPr>
          <p:cNvPr id="13" name="Shape 11"/>
          <p:cNvSpPr/>
          <p:nvPr/>
        </p:nvSpPr>
        <p:spPr>
          <a:xfrm>
            <a:off x="594360" y="3547872"/>
            <a:ext cx="3657600" cy="36576"/>
          </a:xfrm>
          <a:prstGeom prst="rect">
            <a:avLst/>
          </a:prstGeom>
          <a:solidFill>
            <a:srgbClr val="4A5180"/>
          </a:solidFill>
          <a:ln/>
        </p:spPr>
      </p:sp>
      <p:sp>
        <p:nvSpPr>
          <p:cNvPr id="14" name="Shape 12"/>
          <p:cNvSpPr/>
          <p:nvPr/>
        </p:nvSpPr>
        <p:spPr>
          <a:xfrm>
            <a:off x="594360" y="3913632"/>
            <a:ext cx="3840480" cy="365760"/>
          </a:xfrm>
          <a:prstGeom prst="roundRect">
            <a:avLst>
              <a:gd name="adj" fmla="val 20000"/>
            </a:avLst>
          </a:prstGeom>
          <a:solidFill>
            <a:srgbClr val="2A3580"/>
          </a:solidFill>
          <a:ln w="12700">
            <a:solidFill>
              <a:srgbClr val="E8A020"/>
            </a:solidFill>
            <a:prstDash val="solid"/>
          </a:ln>
        </p:spPr>
      </p:sp>
      <p:sp>
        <p:nvSpPr>
          <p:cNvPr id="15" name="Text 13"/>
          <p:cNvSpPr/>
          <p:nvPr/>
        </p:nvSpPr>
        <p:spPr>
          <a:xfrm>
            <a:off x="594360" y="3913632"/>
            <a:ext cx="384048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WEF Global Megatrends</a:t>
            </a:r>
            <a:endParaRPr lang="en-US" sz="1050" dirty="0"/>
          </a:p>
        </p:txBody>
      </p:sp>
      <p:sp>
        <p:nvSpPr>
          <p:cNvPr id="16" name="Shape 14"/>
          <p:cNvSpPr/>
          <p:nvPr/>
        </p:nvSpPr>
        <p:spPr>
          <a:xfrm>
            <a:off x="4727448" y="3913632"/>
            <a:ext cx="3840480" cy="365760"/>
          </a:xfrm>
          <a:prstGeom prst="roundRect">
            <a:avLst>
              <a:gd name="adj" fmla="val 20000"/>
            </a:avLst>
          </a:prstGeom>
          <a:solidFill>
            <a:srgbClr val="2A3580"/>
          </a:solidFill>
          <a:ln w="12700">
            <a:solidFill>
              <a:srgbClr val="E8A020"/>
            </a:solidFill>
            <a:prstDash val="solid"/>
          </a:ln>
        </p:spPr>
      </p:sp>
      <p:sp>
        <p:nvSpPr>
          <p:cNvPr id="17" name="Text 15"/>
          <p:cNvSpPr/>
          <p:nvPr/>
        </p:nvSpPr>
        <p:spPr>
          <a:xfrm>
            <a:off x="4727448" y="3913632"/>
            <a:ext cx="384048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Kelas Menengah Indonesia</a:t>
            </a:r>
            <a:endParaRPr lang="en-US" sz="1050" dirty="0"/>
          </a:p>
        </p:txBody>
      </p:sp>
      <p:sp>
        <p:nvSpPr>
          <p:cNvPr id="18" name="Shape 16"/>
          <p:cNvSpPr/>
          <p:nvPr/>
        </p:nvSpPr>
        <p:spPr>
          <a:xfrm>
            <a:off x="594360" y="4462272"/>
            <a:ext cx="3840480" cy="365760"/>
          </a:xfrm>
          <a:prstGeom prst="roundRect">
            <a:avLst>
              <a:gd name="adj" fmla="val 20000"/>
            </a:avLst>
          </a:prstGeom>
          <a:solidFill>
            <a:srgbClr val="2A3580"/>
          </a:solidFill>
          <a:ln w="12700">
            <a:solidFill>
              <a:srgbClr val="E8A020"/>
            </a:solidFill>
            <a:prstDash val="solid"/>
          </a:ln>
        </p:spPr>
      </p:sp>
      <p:sp>
        <p:nvSpPr>
          <p:cNvPr id="19" name="Text 17"/>
          <p:cNvSpPr/>
          <p:nvPr/>
        </p:nvSpPr>
        <p:spPr>
          <a:xfrm>
            <a:off x="594360" y="4462272"/>
            <a:ext cx="384048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Specialist vs Generalist</a:t>
            </a:r>
            <a:endParaRPr lang="en-US" sz="1050" dirty="0"/>
          </a:p>
        </p:txBody>
      </p:sp>
      <p:sp>
        <p:nvSpPr>
          <p:cNvPr id="20" name="Shape 18"/>
          <p:cNvSpPr/>
          <p:nvPr/>
        </p:nvSpPr>
        <p:spPr>
          <a:xfrm>
            <a:off x="4727448" y="4462272"/>
            <a:ext cx="3840480" cy="365760"/>
          </a:xfrm>
          <a:prstGeom prst="roundRect">
            <a:avLst>
              <a:gd name="adj" fmla="val 20000"/>
            </a:avLst>
          </a:prstGeom>
          <a:solidFill>
            <a:srgbClr val="2A3580"/>
          </a:solidFill>
          <a:ln w="12700">
            <a:solidFill>
              <a:srgbClr val="E8A020"/>
            </a:solidFill>
            <a:prstDash val="solid"/>
          </a:ln>
        </p:spPr>
      </p:sp>
      <p:sp>
        <p:nvSpPr>
          <p:cNvPr id="21" name="Text 19"/>
          <p:cNvSpPr/>
          <p:nvPr/>
        </p:nvSpPr>
        <p:spPr>
          <a:xfrm>
            <a:off x="4727448" y="4462272"/>
            <a:ext cx="3840480" cy="365760"/>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Store Concept sebagai Value Creator</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2FA"/>
        </a:solidFill>
      </p:bgPr>
    </p:bg>
    <p:spTree>
      <p:nvGrpSpPr>
        <p:cNvPr id="1" name=""/>
        <p:cNvGrpSpPr/>
        <p:nvPr/>
      </p:nvGrpSpPr>
      <p:grpSpPr>
        <a:xfrm>
          <a:off x="0" y="0"/>
          <a:ext cx="0" cy="0"/>
          <a:chOff x="0" y="0"/>
          <a:chExt cx="0" cy="0"/>
        </a:xfrm>
      </p:grpSpPr>
      <p:sp>
        <p:nvSpPr>
          <p:cNvPr id="2" name="Text 0"/>
          <p:cNvSpPr/>
          <p:nvPr/>
        </p:nvSpPr>
        <p:spPr>
          <a:xfrm>
            <a:off x="502920" y="320040"/>
            <a:ext cx="8229600" cy="512064"/>
          </a:xfrm>
          <a:prstGeom prst="rect">
            <a:avLst/>
          </a:prstGeom>
          <a:noFill/>
          <a:ln/>
        </p:spPr>
        <p:txBody>
          <a:bodyPr wrap="square" rtlCol="0" anchor="ctr"/>
          <a:lstStyle/>
          <a:p>
            <a:pPr algn="l" indent="0" marL="0">
              <a:buNone/>
            </a:pPr>
            <a:r>
              <a:rPr lang="en-US" sz="2800" b="1" dirty="0">
                <a:solidFill>
                  <a:srgbClr val="1A2355"/>
                </a:solidFill>
                <a:latin typeface="Calibri" pitchFamily="34" charset="0"/>
                <a:ea typeface="Calibri" pitchFamily="34" charset="-122"/>
                <a:cs typeface="Calibri" pitchFamily="34" charset="-120"/>
              </a:rPr>
              <a:t>Tiga Kekuatan yang Membentuk Ulang Retail</a:t>
            </a:r>
            <a:endParaRPr lang="en-US" sz="2800" dirty="0"/>
          </a:p>
        </p:txBody>
      </p:sp>
      <p:sp>
        <p:nvSpPr>
          <p:cNvPr id="3" name="Text 1"/>
          <p:cNvSpPr/>
          <p:nvPr/>
        </p:nvSpPr>
        <p:spPr>
          <a:xfrm>
            <a:off x="502920" y="822960"/>
            <a:ext cx="8229600" cy="274320"/>
          </a:xfrm>
          <a:prstGeom prst="rect">
            <a:avLst/>
          </a:prstGeom>
          <a:noFill/>
          <a:ln/>
        </p:spPr>
        <p:txBody>
          <a:bodyPr wrap="square" rtlCol="0" anchor="ctr"/>
          <a:lstStyle/>
          <a:p>
            <a:pPr algn="l" indent="0" marL="0">
              <a:buNone/>
            </a:pPr>
            <a:r>
              <a:rPr lang="en-US" sz="1300" dirty="0">
                <a:solidFill>
                  <a:srgbClr val="3D4A6E"/>
                </a:solidFill>
                <a:latin typeface="Calibri" pitchFamily="34" charset="0"/>
                <a:ea typeface="Calibri" pitchFamily="34" charset="-122"/>
                <a:cs typeface="Calibri" pitchFamily="34" charset="-120"/>
              </a:rPr>
              <a:t>Memahami konteks makro adalah prasyarat menetapkan arah strategis yang tepat</a:t>
            </a:r>
            <a:endParaRPr lang="en-US" sz="1300" dirty="0"/>
          </a:p>
        </p:txBody>
      </p:sp>
      <p:sp>
        <p:nvSpPr>
          <p:cNvPr id="4" name="Shape 2"/>
          <p:cNvSpPr/>
          <p:nvPr/>
        </p:nvSpPr>
        <p:spPr>
          <a:xfrm>
            <a:off x="484632" y="1170432"/>
            <a:ext cx="2633472" cy="3493008"/>
          </a:xfrm>
          <a:prstGeom prst="roundRect">
            <a:avLst>
              <a:gd name="adj" fmla="val 4167"/>
            </a:avLst>
          </a:prstGeom>
          <a:solidFill>
            <a:srgbClr val="FFFFFF"/>
          </a:solidFill>
          <a:ln/>
          <a:effectLst>
            <a:outerShdw sx="100000" sy="100000" kx="0" ky="0" algn="bl" rotWithShape="0" blurRad="127000" dist="38100" dir="2700000">
              <a:srgbClr val="AAAAAA">
                <a:alpha val="22000"/>
              </a:srgbClr>
            </a:outerShdw>
          </a:effectLst>
        </p:spPr>
      </p:sp>
      <p:sp>
        <p:nvSpPr>
          <p:cNvPr id="5" name="Shape 3"/>
          <p:cNvSpPr/>
          <p:nvPr/>
        </p:nvSpPr>
        <p:spPr>
          <a:xfrm>
            <a:off x="484632" y="1170432"/>
            <a:ext cx="2633472" cy="1261872"/>
          </a:xfrm>
          <a:prstGeom prst="roundRect">
            <a:avLst>
              <a:gd name="adj" fmla="val 8696"/>
            </a:avLst>
          </a:prstGeom>
          <a:solidFill>
            <a:srgbClr val="1E2761"/>
          </a:solidFill>
          <a:ln/>
        </p:spPr>
      </p:sp>
      <p:sp>
        <p:nvSpPr>
          <p:cNvPr id="6" name="Shape 4"/>
          <p:cNvSpPr/>
          <p:nvPr/>
        </p:nvSpPr>
        <p:spPr>
          <a:xfrm>
            <a:off x="484632" y="1865376"/>
            <a:ext cx="2633472" cy="566928"/>
          </a:xfrm>
          <a:prstGeom prst="rect">
            <a:avLst/>
          </a:prstGeom>
          <a:solidFill>
            <a:srgbClr val="1E2761"/>
          </a:solidFill>
          <a:ln/>
        </p:spPr>
      </p:sp>
      <p:sp>
        <p:nvSpPr>
          <p:cNvPr id="7" name="Text 5"/>
          <p:cNvSpPr/>
          <p:nvPr/>
        </p:nvSpPr>
        <p:spPr>
          <a:xfrm>
            <a:off x="1453896" y="1280160"/>
            <a:ext cx="694944" cy="676656"/>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8" name="Shape 6"/>
          <p:cNvSpPr/>
          <p:nvPr/>
        </p:nvSpPr>
        <p:spPr>
          <a:xfrm>
            <a:off x="813816" y="2130552"/>
            <a:ext cx="1975104" cy="246888"/>
          </a:xfrm>
          <a:prstGeom prst="roundRect">
            <a:avLst>
              <a:gd name="adj" fmla="val 22222"/>
            </a:avLst>
          </a:prstGeom>
          <a:solidFill>
            <a:srgbClr val="FFFFFF">
              <a:alpha val="78000"/>
            </a:srgbClr>
          </a:solidFill>
          <a:ln/>
        </p:spPr>
      </p:sp>
      <p:sp>
        <p:nvSpPr>
          <p:cNvPr id="9" name="Text 7"/>
          <p:cNvSpPr/>
          <p:nvPr/>
        </p:nvSpPr>
        <p:spPr>
          <a:xfrm>
            <a:off x="813816" y="2130552"/>
            <a:ext cx="1975104"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Konteks Global</a:t>
            </a:r>
            <a:endParaRPr lang="en-US" sz="900" dirty="0"/>
          </a:p>
        </p:txBody>
      </p:sp>
      <p:sp>
        <p:nvSpPr>
          <p:cNvPr id="10" name="Text 8"/>
          <p:cNvSpPr/>
          <p:nvPr/>
        </p:nvSpPr>
        <p:spPr>
          <a:xfrm>
            <a:off x="649224" y="2505456"/>
            <a:ext cx="2304288" cy="676656"/>
          </a:xfrm>
          <a:prstGeom prst="rect">
            <a:avLst/>
          </a:prstGeom>
          <a:noFill/>
          <a:ln/>
        </p:spPr>
        <p:txBody>
          <a:bodyPr wrap="square" rtlCol="0" anchor="ctr"/>
          <a:lstStyle/>
          <a:p>
            <a:pPr algn="ctr" indent="0" marL="0">
              <a:lnSpc>
                <a:spcPct val="110000"/>
              </a:lnSpc>
              <a:buNone/>
            </a:pPr>
            <a:r>
              <a:rPr lang="en-US" sz="1500" b="1" dirty="0">
                <a:solidFill>
                  <a:srgbClr val="1A2355"/>
                </a:solidFill>
                <a:latin typeface="Calibri" pitchFamily="34" charset="0"/>
                <a:ea typeface="Calibri" pitchFamily="34" charset="-122"/>
                <a:cs typeface="Calibri" pitchFamily="34" charset="-120"/>
              </a:rPr>
              <a:t>WEF Global</a:t>
            </a:r>
            <a:endParaRPr lang="en-US" sz="1500" dirty="0"/>
          </a:p>
          <a:p>
            <a:pPr algn="ctr" indent="0" marL="0">
              <a:lnSpc>
                <a:spcPct val="110000"/>
              </a:lnSpc>
              <a:buNone/>
            </a:pPr>
            <a:r>
              <a:rPr lang="en-US" sz="1500" b="1" dirty="0">
                <a:solidFill>
                  <a:srgbClr val="1A2355"/>
                </a:solidFill>
                <a:latin typeface="Calibri" pitchFamily="34" charset="0"/>
                <a:ea typeface="Calibri" pitchFamily="34" charset="-122"/>
                <a:cs typeface="Calibri" pitchFamily="34" charset="-120"/>
              </a:rPr>
              <a:t>Megatrends</a:t>
            </a:r>
            <a:endParaRPr lang="en-US" sz="1500" dirty="0"/>
          </a:p>
        </p:txBody>
      </p:sp>
      <p:sp>
        <p:nvSpPr>
          <p:cNvPr id="11" name="Shape 9"/>
          <p:cNvSpPr/>
          <p:nvPr/>
        </p:nvSpPr>
        <p:spPr>
          <a:xfrm>
            <a:off x="685800" y="3429000"/>
            <a:ext cx="91440" cy="91440"/>
          </a:xfrm>
          <a:prstGeom prst="ellipse">
            <a:avLst/>
          </a:prstGeom>
          <a:solidFill>
            <a:srgbClr val="1E2761"/>
          </a:solidFill>
          <a:ln/>
        </p:spPr>
      </p:sp>
      <p:sp>
        <p:nvSpPr>
          <p:cNvPr id="12" name="Text 10"/>
          <p:cNvSpPr/>
          <p:nvPr/>
        </p:nvSpPr>
        <p:spPr>
          <a:xfrm>
            <a:off x="832104" y="3291840"/>
            <a:ext cx="2139696" cy="32004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170 juta pekerjaan baru tercipta</a:t>
            </a:r>
            <a:endParaRPr lang="en-US" sz="1100" dirty="0"/>
          </a:p>
        </p:txBody>
      </p:sp>
      <p:sp>
        <p:nvSpPr>
          <p:cNvPr id="13" name="Shape 11"/>
          <p:cNvSpPr/>
          <p:nvPr/>
        </p:nvSpPr>
        <p:spPr>
          <a:xfrm>
            <a:off x="685800" y="3767328"/>
            <a:ext cx="91440" cy="91440"/>
          </a:xfrm>
          <a:prstGeom prst="ellipse">
            <a:avLst/>
          </a:prstGeom>
          <a:solidFill>
            <a:srgbClr val="1E2761"/>
          </a:solidFill>
          <a:ln/>
        </p:spPr>
      </p:sp>
      <p:sp>
        <p:nvSpPr>
          <p:cNvPr id="14" name="Text 12"/>
          <p:cNvSpPr/>
          <p:nvPr/>
        </p:nvSpPr>
        <p:spPr>
          <a:xfrm>
            <a:off x="832104" y="3630168"/>
            <a:ext cx="2139696" cy="32004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92 juta pekerjaan terdisplasi by 2030</a:t>
            </a:r>
            <a:endParaRPr lang="en-US" sz="1100" dirty="0"/>
          </a:p>
        </p:txBody>
      </p:sp>
      <p:sp>
        <p:nvSpPr>
          <p:cNvPr id="15" name="Shape 13"/>
          <p:cNvSpPr/>
          <p:nvPr/>
        </p:nvSpPr>
        <p:spPr>
          <a:xfrm>
            <a:off x="685800" y="4105656"/>
            <a:ext cx="91440" cy="91440"/>
          </a:xfrm>
          <a:prstGeom prst="ellipse">
            <a:avLst/>
          </a:prstGeom>
          <a:solidFill>
            <a:srgbClr val="1E2761"/>
          </a:solidFill>
          <a:ln/>
        </p:spPr>
      </p:sp>
      <p:sp>
        <p:nvSpPr>
          <p:cNvPr id="16" name="Text 14"/>
          <p:cNvSpPr/>
          <p:nvPr/>
        </p:nvSpPr>
        <p:spPr>
          <a:xfrm>
            <a:off x="832104" y="3968496"/>
            <a:ext cx="2139696" cy="32004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AI transformasi 86% bisnis global</a:t>
            </a:r>
            <a:endParaRPr lang="en-US" sz="1100" dirty="0"/>
          </a:p>
        </p:txBody>
      </p:sp>
      <p:sp>
        <p:nvSpPr>
          <p:cNvPr id="17" name="Shape 15"/>
          <p:cNvSpPr/>
          <p:nvPr/>
        </p:nvSpPr>
        <p:spPr>
          <a:xfrm>
            <a:off x="3282696" y="1170432"/>
            <a:ext cx="2633472" cy="3493008"/>
          </a:xfrm>
          <a:prstGeom prst="roundRect">
            <a:avLst>
              <a:gd name="adj" fmla="val 4167"/>
            </a:avLst>
          </a:prstGeom>
          <a:solidFill>
            <a:srgbClr val="FFFFFF"/>
          </a:solidFill>
          <a:ln/>
          <a:effectLst>
            <a:outerShdw sx="100000" sy="100000" kx="0" ky="0" algn="bl" rotWithShape="0" blurRad="127000" dist="38100" dir="2700000">
              <a:srgbClr val="AAAAAA">
                <a:alpha val="22000"/>
              </a:srgbClr>
            </a:outerShdw>
          </a:effectLst>
        </p:spPr>
      </p:sp>
      <p:sp>
        <p:nvSpPr>
          <p:cNvPr id="18" name="Shape 16"/>
          <p:cNvSpPr/>
          <p:nvPr/>
        </p:nvSpPr>
        <p:spPr>
          <a:xfrm>
            <a:off x="3282696" y="1170432"/>
            <a:ext cx="2633472" cy="1261872"/>
          </a:xfrm>
          <a:prstGeom prst="roundRect">
            <a:avLst>
              <a:gd name="adj" fmla="val 8696"/>
            </a:avLst>
          </a:prstGeom>
          <a:solidFill>
            <a:srgbClr val="1F7A8C"/>
          </a:solidFill>
          <a:ln/>
        </p:spPr>
      </p:sp>
      <p:sp>
        <p:nvSpPr>
          <p:cNvPr id="19" name="Shape 17"/>
          <p:cNvSpPr/>
          <p:nvPr/>
        </p:nvSpPr>
        <p:spPr>
          <a:xfrm>
            <a:off x="3282696" y="1865376"/>
            <a:ext cx="2633472" cy="566928"/>
          </a:xfrm>
          <a:prstGeom prst="rect">
            <a:avLst/>
          </a:prstGeom>
          <a:solidFill>
            <a:srgbClr val="1F7A8C"/>
          </a:solidFill>
          <a:ln/>
        </p:spPr>
      </p:sp>
      <p:sp>
        <p:nvSpPr>
          <p:cNvPr id="20" name="Text 18"/>
          <p:cNvSpPr/>
          <p:nvPr/>
        </p:nvSpPr>
        <p:spPr>
          <a:xfrm>
            <a:off x="4251960" y="1280160"/>
            <a:ext cx="694944" cy="676656"/>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1" name="Shape 19"/>
          <p:cNvSpPr/>
          <p:nvPr/>
        </p:nvSpPr>
        <p:spPr>
          <a:xfrm>
            <a:off x="3611880" y="2130552"/>
            <a:ext cx="1975104" cy="246888"/>
          </a:xfrm>
          <a:prstGeom prst="roundRect">
            <a:avLst>
              <a:gd name="adj" fmla="val 22222"/>
            </a:avLst>
          </a:prstGeom>
          <a:solidFill>
            <a:srgbClr val="FFFFFF">
              <a:alpha val="78000"/>
            </a:srgbClr>
          </a:solidFill>
          <a:ln/>
        </p:spPr>
      </p:sp>
      <p:sp>
        <p:nvSpPr>
          <p:cNvPr id="22" name="Text 20"/>
          <p:cNvSpPr/>
          <p:nvPr/>
        </p:nvSpPr>
        <p:spPr>
          <a:xfrm>
            <a:off x="3611880" y="2130552"/>
            <a:ext cx="1975104"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Konteks Lokal</a:t>
            </a:r>
            <a:endParaRPr lang="en-US" sz="900" dirty="0"/>
          </a:p>
        </p:txBody>
      </p:sp>
      <p:sp>
        <p:nvSpPr>
          <p:cNvPr id="23" name="Text 21"/>
          <p:cNvSpPr/>
          <p:nvPr/>
        </p:nvSpPr>
        <p:spPr>
          <a:xfrm>
            <a:off x="3447288" y="2505456"/>
            <a:ext cx="2304288" cy="676656"/>
          </a:xfrm>
          <a:prstGeom prst="rect">
            <a:avLst/>
          </a:prstGeom>
          <a:noFill/>
          <a:ln/>
        </p:spPr>
        <p:txBody>
          <a:bodyPr wrap="square" rtlCol="0" anchor="ctr"/>
          <a:lstStyle/>
          <a:p>
            <a:pPr algn="ctr" indent="0" marL="0">
              <a:lnSpc>
                <a:spcPct val="110000"/>
              </a:lnSpc>
              <a:buNone/>
            </a:pPr>
            <a:r>
              <a:rPr lang="en-US" sz="1500" b="1" dirty="0">
                <a:solidFill>
                  <a:srgbClr val="1A2355"/>
                </a:solidFill>
                <a:latin typeface="Calibri" pitchFamily="34" charset="0"/>
                <a:ea typeface="Calibri" pitchFamily="34" charset="-122"/>
                <a:cs typeface="Calibri" pitchFamily="34" charset="-120"/>
              </a:rPr>
              <a:t>Kelas Menengah</a:t>
            </a:r>
            <a:endParaRPr lang="en-US" sz="1500" dirty="0"/>
          </a:p>
          <a:p>
            <a:pPr algn="ctr" indent="0" marL="0">
              <a:lnSpc>
                <a:spcPct val="110000"/>
              </a:lnSpc>
              <a:buNone/>
            </a:pPr>
            <a:r>
              <a:rPr lang="en-US" sz="1500" b="1" dirty="0">
                <a:solidFill>
                  <a:srgbClr val="1A2355"/>
                </a:solidFill>
                <a:latin typeface="Calibri" pitchFamily="34" charset="0"/>
                <a:ea typeface="Calibri" pitchFamily="34" charset="-122"/>
                <a:cs typeface="Calibri" pitchFamily="34" charset="-120"/>
              </a:rPr>
              <a:t>Indonesia</a:t>
            </a:r>
            <a:endParaRPr lang="en-US" sz="1500" dirty="0"/>
          </a:p>
        </p:txBody>
      </p:sp>
      <p:sp>
        <p:nvSpPr>
          <p:cNvPr id="24" name="Shape 22"/>
          <p:cNvSpPr/>
          <p:nvPr/>
        </p:nvSpPr>
        <p:spPr>
          <a:xfrm>
            <a:off x="3483864" y="3429000"/>
            <a:ext cx="91440" cy="91440"/>
          </a:xfrm>
          <a:prstGeom prst="ellipse">
            <a:avLst/>
          </a:prstGeom>
          <a:solidFill>
            <a:srgbClr val="1F7A8C"/>
          </a:solidFill>
          <a:ln/>
        </p:spPr>
      </p:sp>
      <p:sp>
        <p:nvSpPr>
          <p:cNvPr id="25" name="Text 23"/>
          <p:cNvSpPr/>
          <p:nvPr/>
        </p:nvSpPr>
        <p:spPr>
          <a:xfrm>
            <a:off x="3630168" y="3291840"/>
            <a:ext cx="2139696" cy="32004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Turun 57.3M → 46.7M (2019–2025)</a:t>
            </a:r>
            <a:endParaRPr lang="en-US" sz="1100" dirty="0"/>
          </a:p>
        </p:txBody>
      </p:sp>
      <p:sp>
        <p:nvSpPr>
          <p:cNvPr id="26" name="Shape 24"/>
          <p:cNvSpPr/>
          <p:nvPr/>
        </p:nvSpPr>
        <p:spPr>
          <a:xfrm>
            <a:off x="3483864" y="3767328"/>
            <a:ext cx="91440" cy="91440"/>
          </a:xfrm>
          <a:prstGeom prst="ellipse">
            <a:avLst/>
          </a:prstGeom>
          <a:solidFill>
            <a:srgbClr val="1F7A8C"/>
          </a:solidFill>
          <a:ln/>
        </p:spPr>
      </p:sp>
      <p:sp>
        <p:nvSpPr>
          <p:cNvPr id="27" name="Text 25"/>
          <p:cNvSpPr/>
          <p:nvPr/>
        </p:nvSpPr>
        <p:spPr>
          <a:xfrm>
            <a:off x="3630168" y="3630168"/>
            <a:ext cx="2139696" cy="32004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Downtrading: luxury global -17.5%</a:t>
            </a:r>
            <a:endParaRPr lang="en-US" sz="1100" dirty="0"/>
          </a:p>
        </p:txBody>
      </p:sp>
      <p:sp>
        <p:nvSpPr>
          <p:cNvPr id="28" name="Shape 26"/>
          <p:cNvSpPr/>
          <p:nvPr/>
        </p:nvSpPr>
        <p:spPr>
          <a:xfrm>
            <a:off x="3483864" y="4105656"/>
            <a:ext cx="91440" cy="91440"/>
          </a:xfrm>
          <a:prstGeom prst="ellipse">
            <a:avLst/>
          </a:prstGeom>
          <a:solidFill>
            <a:srgbClr val="1F7A8C"/>
          </a:solidFill>
          <a:ln/>
        </p:spPr>
      </p:sp>
      <p:sp>
        <p:nvSpPr>
          <p:cNvPr id="29" name="Text 27"/>
          <p:cNvSpPr/>
          <p:nvPr/>
        </p:nvSpPr>
        <p:spPr>
          <a:xfrm>
            <a:off x="3630168" y="3968496"/>
            <a:ext cx="2139696" cy="32004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Aspirant class 142 juta melejit</a:t>
            </a:r>
            <a:endParaRPr lang="en-US" sz="1100" dirty="0"/>
          </a:p>
        </p:txBody>
      </p:sp>
      <p:sp>
        <p:nvSpPr>
          <p:cNvPr id="30" name="Shape 28"/>
          <p:cNvSpPr/>
          <p:nvPr/>
        </p:nvSpPr>
        <p:spPr>
          <a:xfrm>
            <a:off x="6080760" y="1170432"/>
            <a:ext cx="2633472" cy="3493008"/>
          </a:xfrm>
          <a:prstGeom prst="roundRect">
            <a:avLst>
              <a:gd name="adj" fmla="val 4167"/>
            </a:avLst>
          </a:prstGeom>
          <a:solidFill>
            <a:srgbClr val="FFFFFF"/>
          </a:solidFill>
          <a:ln/>
          <a:effectLst>
            <a:outerShdw sx="100000" sy="100000" kx="0" ky="0" algn="bl" rotWithShape="0" blurRad="127000" dist="38100" dir="2700000">
              <a:srgbClr val="AAAAAA">
                <a:alpha val="22000"/>
              </a:srgbClr>
            </a:outerShdw>
          </a:effectLst>
        </p:spPr>
      </p:sp>
      <p:sp>
        <p:nvSpPr>
          <p:cNvPr id="31" name="Shape 29"/>
          <p:cNvSpPr/>
          <p:nvPr/>
        </p:nvSpPr>
        <p:spPr>
          <a:xfrm>
            <a:off x="6080760" y="1170432"/>
            <a:ext cx="2633472" cy="1261872"/>
          </a:xfrm>
          <a:prstGeom prst="roundRect">
            <a:avLst>
              <a:gd name="adj" fmla="val 8696"/>
            </a:avLst>
          </a:prstGeom>
          <a:solidFill>
            <a:srgbClr val="C8860A"/>
          </a:solidFill>
          <a:ln/>
        </p:spPr>
      </p:sp>
      <p:sp>
        <p:nvSpPr>
          <p:cNvPr id="32" name="Shape 30"/>
          <p:cNvSpPr/>
          <p:nvPr/>
        </p:nvSpPr>
        <p:spPr>
          <a:xfrm>
            <a:off x="6080760" y="1865376"/>
            <a:ext cx="2633472" cy="566928"/>
          </a:xfrm>
          <a:prstGeom prst="rect">
            <a:avLst/>
          </a:prstGeom>
          <a:solidFill>
            <a:srgbClr val="C8860A"/>
          </a:solidFill>
          <a:ln/>
        </p:spPr>
      </p:sp>
      <p:sp>
        <p:nvSpPr>
          <p:cNvPr id="33" name="Text 31"/>
          <p:cNvSpPr/>
          <p:nvPr/>
        </p:nvSpPr>
        <p:spPr>
          <a:xfrm>
            <a:off x="7050024" y="1280160"/>
            <a:ext cx="694944" cy="676656"/>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34" name="Shape 32"/>
          <p:cNvSpPr/>
          <p:nvPr/>
        </p:nvSpPr>
        <p:spPr>
          <a:xfrm>
            <a:off x="6409944" y="2130552"/>
            <a:ext cx="1975104" cy="246888"/>
          </a:xfrm>
          <a:prstGeom prst="roundRect">
            <a:avLst>
              <a:gd name="adj" fmla="val 22222"/>
            </a:avLst>
          </a:prstGeom>
          <a:solidFill>
            <a:srgbClr val="FFFFFF">
              <a:alpha val="78000"/>
            </a:srgbClr>
          </a:solidFill>
          <a:ln/>
        </p:spPr>
      </p:sp>
      <p:sp>
        <p:nvSpPr>
          <p:cNvPr id="35" name="Text 33"/>
          <p:cNvSpPr/>
          <p:nvPr/>
        </p:nvSpPr>
        <p:spPr>
          <a:xfrm>
            <a:off x="6409944" y="2130552"/>
            <a:ext cx="1975104"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Kapabilitas Tim</a:t>
            </a:r>
            <a:endParaRPr lang="en-US" sz="900" dirty="0"/>
          </a:p>
        </p:txBody>
      </p:sp>
      <p:sp>
        <p:nvSpPr>
          <p:cNvPr id="36" name="Text 34"/>
          <p:cNvSpPr/>
          <p:nvPr/>
        </p:nvSpPr>
        <p:spPr>
          <a:xfrm>
            <a:off x="6245352" y="2505456"/>
            <a:ext cx="2304288" cy="676656"/>
          </a:xfrm>
          <a:prstGeom prst="rect">
            <a:avLst/>
          </a:prstGeom>
          <a:noFill/>
          <a:ln/>
        </p:spPr>
        <p:txBody>
          <a:bodyPr wrap="square" rtlCol="0" anchor="ctr"/>
          <a:lstStyle/>
          <a:p>
            <a:pPr algn="ctr" indent="0" marL="0">
              <a:lnSpc>
                <a:spcPct val="110000"/>
              </a:lnSpc>
              <a:buNone/>
            </a:pPr>
            <a:r>
              <a:rPr lang="en-US" sz="1500" b="1" dirty="0">
                <a:solidFill>
                  <a:srgbClr val="1A2355"/>
                </a:solidFill>
                <a:latin typeface="Calibri" pitchFamily="34" charset="0"/>
                <a:ea typeface="Calibri" pitchFamily="34" charset="-122"/>
                <a:cs typeface="Calibri" pitchFamily="34" charset="-120"/>
              </a:rPr>
              <a:t>Specialist vs</a:t>
            </a:r>
            <a:endParaRPr lang="en-US" sz="1500" dirty="0"/>
          </a:p>
          <a:p>
            <a:pPr algn="ctr" indent="0" marL="0">
              <a:lnSpc>
                <a:spcPct val="110000"/>
              </a:lnSpc>
              <a:buNone/>
            </a:pPr>
            <a:r>
              <a:rPr lang="en-US" sz="1500" b="1" dirty="0">
                <a:solidFill>
                  <a:srgbClr val="1A2355"/>
                </a:solidFill>
                <a:latin typeface="Calibri" pitchFamily="34" charset="0"/>
                <a:ea typeface="Calibri" pitchFamily="34" charset="-122"/>
                <a:cs typeface="Calibri" pitchFamily="34" charset="-120"/>
              </a:rPr>
              <a:t>Generalist</a:t>
            </a:r>
            <a:endParaRPr lang="en-US" sz="1500" dirty="0"/>
          </a:p>
        </p:txBody>
      </p:sp>
      <p:sp>
        <p:nvSpPr>
          <p:cNvPr id="37" name="Shape 35"/>
          <p:cNvSpPr/>
          <p:nvPr/>
        </p:nvSpPr>
        <p:spPr>
          <a:xfrm>
            <a:off x="6281928" y="3429000"/>
            <a:ext cx="91440" cy="91440"/>
          </a:xfrm>
          <a:prstGeom prst="ellipse">
            <a:avLst/>
          </a:prstGeom>
          <a:solidFill>
            <a:srgbClr val="C8860A"/>
          </a:solidFill>
          <a:ln/>
        </p:spPr>
      </p:sp>
      <p:sp>
        <p:nvSpPr>
          <p:cNvPr id="38" name="Text 36"/>
          <p:cNvSpPr/>
          <p:nvPr/>
        </p:nvSpPr>
        <p:spPr>
          <a:xfrm>
            <a:off x="6428232" y="3291840"/>
            <a:ext cx="2139696" cy="32004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AI + Generalist = 1-orang departemen</a:t>
            </a:r>
            <a:endParaRPr lang="en-US" sz="1100" dirty="0"/>
          </a:p>
        </p:txBody>
      </p:sp>
      <p:sp>
        <p:nvSpPr>
          <p:cNvPr id="39" name="Shape 37"/>
          <p:cNvSpPr/>
          <p:nvPr/>
        </p:nvSpPr>
        <p:spPr>
          <a:xfrm>
            <a:off x="6281928" y="3767328"/>
            <a:ext cx="91440" cy="91440"/>
          </a:xfrm>
          <a:prstGeom prst="ellipse">
            <a:avLst/>
          </a:prstGeom>
          <a:solidFill>
            <a:srgbClr val="C8860A"/>
          </a:solidFill>
          <a:ln/>
        </p:spPr>
      </p:sp>
      <p:sp>
        <p:nvSpPr>
          <p:cNvPr id="40" name="Text 38"/>
          <p:cNvSpPr/>
          <p:nvPr/>
        </p:nvSpPr>
        <p:spPr>
          <a:xfrm>
            <a:off x="6428232" y="3630168"/>
            <a:ext cx="2139696" cy="32004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Specialist bernilai di "last 10%"</a:t>
            </a:r>
            <a:endParaRPr lang="en-US" sz="1100" dirty="0"/>
          </a:p>
        </p:txBody>
      </p:sp>
      <p:sp>
        <p:nvSpPr>
          <p:cNvPr id="41" name="Shape 39"/>
          <p:cNvSpPr/>
          <p:nvPr/>
        </p:nvSpPr>
        <p:spPr>
          <a:xfrm>
            <a:off x="6281928" y="4105656"/>
            <a:ext cx="91440" cy="91440"/>
          </a:xfrm>
          <a:prstGeom prst="ellipse">
            <a:avLst/>
          </a:prstGeom>
          <a:solidFill>
            <a:srgbClr val="C8860A"/>
          </a:solidFill>
          <a:ln/>
        </p:spPr>
      </p:sp>
      <p:sp>
        <p:nvSpPr>
          <p:cNvPr id="42" name="Text 40"/>
          <p:cNvSpPr/>
          <p:nvPr/>
        </p:nvSpPr>
        <p:spPr>
          <a:xfrm>
            <a:off x="6428232" y="3968496"/>
            <a:ext cx="2139696" cy="32004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85% employer akan upskill 2025-30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274320"/>
            <a:ext cx="5486400" cy="50292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WEF Future of Jobs 2025 — Davos</a:t>
            </a:r>
            <a:endParaRPr lang="en-US" sz="2800" dirty="0"/>
          </a:p>
        </p:txBody>
      </p:sp>
      <p:sp>
        <p:nvSpPr>
          <p:cNvPr id="3" name="Text 1"/>
          <p:cNvSpPr/>
          <p:nvPr/>
        </p:nvSpPr>
        <p:spPr>
          <a:xfrm>
            <a:off x="502920" y="786384"/>
            <a:ext cx="8229600" cy="274320"/>
          </a:xfrm>
          <a:prstGeom prst="rect">
            <a:avLst/>
          </a:prstGeom>
          <a:noFill/>
          <a:ln/>
        </p:spPr>
        <p:txBody>
          <a:bodyPr wrap="square" rtlCol="0" anchor="ctr"/>
          <a:lstStyle/>
          <a:p>
            <a:pPr algn="l" indent="0" marL="0">
              <a:buNone/>
            </a:pPr>
            <a:r>
              <a:rPr lang="en-US" sz="1300" dirty="0">
                <a:solidFill>
                  <a:srgbClr val="8891B4"/>
                </a:solidFill>
                <a:latin typeface="Calibri" pitchFamily="34" charset="0"/>
                <a:ea typeface="Calibri" pitchFamily="34" charset="-122"/>
                <a:cs typeface="Calibri" pitchFamily="34" charset="-120"/>
              </a:rPr>
              <a:t>5 kekuatan makro yang mendisrupsi pekerjaan dan industri secara global</a:t>
            </a:r>
            <a:endParaRPr lang="en-US" sz="1300" dirty="0"/>
          </a:p>
        </p:txBody>
      </p:sp>
      <p:sp>
        <p:nvSpPr>
          <p:cNvPr id="4" name="Shape 2"/>
          <p:cNvSpPr/>
          <p:nvPr/>
        </p:nvSpPr>
        <p:spPr>
          <a:xfrm>
            <a:off x="6263640" y="201168"/>
            <a:ext cx="2377440" cy="804672"/>
          </a:xfrm>
          <a:prstGeom prst="roundRect">
            <a:avLst>
              <a:gd name="adj" fmla="val 11364"/>
            </a:avLst>
          </a:prstGeom>
          <a:solidFill>
            <a:srgbClr val="E8A020"/>
          </a:solidFill>
          <a:ln/>
        </p:spPr>
      </p:sp>
      <p:sp>
        <p:nvSpPr>
          <p:cNvPr id="5" name="Text 3"/>
          <p:cNvSpPr/>
          <p:nvPr/>
        </p:nvSpPr>
        <p:spPr>
          <a:xfrm>
            <a:off x="6263640" y="201168"/>
            <a:ext cx="2377440" cy="804672"/>
          </a:xfrm>
          <a:prstGeom prst="rect">
            <a:avLst/>
          </a:prstGeom>
          <a:noFill/>
          <a:ln/>
        </p:spPr>
        <p:txBody>
          <a:bodyPr wrap="square" rtlCol="0" anchor="ctr"/>
          <a:lstStyle/>
          <a:p>
            <a:pPr algn="ctr" indent="0" marL="0">
              <a:lnSpc>
                <a:spcPct val="110000"/>
              </a:lnSpc>
              <a:buNone/>
            </a:pPr>
            <a:r>
              <a:rPr lang="en-US" sz="1300" b="1" dirty="0">
                <a:solidFill>
                  <a:srgbClr val="141E52"/>
                </a:solidFill>
                <a:latin typeface="Calibri" pitchFamily="34" charset="0"/>
                <a:ea typeface="Calibri" pitchFamily="34" charset="-122"/>
                <a:cs typeface="Calibri" pitchFamily="34" charset="-120"/>
              </a:rPr>
              <a:t>78 JUTA</a:t>
            </a:r>
            <a:endParaRPr lang="en-US" sz="1300" dirty="0"/>
          </a:p>
          <a:p>
            <a:pPr algn="ctr" indent="0" marL="0">
              <a:lnSpc>
                <a:spcPct val="110000"/>
              </a:lnSpc>
              <a:buNone/>
            </a:pPr>
            <a:r>
              <a:rPr lang="en-US" sz="1300" b="1" dirty="0">
                <a:solidFill>
                  <a:srgbClr val="141E52"/>
                </a:solidFill>
                <a:latin typeface="Calibri" pitchFamily="34" charset="0"/>
                <a:ea typeface="Calibri" pitchFamily="34" charset="-122"/>
                <a:cs typeface="Calibri" pitchFamily="34" charset="-120"/>
              </a:rPr>
              <a:t>Net Jobs Baru by 2030</a:t>
            </a:r>
            <a:endParaRPr lang="en-US" sz="1300" dirty="0"/>
          </a:p>
        </p:txBody>
      </p:sp>
      <p:sp>
        <p:nvSpPr>
          <p:cNvPr id="6" name="Shape 4"/>
          <p:cNvSpPr/>
          <p:nvPr/>
        </p:nvSpPr>
        <p:spPr>
          <a:xfrm>
            <a:off x="502920" y="1170432"/>
            <a:ext cx="2633472" cy="1627632"/>
          </a:xfrm>
          <a:prstGeom prst="roundRect">
            <a:avLst>
              <a:gd name="adj" fmla="val 5618"/>
            </a:avLst>
          </a:prstGeom>
          <a:solidFill>
            <a:srgbClr val="2A3580"/>
          </a:solidFill>
          <a:ln w="12700">
            <a:solidFill>
              <a:srgbClr val="3D5AFE"/>
            </a:solidFill>
            <a:prstDash val="solid"/>
          </a:ln>
        </p:spPr>
      </p:sp>
      <p:sp>
        <p:nvSpPr>
          <p:cNvPr id="7" name="Shape 5"/>
          <p:cNvSpPr/>
          <p:nvPr/>
        </p:nvSpPr>
        <p:spPr>
          <a:xfrm>
            <a:off x="502920" y="1371600"/>
            <a:ext cx="45720" cy="1225296"/>
          </a:xfrm>
          <a:prstGeom prst="rect">
            <a:avLst/>
          </a:prstGeom>
          <a:solidFill>
            <a:srgbClr val="3D5AFE"/>
          </a:solidFill>
          <a:ln/>
        </p:spPr>
      </p:sp>
      <p:sp>
        <p:nvSpPr>
          <p:cNvPr id="8" name="Text 6"/>
          <p:cNvSpPr/>
          <p:nvPr/>
        </p:nvSpPr>
        <p:spPr>
          <a:xfrm>
            <a:off x="630936" y="128016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1179576" y="1289304"/>
            <a:ext cx="1865376" cy="36576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AI &amp; Teknologi</a:t>
            </a:r>
            <a:endParaRPr lang="en-US" sz="1300" dirty="0"/>
          </a:p>
        </p:txBody>
      </p:sp>
      <p:sp>
        <p:nvSpPr>
          <p:cNvPr id="10" name="Text 8"/>
          <p:cNvSpPr/>
          <p:nvPr/>
        </p:nvSpPr>
        <p:spPr>
          <a:xfrm>
            <a:off x="1179576" y="1673352"/>
            <a:ext cx="1865376" cy="1024128"/>
          </a:xfrm>
          <a:prstGeom prst="rect">
            <a:avLst/>
          </a:prstGeom>
          <a:noFill/>
          <a:ln/>
        </p:spPr>
        <p:txBody>
          <a:bodyPr wrap="square" rtlCol="0" anchor="ctr"/>
          <a:lstStyle/>
          <a:p>
            <a:pPr algn="l" indent="0" marL="0">
              <a:lnSpc>
                <a:spcPct val="120000"/>
              </a:lnSpc>
              <a:buNone/>
            </a:pPr>
            <a:r>
              <a:rPr lang="en-US" sz="1100" dirty="0">
                <a:solidFill>
                  <a:srgbClr val="8891B4"/>
                </a:solidFill>
                <a:latin typeface="Calibri" pitchFamily="34" charset="0"/>
                <a:ea typeface="Calibri" pitchFamily="34" charset="-122"/>
                <a:cs typeface="Calibri" pitchFamily="34" charset="-120"/>
              </a:rPr>
              <a:t>86% perusahaan expect AI transformasi bisnis mereka by 2030. Analytical thinking jadi #1 skill dicari employer.</a:t>
            </a:r>
            <a:endParaRPr lang="en-US" sz="1100" dirty="0"/>
          </a:p>
        </p:txBody>
      </p:sp>
      <p:sp>
        <p:nvSpPr>
          <p:cNvPr id="11" name="Shape 9"/>
          <p:cNvSpPr/>
          <p:nvPr/>
        </p:nvSpPr>
        <p:spPr>
          <a:xfrm>
            <a:off x="3246120" y="1170432"/>
            <a:ext cx="2633472" cy="1627632"/>
          </a:xfrm>
          <a:prstGeom prst="roundRect">
            <a:avLst>
              <a:gd name="adj" fmla="val 5618"/>
            </a:avLst>
          </a:prstGeom>
          <a:solidFill>
            <a:srgbClr val="2A3580"/>
          </a:solidFill>
          <a:ln w="12700">
            <a:solidFill>
              <a:srgbClr val="00897B"/>
            </a:solidFill>
            <a:prstDash val="solid"/>
          </a:ln>
        </p:spPr>
      </p:sp>
      <p:sp>
        <p:nvSpPr>
          <p:cNvPr id="12" name="Shape 10"/>
          <p:cNvSpPr/>
          <p:nvPr/>
        </p:nvSpPr>
        <p:spPr>
          <a:xfrm>
            <a:off x="3246120" y="1371600"/>
            <a:ext cx="45720" cy="1225296"/>
          </a:xfrm>
          <a:prstGeom prst="rect">
            <a:avLst/>
          </a:prstGeom>
          <a:solidFill>
            <a:srgbClr val="00897B"/>
          </a:solidFill>
          <a:ln/>
        </p:spPr>
      </p:sp>
      <p:sp>
        <p:nvSpPr>
          <p:cNvPr id="13" name="Text 11"/>
          <p:cNvSpPr/>
          <p:nvPr/>
        </p:nvSpPr>
        <p:spPr>
          <a:xfrm>
            <a:off x="3374136" y="128016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922776" y="1289304"/>
            <a:ext cx="1865376" cy="36576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Transisi Hijau</a:t>
            </a:r>
            <a:endParaRPr lang="en-US" sz="1300" dirty="0"/>
          </a:p>
        </p:txBody>
      </p:sp>
      <p:sp>
        <p:nvSpPr>
          <p:cNvPr id="15" name="Text 13"/>
          <p:cNvSpPr/>
          <p:nvPr/>
        </p:nvSpPr>
        <p:spPr>
          <a:xfrm>
            <a:off x="3922776" y="1673352"/>
            <a:ext cx="1865376" cy="1024128"/>
          </a:xfrm>
          <a:prstGeom prst="rect">
            <a:avLst/>
          </a:prstGeom>
          <a:noFill/>
          <a:ln/>
        </p:spPr>
        <p:txBody>
          <a:bodyPr wrap="square" rtlCol="0" anchor="ctr"/>
          <a:lstStyle/>
          <a:p>
            <a:pPr algn="l" indent="0" marL="0">
              <a:lnSpc>
                <a:spcPct val="120000"/>
              </a:lnSpc>
              <a:buNone/>
            </a:pPr>
            <a:r>
              <a:rPr lang="en-US" sz="1100" dirty="0">
                <a:solidFill>
                  <a:srgbClr val="8891B4"/>
                </a:solidFill>
                <a:latin typeface="Calibri" pitchFamily="34" charset="0"/>
                <a:ea typeface="Calibri" pitchFamily="34" charset="-122"/>
                <a:cs typeface="Calibri" pitchFamily="34" charset="-120"/>
              </a:rPr>
              <a:t>Green economy ciptakan pekerjaan baru. Sustainability jadi faktor utama pemilihan brand oleh konsumen.</a:t>
            </a:r>
            <a:endParaRPr lang="en-US" sz="1100" dirty="0"/>
          </a:p>
        </p:txBody>
      </p:sp>
      <p:sp>
        <p:nvSpPr>
          <p:cNvPr id="16" name="Shape 14"/>
          <p:cNvSpPr/>
          <p:nvPr/>
        </p:nvSpPr>
        <p:spPr>
          <a:xfrm>
            <a:off x="5989320" y="1170432"/>
            <a:ext cx="2633472" cy="1627632"/>
          </a:xfrm>
          <a:prstGeom prst="roundRect">
            <a:avLst>
              <a:gd name="adj" fmla="val 5618"/>
            </a:avLst>
          </a:prstGeom>
          <a:solidFill>
            <a:srgbClr val="2A3580"/>
          </a:solidFill>
          <a:ln w="12700">
            <a:solidFill>
              <a:srgbClr val="8E24AA"/>
            </a:solidFill>
            <a:prstDash val="solid"/>
          </a:ln>
        </p:spPr>
      </p:sp>
      <p:sp>
        <p:nvSpPr>
          <p:cNvPr id="17" name="Shape 15"/>
          <p:cNvSpPr/>
          <p:nvPr/>
        </p:nvSpPr>
        <p:spPr>
          <a:xfrm>
            <a:off x="5989320" y="1371600"/>
            <a:ext cx="45720" cy="1225296"/>
          </a:xfrm>
          <a:prstGeom prst="rect">
            <a:avLst/>
          </a:prstGeom>
          <a:solidFill>
            <a:srgbClr val="8E24AA"/>
          </a:solidFill>
          <a:ln/>
        </p:spPr>
      </p:sp>
      <p:sp>
        <p:nvSpPr>
          <p:cNvPr id="18" name="Text 16"/>
          <p:cNvSpPr/>
          <p:nvPr/>
        </p:nvSpPr>
        <p:spPr>
          <a:xfrm>
            <a:off x="6117336" y="1280160"/>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6665976" y="1289304"/>
            <a:ext cx="1865376" cy="36576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Pergeseran Demografis</a:t>
            </a:r>
            <a:endParaRPr lang="en-US" sz="1300" dirty="0"/>
          </a:p>
        </p:txBody>
      </p:sp>
      <p:sp>
        <p:nvSpPr>
          <p:cNvPr id="20" name="Text 18"/>
          <p:cNvSpPr/>
          <p:nvPr/>
        </p:nvSpPr>
        <p:spPr>
          <a:xfrm>
            <a:off x="6665976" y="1673352"/>
            <a:ext cx="1865376" cy="1024128"/>
          </a:xfrm>
          <a:prstGeom prst="rect">
            <a:avLst/>
          </a:prstGeom>
          <a:noFill/>
          <a:ln/>
        </p:spPr>
        <p:txBody>
          <a:bodyPr wrap="square" rtlCol="0" anchor="ctr"/>
          <a:lstStyle/>
          <a:p>
            <a:pPr algn="l" indent="0" marL="0">
              <a:lnSpc>
                <a:spcPct val="120000"/>
              </a:lnSpc>
              <a:buNone/>
            </a:pPr>
            <a:r>
              <a:rPr lang="en-US" sz="1100" dirty="0">
                <a:solidFill>
                  <a:srgbClr val="8891B4"/>
                </a:solidFill>
                <a:latin typeface="Calibri" pitchFamily="34" charset="0"/>
                <a:ea typeface="Calibri" pitchFamily="34" charset="-122"/>
                <a:cs typeface="Calibri" pitchFamily="34" charset="-120"/>
              </a:rPr>
              <a:t>Gen Z + populasi menua = dua extreme. Retailer harus serve segmen yang sangat berbeda secara bersamaan.</a:t>
            </a:r>
            <a:endParaRPr lang="en-US" sz="1100" dirty="0"/>
          </a:p>
        </p:txBody>
      </p:sp>
      <p:sp>
        <p:nvSpPr>
          <p:cNvPr id="21" name="Shape 19"/>
          <p:cNvSpPr/>
          <p:nvPr/>
        </p:nvSpPr>
        <p:spPr>
          <a:xfrm>
            <a:off x="1874520" y="2898648"/>
            <a:ext cx="2633472" cy="1627632"/>
          </a:xfrm>
          <a:prstGeom prst="roundRect">
            <a:avLst>
              <a:gd name="adj" fmla="val 5618"/>
            </a:avLst>
          </a:prstGeom>
          <a:solidFill>
            <a:srgbClr val="2A3580"/>
          </a:solidFill>
          <a:ln w="12700">
            <a:solidFill>
              <a:srgbClr val="E65100"/>
            </a:solidFill>
            <a:prstDash val="solid"/>
          </a:ln>
        </p:spPr>
      </p:sp>
      <p:sp>
        <p:nvSpPr>
          <p:cNvPr id="22" name="Shape 20"/>
          <p:cNvSpPr/>
          <p:nvPr/>
        </p:nvSpPr>
        <p:spPr>
          <a:xfrm>
            <a:off x="1874520" y="3099816"/>
            <a:ext cx="45720" cy="1225296"/>
          </a:xfrm>
          <a:prstGeom prst="rect">
            <a:avLst/>
          </a:prstGeom>
          <a:solidFill>
            <a:srgbClr val="E65100"/>
          </a:solidFill>
          <a:ln/>
        </p:spPr>
      </p:sp>
      <p:sp>
        <p:nvSpPr>
          <p:cNvPr id="23" name="Text 21"/>
          <p:cNvSpPr/>
          <p:nvPr/>
        </p:nvSpPr>
        <p:spPr>
          <a:xfrm>
            <a:off x="2002536" y="3008376"/>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Text 22"/>
          <p:cNvSpPr/>
          <p:nvPr/>
        </p:nvSpPr>
        <p:spPr>
          <a:xfrm>
            <a:off x="2551176" y="3017520"/>
            <a:ext cx="1865376" cy="36576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Fragmentasi Geoekonomi</a:t>
            </a:r>
            <a:endParaRPr lang="en-US" sz="1300" dirty="0"/>
          </a:p>
        </p:txBody>
      </p:sp>
      <p:sp>
        <p:nvSpPr>
          <p:cNvPr id="25" name="Text 23"/>
          <p:cNvSpPr/>
          <p:nvPr/>
        </p:nvSpPr>
        <p:spPr>
          <a:xfrm>
            <a:off x="2551176" y="3401568"/>
            <a:ext cx="1865376" cy="1024128"/>
          </a:xfrm>
          <a:prstGeom prst="rect">
            <a:avLst/>
          </a:prstGeom>
          <a:noFill/>
          <a:ln/>
        </p:spPr>
        <p:txBody>
          <a:bodyPr wrap="square" rtlCol="0" anchor="ctr"/>
          <a:lstStyle/>
          <a:p>
            <a:pPr algn="l" indent="0" marL="0">
              <a:lnSpc>
                <a:spcPct val="120000"/>
              </a:lnSpc>
              <a:buNone/>
            </a:pPr>
            <a:r>
              <a:rPr lang="en-US" sz="1100" dirty="0">
                <a:solidFill>
                  <a:srgbClr val="8891B4"/>
                </a:solidFill>
                <a:latin typeface="Calibri" pitchFamily="34" charset="0"/>
                <a:ea typeface="Calibri" pitchFamily="34" charset="-122"/>
                <a:cs typeface="Calibri" pitchFamily="34" charset="-120"/>
              </a:rPr>
              <a:t>Supply chain terganggu oleh geopolitik. Sumber lokal &amp; regional makin strategis untuk retailer.</a:t>
            </a:r>
            <a:endParaRPr lang="en-US" sz="1100" dirty="0"/>
          </a:p>
        </p:txBody>
      </p:sp>
      <p:sp>
        <p:nvSpPr>
          <p:cNvPr id="26" name="Shape 24"/>
          <p:cNvSpPr/>
          <p:nvPr/>
        </p:nvSpPr>
        <p:spPr>
          <a:xfrm>
            <a:off x="4617720" y="2898648"/>
            <a:ext cx="2633472" cy="1627632"/>
          </a:xfrm>
          <a:prstGeom prst="roundRect">
            <a:avLst>
              <a:gd name="adj" fmla="val 5618"/>
            </a:avLst>
          </a:prstGeom>
          <a:solidFill>
            <a:srgbClr val="2A3580"/>
          </a:solidFill>
          <a:ln w="12700">
            <a:solidFill>
              <a:srgbClr val="C62828"/>
            </a:solidFill>
            <a:prstDash val="solid"/>
          </a:ln>
        </p:spPr>
      </p:sp>
      <p:sp>
        <p:nvSpPr>
          <p:cNvPr id="27" name="Shape 25"/>
          <p:cNvSpPr/>
          <p:nvPr/>
        </p:nvSpPr>
        <p:spPr>
          <a:xfrm>
            <a:off x="4617720" y="3099816"/>
            <a:ext cx="45720" cy="1225296"/>
          </a:xfrm>
          <a:prstGeom prst="rect">
            <a:avLst/>
          </a:prstGeom>
          <a:solidFill>
            <a:srgbClr val="C62828"/>
          </a:solidFill>
          <a:ln/>
        </p:spPr>
      </p:sp>
      <p:sp>
        <p:nvSpPr>
          <p:cNvPr id="28" name="Text 26"/>
          <p:cNvSpPr/>
          <p:nvPr/>
        </p:nvSpPr>
        <p:spPr>
          <a:xfrm>
            <a:off x="4745736" y="3008376"/>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9" name="Text 27"/>
          <p:cNvSpPr/>
          <p:nvPr/>
        </p:nvSpPr>
        <p:spPr>
          <a:xfrm>
            <a:off x="5294376" y="3017520"/>
            <a:ext cx="1865376" cy="365760"/>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Ketidakpastian Ekonomi</a:t>
            </a:r>
            <a:endParaRPr lang="en-US" sz="1300" dirty="0"/>
          </a:p>
        </p:txBody>
      </p:sp>
      <p:sp>
        <p:nvSpPr>
          <p:cNvPr id="30" name="Text 28"/>
          <p:cNvSpPr/>
          <p:nvPr/>
        </p:nvSpPr>
        <p:spPr>
          <a:xfrm>
            <a:off x="5294376" y="3401568"/>
            <a:ext cx="1865376" cy="1024128"/>
          </a:xfrm>
          <a:prstGeom prst="rect">
            <a:avLst/>
          </a:prstGeom>
          <a:noFill/>
          <a:ln/>
        </p:spPr>
        <p:txBody>
          <a:bodyPr wrap="square" rtlCol="0" anchor="ctr"/>
          <a:lstStyle/>
          <a:p>
            <a:pPr algn="l" indent="0" marL="0">
              <a:lnSpc>
                <a:spcPct val="120000"/>
              </a:lnSpc>
              <a:buNone/>
            </a:pPr>
            <a:r>
              <a:rPr lang="en-US" sz="1100" dirty="0">
                <a:solidFill>
                  <a:srgbClr val="8891B4"/>
                </a:solidFill>
                <a:latin typeface="Calibri" pitchFamily="34" charset="0"/>
                <a:ea typeface="Calibri" pitchFamily="34" charset="-122"/>
                <a:cs typeface="Calibri" pitchFamily="34" charset="-120"/>
              </a:rPr>
              <a:t>Pertumbuhan global terlemah dalam dekade. Consumer spending makin selektif — value matters more than ever.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75488" y="274320"/>
            <a:ext cx="8229600" cy="502920"/>
          </a:xfrm>
          <a:prstGeom prst="rect">
            <a:avLst/>
          </a:prstGeom>
          <a:noFill/>
          <a:ln/>
        </p:spPr>
        <p:txBody>
          <a:bodyPr wrap="square" rtlCol="0" anchor="ctr"/>
          <a:lstStyle/>
          <a:p>
            <a:pPr algn="l" indent="0" marL="0">
              <a:buNone/>
            </a:pPr>
            <a:r>
              <a:rPr lang="en-US" sz="2700" b="1" dirty="0">
                <a:solidFill>
                  <a:srgbClr val="1A2355"/>
                </a:solidFill>
                <a:latin typeface="Calibri" pitchFamily="34" charset="0"/>
                <a:ea typeface="Calibri" pitchFamily="34" charset="-122"/>
                <a:cs typeface="Calibri" pitchFamily="34" charset="-120"/>
              </a:rPr>
              <a:t>Kelas Menengah Indonesia: Tren Penyusutan</a:t>
            </a:r>
            <a:endParaRPr lang="en-US" sz="2700" dirty="0"/>
          </a:p>
        </p:txBody>
      </p:sp>
      <p:sp>
        <p:nvSpPr>
          <p:cNvPr id="3" name="Text 1"/>
          <p:cNvSpPr/>
          <p:nvPr/>
        </p:nvSpPr>
        <p:spPr>
          <a:xfrm>
            <a:off x="475488" y="777240"/>
            <a:ext cx="8229600" cy="256032"/>
          </a:xfrm>
          <a:prstGeom prst="rect">
            <a:avLst/>
          </a:prstGeom>
          <a:noFill/>
          <a:ln/>
        </p:spPr>
        <p:txBody>
          <a:bodyPr wrap="square" rtlCol="0" anchor="ctr"/>
          <a:lstStyle/>
          <a:p>
            <a:pPr algn="l" indent="0" marL="0">
              <a:buNone/>
            </a:pPr>
            <a:r>
              <a:rPr lang="en-US" sz="1200" dirty="0">
                <a:solidFill>
                  <a:srgbClr val="3D4A6E"/>
                </a:solidFill>
                <a:latin typeface="Calibri" pitchFamily="34" charset="0"/>
                <a:ea typeface="Calibri" pitchFamily="34" charset="-122"/>
                <a:cs typeface="Calibri" pitchFamily="34" charset="-120"/>
              </a:rPr>
              <a:t>Data BPS 2019–2025 menunjukkan penurunan struktural yang berdampak langsung pada pasar retail</a:t>
            </a:r>
            <a:endParaRPr lang="en-US" sz="1200" dirty="0"/>
          </a:p>
        </p:txBody>
      </p:sp>
      <p:sp>
        <p:nvSpPr>
          <p:cNvPr id="4" name="Shape 2"/>
          <p:cNvSpPr/>
          <p:nvPr/>
        </p:nvSpPr>
        <p:spPr>
          <a:xfrm>
            <a:off x="475488" y="1115568"/>
            <a:ext cx="3520440" cy="914400"/>
          </a:xfrm>
          <a:prstGeom prst="roundRect">
            <a:avLst>
              <a:gd name="adj" fmla="val 10000"/>
            </a:avLst>
          </a:prstGeom>
          <a:solidFill>
            <a:srgbClr val="E8ECFA"/>
          </a:solidFill>
          <a:ln/>
        </p:spPr>
      </p:sp>
      <p:sp>
        <p:nvSpPr>
          <p:cNvPr id="5" name="Text 3"/>
          <p:cNvSpPr/>
          <p:nvPr/>
        </p:nvSpPr>
        <p:spPr>
          <a:xfrm>
            <a:off x="475488" y="1170432"/>
            <a:ext cx="3520440" cy="512064"/>
          </a:xfrm>
          <a:prstGeom prst="rect">
            <a:avLst/>
          </a:prstGeom>
          <a:noFill/>
          <a:ln/>
        </p:spPr>
        <p:txBody>
          <a:bodyPr wrap="square" rtlCol="0" anchor="ctr"/>
          <a:lstStyle/>
          <a:p>
            <a:pPr algn="ctr" indent="0" marL="0">
              <a:buNone/>
            </a:pPr>
            <a:r>
              <a:rPr lang="en-US" sz="3400" b="1" dirty="0">
                <a:solidFill>
                  <a:srgbClr val="1E2761"/>
                </a:solidFill>
                <a:latin typeface="Calibri" pitchFamily="34" charset="0"/>
                <a:ea typeface="Calibri" pitchFamily="34" charset="-122"/>
                <a:cs typeface="Calibri" pitchFamily="34" charset="-120"/>
              </a:rPr>
              <a:t>57.3 Juta</a:t>
            </a:r>
            <a:endParaRPr lang="en-US" sz="3400" dirty="0"/>
          </a:p>
        </p:txBody>
      </p:sp>
      <p:sp>
        <p:nvSpPr>
          <p:cNvPr id="6" name="Text 4"/>
          <p:cNvSpPr/>
          <p:nvPr/>
        </p:nvSpPr>
        <p:spPr>
          <a:xfrm>
            <a:off x="475488" y="1682496"/>
            <a:ext cx="3520440" cy="256032"/>
          </a:xfrm>
          <a:prstGeom prst="rect">
            <a:avLst/>
          </a:prstGeom>
          <a:noFill/>
          <a:ln/>
        </p:spPr>
        <p:txBody>
          <a:bodyPr wrap="square" rtlCol="0" anchor="ctr"/>
          <a:lstStyle/>
          <a:p>
            <a:pPr algn="ctr" indent="0" marL="0">
              <a:buNone/>
            </a:pPr>
            <a:r>
              <a:rPr lang="en-US" sz="1000" dirty="0">
                <a:solidFill>
                  <a:srgbClr val="3D4A6E"/>
                </a:solidFill>
                <a:latin typeface="Calibri" pitchFamily="34" charset="0"/>
                <a:ea typeface="Calibri" pitchFamily="34" charset="-122"/>
                <a:cs typeface="Calibri" pitchFamily="34" charset="-120"/>
              </a:rPr>
              <a:t>Kelas Menengah Tahun 2019  (21.4% populasi)</a:t>
            </a:r>
            <a:endParaRPr lang="en-US" sz="1000" dirty="0"/>
          </a:p>
        </p:txBody>
      </p:sp>
      <p:sp>
        <p:nvSpPr>
          <p:cNvPr id="7" name="Text 5"/>
          <p:cNvSpPr/>
          <p:nvPr/>
        </p:nvSpPr>
        <p:spPr>
          <a:xfrm>
            <a:off x="475488" y="2139696"/>
            <a:ext cx="3520440" cy="347472"/>
          </a:xfrm>
          <a:prstGeom prst="rect">
            <a:avLst/>
          </a:prstGeom>
          <a:noFill/>
          <a:ln/>
        </p:spPr>
        <p:txBody>
          <a:bodyPr wrap="square" rtlCol="0" anchor="ctr"/>
          <a:lstStyle/>
          <a:p>
            <a:pPr algn="ctr" indent="0" marL="0">
              <a:buNone/>
            </a:pPr>
            <a:r>
              <a:rPr lang="en-US" sz="1300" b="1" dirty="0">
                <a:solidFill>
                  <a:srgbClr val="E65100"/>
                </a:solidFill>
                <a:latin typeface="Calibri" pitchFamily="34" charset="0"/>
                <a:ea typeface="Calibri" pitchFamily="34" charset="-122"/>
                <a:cs typeface="Calibri" pitchFamily="34" charset="-120"/>
              </a:rPr>
              <a:t>↓  Turun 18.5% dalam 6 tahun</a:t>
            </a:r>
            <a:endParaRPr lang="en-US" sz="1300" dirty="0"/>
          </a:p>
        </p:txBody>
      </p:sp>
      <p:sp>
        <p:nvSpPr>
          <p:cNvPr id="8" name="Shape 6"/>
          <p:cNvSpPr/>
          <p:nvPr/>
        </p:nvSpPr>
        <p:spPr>
          <a:xfrm>
            <a:off x="475488" y="2560320"/>
            <a:ext cx="3520440" cy="914400"/>
          </a:xfrm>
          <a:prstGeom prst="roundRect">
            <a:avLst>
              <a:gd name="adj" fmla="val 10000"/>
            </a:avLst>
          </a:prstGeom>
          <a:solidFill>
            <a:srgbClr val="FFF3E0"/>
          </a:solidFill>
          <a:ln w="12700">
            <a:solidFill>
              <a:srgbClr val="E65100"/>
            </a:solidFill>
            <a:prstDash val="solid"/>
          </a:ln>
        </p:spPr>
      </p:sp>
      <p:sp>
        <p:nvSpPr>
          <p:cNvPr id="9" name="Text 7"/>
          <p:cNvSpPr/>
          <p:nvPr/>
        </p:nvSpPr>
        <p:spPr>
          <a:xfrm>
            <a:off x="475488" y="2615184"/>
            <a:ext cx="3520440" cy="512064"/>
          </a:xfrm>
          <a:prstGeom prst="rect">
            <a:avLst/>
          </a:prstGeom>
          <a:noFill/>
          <a:ln/>
        </p:spPr>
        <p:txBody>
          <a:bodyPr wrap="square" rtlCol="0" anchor="ctr"/>
          <a:lstStyle/>
          <a:p>
            <a:pPr algn="ctr" indent="0" marL="0">
              <a:buNone/>
            </a:pPr>
            <a:r>
              <a:rPr lang="en-US" sz="3400" b="1" dirty="0">
                <a:solidFill>
                  <a:srgbClr val="C62828"/>
                </a:solidFill>
                <a:latin typeface="Calibri" pitchFamily="34" charset="0"/>
                <a:ea typeface="Calibri" pitchFamily="34" charset="-122"/>
                <a:cs typeface="Calibri" pitchFamily="34" charset="-120"/>
              </a:rPr>
              <a:t>46.7 Juta</a:t>
            </a:r>
            <a:endParaRPr lang="en-US" sz="3400" dirty="0"/>
          </a:p>
        </p:txBody>
      </p:sp>
      <p:sp>
        <p:nvSpPr>
          <p:cNvPr id="10" name="Text 8"/>
          <p:cNvSpPr/>
          <p:nvPr/>
        </p:nvSpPr>
        <p:spPr>
          <a:xfrm>
            <a:off x="475488" y="3127248"/>
            <a:ext cx="3520440" cy="256032"/>
          </a:xfrm>
          <a:prstGeom prst="rect">
            <a:avLst/>
          </a:prstGeom>
          <a:noFill/>
          <a:ln/>
        </p:spPr>
        <p:txBody>
          <a:bodyPr wrap="square" rtlCol="0" anchor="ctr"/>
          <a:lstStyle/>
          <a:p>
            <a:pPr algn="ctr" indent="0" marL="0">
              <a:buNone/>
            </a:pPr>
            <a:r>
              <a:rPr lang="en-US" sz="1000" dirty="0">
                <a:solidFill>
                  <a:srgbClr val="3D4A6E"/>
                </a:solidFill>
                <a:latin typeface="Calibri" pitchFamily="34" charset="0"/>
                <a:ea typeface="Calibri" pitchFamily="34" charset="-122"/>
                <a:cs typeface="Calibri" pitchFamily="34" charset="-120"/>
              </a:rPr>
              <a:t>Kelas Menengah Tahun 2025  (17.1% populasi)</a:t>
            </a:r>
            <a:endParaRPr lang="en-US" sz="1000" dirty="0"/>
          </a:p>
        </p:txBody>
      </p:sp>
      <p:sp>
        <p:nvSpPr>
          <p:cNvPr id="11" name="Shape 9"/>
          <p:cNvSpPr/>
          <p:nvPr/>
        </p:nvSpPr>
        <p:spPr>
          <a:xfrm>
            <a:off x="548640" y="3749040"/>
            <a:ext cx="1051560" cy="987552"/>
          </a:xfrm>
          <a:prstGeom prst="roundRect">
            <a:avLst>
              <a:gd name="adj" fmla="val 7407"/>
            </a:avLst>
          </a:prstGeom>
          <a:solidFill>
            <a:srgbClr val="F0F2FA"/>
          </a:solidFill>
          <a:ln/>
        </p:spPr>
      </p:sp>
      <p:sp>
        <p:nvSpPr>
          <p:cNvPr id="12" name="Text 10"/>
          <p:cNvSpPr/>
          <p:nvPr/>
        </p:nvSpPr>
        <p:spPr>
          <a:xfrm>
            <a:off x="548640" y="3794760"/>
            <a:ext cx="1051560" cy="36576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−1.2 Juta</a:t>
            </a:r>
            <a:endParaRPr lang="en-US" sz="1600" dirty="0"/>
          </a:p>
        </p:txBody>
      </p:sp>
      <p:sp>
        <p:nvSpPr>
          <p:cNvPr id="13" name="Text 11"/>
          <p:cNvSpPr/>
          <p:nvPr/>
        </p:nvSpPr>
        <p:spPr>
          <a:xfrm>
            <a:off x="548640" y="4169664"/>
            <a:ext cx="1051560" cy="502920"/>
          </a:xfrm>
          <a:prstGeom prst="rect">
            <a:avLst/>
          </a:prstGeom>
          <a:noFill/>
          <a:ln/>
        </p:spPr>
        <p:txBody>
          <a:bodyPr wrap="square" rtlCol="0" anchor="ctr"/>
          <a:lstStyle/>
          <a:p>
            <a:pPr algn="ctr" indent="0" marL="0">
              <a:lnSpc>
                <a:spcPct val="110000"/>
              </a:lnSpc>
              <a:buNone/>
            </a:pPr>
            <a:r>
              <a:rPr lang="en-US" sz="900" dirty="0">
                <a:solidFill>
                  <a:srgbClr val="3D4A6E"/>
                </a:solidFill>
                <a:latin typeface="Calibri" pitchFamily="34" charset="0"/>
                <a:ea typeface="Calibri" pitchFamily="34" charset="-122"/>
                <a:cs typeface="Calibri" pitchFamily="34" charset="-120"/>
              </a:rPr>
              <a:t>Penurunan</a:t>
            </a:r>
            <a:endParaRPr lang="en-US" sz="900" dirty="0"/>
          </a:p>
          <a:p>
            <a:pPr algn="ctr" indent="0" marL="0">
              <a:lnSpc>
                <a:spcPct val="110000"/>
              </a:lnSpc>
              <a:buNone/>
            </a:pPr>
            <a:r>
              <a:rPr lang="en-US" sz="900" dirty="0">
                <a:solidFill>
                  <a:srgbClr val="3D4A6E"/>
                </a:solidFill>
                <a:latin typeface="Calibri" pitchFamily="34" charset="0"/>
                <a:ea typeface="Calibri" pitchFamily="34" charset="-122"/>
                <a:cs typeface="Calibri" pitchFamily="34" charset="-120"/>
              </a:rPr>
              <a:t>2024–2025</a:t>
            </a:r>
            <a:endParaRPr lang="en-US" sz="900" dirty="0"/>
          </a:p>
        </p:txBody>
      </p:sp>
      <p:sp>
        <p:nvSpPr>
          <p:cNvPr id="14" name="Shape 12"/>
          <p:cNvSpPr/>
          <p:nvPr/>
        </p:nvSpPr>
        <p:spPr>
          <a:xfrm>
            <a:off x="1691640" y="3749040"/>
            <a:ext cx="1051560" cy="987552"/>
          </a:xfrm>
          <a:prstGeom prst="roundRect">
            <a:avLst>
              <a:gd name="adj" fmla="val 7407"/>
            </a:avLst>
          </a:prstGeom>
          <a:solidFill>
            <a:srgbClr val="F0F2FA"/>
          </a:solidFill>
          <a:ln/>
        </p:spPr>
      </p:sp>
      <p:sp>
        <p:nvSpPr>
          <p:cNvPr id="15" name="Text 13"/>
          <p:cNvSpPr/>
          <p:nvPr/>
        </p:nvSpPr>
        <p:spPr>
          <a:xfrm>
            <a:off x="1691640" y="3794760"/>
            <a:ext cx="1051560" cy="36576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59%</a:t>
            </a:r>
            <a:endParaRPr lang="en-US" sz="1600" dirty="0"/>
          </a:p>
        </p:txBody>
      </p:sp>
      <p:sp>
        <p:nvSpPr>
          <p:cNvPr id="16" name="Text 14"/>
          <p:cNvSpPr/>
          <p:nvPr/>
        </p:nvSpPr>
        <p:spPr>
          <a:xfrm>
            <a:off x="1691640" y="4169664"/>
            <a:ext cx="1051560" cy="502920"/>
          </a:xfrm>
          <a:prstGeom prst="rect">
            <a:avLst/>
          </a:prstGeom>
          <a:noFill/>
          <a:ln/>
        </p:spPr>
        <p:txBody>
          <a:bodyPr wrap="square" rtlCol="0" anchor="ctr"/>
          <a:lstStyle/>
          <a:p>
            <a:pPr algn="ctr" indent="0" marL="0">
              <a:lnSpc>
                <a:spcPct val="110000"/>
              </a:lnSpc>
              <a:buNone/>
            </a:pPr>
            <a:r>
              <a:rPr lang="en-US" sz="900" dirty="0">
                <a:solidFill>
                  <a:srgbClr val="3D4A6E"/>
                </a:solidFill>
                <a:latin typeface="Calibri" pitchFamily="34" charset="0"/>
                <a:ea typeface="Calibri" pitchFamily="34" charset="-122"/>
                <a:cs typeface="Calibri" pitchFamily="34" charset="-120"/>
              </a:rPr>
              <a:t>Pekerja punya</a:t>
            </a:r>
            <a:endParaRPr lang="en-US" sz="900" dirty="0"/>
          </a:p>
          <a:p>
            <a:pPr algn="ctr" indent="0" marL="0">
              <a:lnSpc>
                <a:spcPct val="110000"/>
              </a:lnSpc>
              <a:buNone/>
            </a:pPr>
            <a:r>
              <a:rPr lang="en-US" sz="900" dirty="0">
                <a:solidFill>
                  <a:srgbClr val="3D4A6E"/>
                </a:solidFill>
                <a:latin typeface="Calibri" pitchFamily="34" charset="0"/>
                <a:ea typeface="Calibri" pitchFamily="34" charset="-122"/>
                <a:cs typeface="Calibri" pitchFamily="34" charset="-120"/>
              </a:rPr>
              <a:t>pekerjaan formal</a:t>
            </a:r>
            <a:endParaRPr lang="en-US" sz="900" dirty="0"/>
          </a:p>
        </p:txBody>
      </p:sp>
      <p:sp>
        <p:nvSpPr>
          <p:cNvPr id="17" name="Shape 15"/>
          <p:cNvSpPr/>
          <p:nvPr/>
        </p:nvSpPr>
        <p:spPr>
          <a:xfrm>
            <a:off x="2834640" y="3749040"/>
            <a:ext cx="1051560" cy="987552"/>
          </a:xfrm>
          <a:prstGeom prst="roundRect">
            <a:avLst>
              <a:gd name="adj" fmla="val 7407"/>
            </a:avLst>
          </a:prstGeom>
          <a:solidFill>
            <a:srgbClr val="F0F2FA"/>
          </a:solidFill>
          <a:ln/>
        </p:spPr>
      </p:sp>
      <p:sp>
        <p:nvSpPr>
          <p:cNvPr id="18" name="Text 16"/>
          <p:cNvSpPr/>
          <p:nvPr/>
        </p:nvSpPr>
        <p:spPr>
          <a:xfrm>
            <a:off x="2834640" y="3794760"/>
            <a:ext cx="1051560" cy="365760"/>
          </a:xfrm>
          <a:prstGeom prst="rect">
            <a:avLst/>
          </a:prstGeom>
          <a:noFill/>
          <a:ln/>
        </p:spPr>
        <p:txBody>
          <a:bodyPr wrap="square"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−1.1%/thn</a:t>
            </a:r>
            <a:endParaRPr lang="en-US" sz="1600" dirty="0"/>
          </a:p>
        </p:txBody>
      </p:sp>
      <p:sp>
        <p:nvSpPr>
          <p:cNvPr id="19" name="Text 17"/>
          <p:cNvSpPr/>
          <p:nvPr/>
        </p:nvSpPr>
        <p:spPr>
          <a:xfrm>
            <a:off x="2834640" y="4169664"/>
            <a:ext cx="1051560" cy="502920"/>
          </a:xfrm>
          <a:prstGeom prst="rect">
            <a:avLst/>
          </a:prstGeom>
          <a:noFill/>
          <a:ln/>
        </p:spPr>
        <p:txBody>
          <a:bodyPr wrap="square" rtlCol="0" anchor="ctr"/>
          <a:lstStyle/>
          <a:p>
            <a:pPr algn="ctr" indent="0" marL="0">
              <a:lnSpc>
                <a:spcPct val="110000"/>
              </a:lnSpc>
              <a:buNone/>
            </a:pPr>
            <a:r>
              <a:rPr lang="en-US" sz="900" dirty="0">
                <a:solidFill>
                  <a:srgbClr val="3D4A6E"/>
                </a:solidFill>
                <a:latin typeface="Calibri" pitchFamily="34" charset="0"/>
                <a:ea typeface="Calibri" pitchFamily="34" charset="-122"/>
                <a:cs typeface="Calibri" pitchFamily="34" charset="-120"/>
              </a:rPr>
              <a:t>Penurunan upah</a:t>
            </a:r>
            <a:endParaRPr lang="en-US" sz="900" dirty="0"/>
          </a:p>
          <a:p>
            <a:pPr algn="ctr" indent="0" marL="0">
              <a:lnSpc>
                <a:spcPct val="110000"/>
              </a:lnSpc>
              <a:buNone/>
            </a:pPr>
            <a:r>
              <a:rPr lang="en-US" sz="900" dirty="0">
                <a:solidFill>
                  <a:srgbClr val="3D4A6E"/>
                </a:solidFill>
                <a:latin typeface="Calibri" pitchFamily="34" charset="0"/>
                <a:ea typeface="Calibri" pitchFamily="34" charset="-122"/>
                <a:cs typeface="Calibri" pitchFamily="34" charset="-120"/>
              </a:rPr>
              <a:t>riil 2018–2024</a:t>
            </a:r>
            <a:endParaRPr lang="en-US" sz="900" dirty="0"/>
          </a:p>
        </p:txBody>
      </p:sp>
      <p:graphicFrame>
        <p:nvGraphicFramePr>
          <p:cNvPr id="20" name="Chart 0" descr=""/>
          <p:cNvGraphicFramePr/>
          <p:nvPr/>
        </p:nvGraphicFramePr>
        <p:xfrm>
          <a:off x="4297680" y="1051560"/>
          <a:ext cx="4370832" cy="3730752"/>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E52"/>
        </a:solidFill>
      </p:bgPr>
    </p:bg>
    <p:spTree>
      <p:nvGrpSpPr>
        <p:cNvPr id="1" name=""/>
        <p:cNvGrpSpPr/>
        <p:nvPr/>
      </p:nvGrpSpPr>
      <p:grpSpPr>
        <a:xfrm>
          <a:off x="0" y="0"/>
          <a:ext cx="0" cy="0"/>
          <a:chOff x="0" y="0"/>
          <a:chExt cx="0" cy="0"/>
        </a:xfrm>
      </p:grpSpPr>
      <p:sp>
        <p:nvSpPr>
          <p:cNvPr id="2" name="Text 0"/>
          <p:cNvSpPr/>
          <p:nvPr/>
        </p:nvSpPr>
        <p:spPr>
          <a:xfrm>
            <a:off x="502920" y="237744"/>
            <a:ext cx="8229600" cy="512064"/>
          </a:xfrm>
          <a:prstGeom prst="rect">
            <a:avLst/>
          </a:prstGeom>
          <a:noFill/>
          <a:ln/>
        </p:spPr>
        <p:txBody>
          <a:bodyPr wrap="square"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Fenomena Downtrading: Konsumen Bergerak ke Bawah</a:t>
            </a:r>
            <a:endParaRPr lang="en-US" sz="2600" dirty="0"/>
          </a:p>
        </p:txBody>
      </p:sp>
      <p:sp>
        <p:nvSpPr>
          <p:cNvPr id="3" name="Text 1"/>
          <p:cNvSpPr/>
          <p:nvPr/>
        </p:nvSpPr>
        <p:spPr>
          <a:xfrm>
            <a:off x="502920" y="749808"/>
            <a:ext cx="8229600" cy="274320"/>
          </a:xfrm>
          <a:prstGeom prst="rect">
            <a:avLst/>
          </a:prstGeom>
          <a:noFill/>
          <a:ln/>
        </p:spPr>
        <p:txBody>
          <a:bodyPr wrap="square" rtlCol="0" anchor="ctr"/>
          <a:lstStyle/>
          <a:p>
            <a:pPr algn="l" indent="0" marL="0">
              <a:buNone/>
            </a:pPr>
            <a:r>
              <a:rPr lang="en-US" sz="1300" dirty="0">
                <a:solidFill>
                  <a:srgbClr val="8891B4"/>
                </a:solidFill>
                <a:latin typeface="Calibri" pitchFamily="34" charset="0"/>
                <a:ea typeface="Calibri" pitchFamily="34" charset="-122"/>
                <a:cs typeface="Calibri" pitchFamily="34" charset="-120"/>
              </a:rPr>
              <a:t>Downtrading bukan hanya tren Indonesia — ini fenomena global yang mengubah siapa pemenang retail</a:t>
            </a:r>
            <a:endParaRPr lang="en-US" sz="1300" dirty="0"/>
          </a:p>
        </p:txBody>
      </p:sp>
      <p:sp>
        <p:nvSpPr>
          <p:cNvPr id="4" name="Shape 2"/>
          <p:cNvSpPr/>
          <p:nvPr/>
        </p:nvSpPr>
        <p:spPr>
          <a:xfrm>
            <a:off x="502920" y="1078992"/>
            <a:ext cx="2606040" cy="1828800"/>
          </a:xfrm>
          <a:prstGeom prst="roundRect">
            <a:avLst>
              <a:gd name="adj" fmla="val 6000"/>
            </a:avLst>
          </a:prstGeom>
          <a:solidFill>
            <a:srgbClr val="2A3580"/>
          </a:solidFill>
          <a:ln w="12700">
            <a:solidFill>
              <a:srgbClr val="C62828"/>
            </a:solidFill>
            <a:prstDash val="solid"/>
          </a:ln>
        </p:spPr>
      </p:sp>
      <p:sp>
        <p:nvSpPr>
          <p:cNvPr id="5" name="Text 3"/>
          <p:cNvSpPr/>
          <p:nvPr/>
        </p:nvSpPr>
        <p:spPr>
          <a:xfrm>
            <a:off x="502920" y="1170432"/>
            <a:ext cx="2606040" cy="731520"/>
          </a:xfrm>
          <a:prstGeom prst="rect">
            <a:avLst/>
          </a:prstGeom>
          <a:noFill/>
          <a:ln/>
        </p:spPr>
        <p:txBody>
          <a:bodyPr wrap="square" rtlCol="0" anchor="ctr"/>
          <a:lstStyle/>
          <a:p>
            <a:pPr algn="ctr" indent="0" marL="0">
              <a:buNone/>
            </a:pPr>
            <a:r>
              <a:rPr lang="en-US" sz="4200" b="1" dirty="0">
                <a:solidFill>
                  <a:srgbClr val="C62828"/>
                </a:solidFill>
                <a:latin typeface="Calibri" pitchFamily="34" charset="0"/>
                <a:ea typeface="Calibri" pitchFamily="34" charset="-122"/>
                <a:cs typeface="Calibri" pitchFamily="34" charset="-120"/>
              </a:rPr>
              <a:t>−17.5%</a:t>
            </a:r>
            <a:endParaRPr lang="en-US" sz="4200" dirty="0"/>
          </a:p>
        </p:txBody>
      </p:sp>
      <p:sp>
        <p:nvSpPr>
          <p:cNvPr id="6" name="Text 4"/>
          <p:cNvSpPr/>
          <p:nvPr/>
        </p:nvSpPr>
        <p:spPr>
          <a:xfrm>
            <a:off x="502920" y="1901952"/>
            <a:ext cx="2606040" cy="502920"/>
          </a:xfrm>
          <a:prstGeom prst="rect">
            <a:avLst/>
          </a:prstGeom>
          <a:noFill/>
          <a:ln/>
        </p:spPr>
        <p:txBody>
          <a:bodyPr wrap="square" rtlCol="0" anchor="ctr"/>
          <a:lstStyle/>
          <a:p>
            <a:pPr algn="ctr" indent="0" marL="0">
              <a:lnSpc>
                <a:spcPct val="110000"/>
              </a:lnSpc>
              <a:buNone/>
            </a:pPr>
            <a:r>
              <a:rPr lang="en-US" sz="1100" dirty="0">
                <a:solidFill>
                  <a:srgbClr val="8891B4"/>
                </a:solidFill>
                <a:latin typeface="Calibri" pitchFamily="34" charset="0"/>
                <a:ea typeface="Calibri" pitchFamily="34" charset="-122"/>
                <a:cs typeface="Calibri" pitchFamily="34" charset="-120"/>
              </a:rPr>
              <a:t>Basis konsumen luxury</a:t>
            </a:r>
            <a:endParaRPr lang="en-US" sz="1100" dirty="0"/>
          </a:p>
          <a:p>
            <a:pPr algn="ctr" indent="0" marL="0">
              <a:lnSpc>
                <a:spcPct val="110000"/>
              </a:lnSpc>
              <a:buNone/>
            </a:pPr>
            <a:r>
              <a:rPr lang="en-US" sz="1100" dirty="0">
                <a:solidFill>
                  <a:srgbClr val="8891B4"/>
                </a:solidFill>
                <a:latin typeface="Calibri" pitchFamily="34" charset="0"/>
                <a:ea typeface="Calibri" pitchFamily="34" charset="-122"/>
                <a:cs typeface="Calibri" pitchFamily="34" charset="-120"/>
              </a:rPr>
              <a:t>global (400M → 330M)</a:t>
            </a:r>
            <a:endParaRPr lang="en-US" sz="1100" dirty="0"/>
          </a:p>
        </p:txBody>
      </p:sp>
      <p:sp>
        <p:nvSpPr>
          <p:cNvPr id="7" name="Shape 5"/>
          <p:cNvSpPr/>
          <p:nvPr/>
        </p:nvSpPr>
        <p:spPr>
          <a:xfrm>
            <a:off x="3337560" y="1078992"/>
            <a:ext cx="1783080" cy="1828800"/>
          </a:xfrm>
          <a:prstGeom prst="roundRect">
            <a:avLst>
              <a:gd name="adj" fmla="val 5128"/>
            </a:avLst>
          </a:prstGeom>
          <a:solidFill>
            <a:srgbClr val="2A3580"/>
          </a:solidFill>
          <a:ln w="12700">
            <a:solidFill>
              <a:srgbClr val="00695C"/>
            </a:solidFill>
            <a:prstDash val="solid"/>
          </a:ln>
        </p:spPr>
      </p:sp>
      <p:sp>
        <p:nvSpPr>
          <p:cNvPr id="8" name="Text 6"/>
          <p:cNvSpPr/>
          <p:nvPr/>
        </p:nvSpPr>
        <p:spPr>
          <a:xfrm>
            <a:off x="3995928" y="1152144"/>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3429000" y="1682496"/>
            <a:ext cx="160020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Kopi Kenangan</a:t>
            </a:r>
            <a:endParaRPr lang="en-US" sz="1200" dirty="0"/>
          </a:p>
        </p:txBody>
      </p:sp>
      <p:sp>
        <p:nvSpPr>
          <p:cNvPr id="10" name="Text 8"/>
          <p:cNvSpPr/>
          <p:nvPr/>
        </p:nvSpPr>
        <p:spPr>
          <a:xfrm>
            <a:off x="3429000" y="1956816"/>
            <a:ext cx="1600200" cy="201168"/>
          </a:xfrm>
          <a:prstGeom prst="rect">
            <a:avLst/>
          </a:prstGeom>
          <a:noFill/>
          <a:ln/>
        </p:spPr>
        <p:txBody>
          <a:bodyPr wrap="square" rtlCol="0" anchor="ctr"/>
          <a:lstStyle/>
          <a:p>
            <a:pPr algn="ctr" indent="0" marL="0">
              <a:buNone/>
            </a:pPr>
            <a:r>
              <a:rPr lang="en-US" sz="900" dirty="0">
                <a:solidFill>
                  <a:srgbClr val="00695C"/>
                </a:solidFill>
                <a:latin typeface="Calibri" pitchFamily="34" charset="0"/>
                <a:ea typeface="Calibri" pitchFamily="34" charset="-122"/>
                <a:cs typeface="Calibri" pitchFamily="34" charset="-120"/>
              </a:rPr>
              <a:t>vs Starbucks</a:t>
            </a:r>
            <a:endParaRPr lang="en-US" sz="900" dirty="0"/>
          </a:p>
        </p:txBody>
      </p:sp>
      <p:sp>
        <p:nvSpPr>
          <p:cNvPr id="11" name="Text 9"/>
          <p:cNvSpPr/>
          <p:nvPr/>
        </p:nvSpPr>
        <p:spPr>
          <a:xfrm>
            <a:off x="3429000" y="2176272"/>
            <a:ext cx="1600200" cy="256032"/>
          </a:xfrm>
          <a:prstGeom prst="rect">
            <a:avLst/>
          </a:prstGeom>
          <a:noFill/>
          <a:ln/>
        </p:spPr>
        <p:txBody>
          <a:bodyPr wrap="square" rtlCol="0" anchor="ctr"/>
          <a:lstStyle/>
          <a:p>
            <a:pPr algn="ctr" indent="0" marL="0">
              <a:buNone/>
            </a:pPr>
            <a:r>
              <a:rPr lang="en-US" sz="1300" b="1" dirty="0">
                <a:solidFill>
                  <a:srgbClr val="E8A020"/>
                </a:solidFill>
                <a:latin typeface="Calibri" pitchFamily="34" charset="0"/>
                <a:ea typeface="Calibri" pitchFamily="34" charset="-122"/>
                <a:cs typeface="Calibri" pitchFamily="34" charset="-120"/>
              </a:rPr>
              <a:t>1,324 Toko</a:t>
            </a:r>
            <a:endParaRPr lang="en-US" sz="1300" dirty="0"/>
          </a:p>
        </p:txBody>
      </p:sp>
      <p:sp>
        <p:nvSpPr>
          <p:cNvPr id="12" name="Text 10"/>
          <p:cNvSpPr/>
          <p:nvPr/>
        </p:nvSpPr>
        <p:spPr>
          <a:xfrm>
            <a:off x="3410712" y="2450592"/>
            <a:ext cx="1664208" cy="411480"/>
          </a:xfrm>
          <a:prstGeom prst="rect">
            <a:avLst/>
          </a:prstGeom>
          <a:noFill/>
          <a:ln/>
        </p:spPr>
        <p:txBody>
          <a:bodyPr wrap="square" rtlCol="0" anchor="ctr"/>
          <a:lstStyle/>
          <a:p>
            <a:pPr algn="ctr" indent="0" marL="0">
              <a:lnSpc>
                <a:spcPct val="110000"/>
              </a:lnSpc>
              <a:buNone/>
            </a:pPr>
            <a:r>
              <a:rPr lang="en-US" sz="850" dirty="0">
                <a:solidFill>
                  <a:srgbClr val="8891B4"/>
                </a:solidFill>
                <a:latin typeface="Calibri" pitchFamily="34" charset="0"/>
                <a:ea typeface="Calibri" pitchFamily="34" charset="-122"/>
                <a:cs typeface="Calibri" pitchFamily="34" charset="-120"/>
              </a:rPr>
              <a:t>Revenue $184M, tahun pertama profitable. Kopi lokal harga terjangkau mengalahkan brand premium global.</a:t>
            </a:r>
            <a:endParaRPr lang="en-US" sz="850" dirty="0"/>
          </a:p>
        </p:txBody>
      </p:sp>
      <p:sp>
        <p:nvSpPr>
          <p:cNvPr id="13" name="Shape 11"/>
          <p:cNvSpPr/>
          <p:nvPr/>
        </p:nvSpPr>
        <p:spPr>
          <a:xfrm>
            <a:off x="5257800" y="1078992"/>
            <a:ext cx="1783080" cy="1828800"/>
          </a:xfrm>
          <a:prstGeom prst="roundRect">
            <a:avLst>
              <a:gd name="adj" fmla="val 5128"/>
            </a:avLst>
          </a:prstGeom>
          <a:solidFill>
            <a:srgbClr val="2A3580"/>
          </a:solidFill>
          <a:ln w="12700">
            <a:solidFill>
              <a:srgbClr val="1E2761"/>
            </a:solidFill>
            <a:prstDash val="solid"/>
          </a:ln>
        </p:spPr>
      </p:sp>
      <p:sp>
        <p:nvSpPr>
          <p:cNvPr id="14" name="Text 12"/>
          <p:cNvSpPr/>
          <p:nvPr/>
        </p:nvSpPr>
        <p:spPr>
          <a:xfrm>
            <a:off x="5916168" y="1152144"/>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5349240" y="1682496"/>
            <a:ext cx="160020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BYD</a:t>
            </a:r>
            <a:endParaRPr lang="en-US" sz="1200" dirty="0"/>
          </a:p>
        </p:txBody>
      </p:sp>
      <p:sp>
        <p:nvSpPr>
          <p:cNvPr id="16" name="Text 14"/>
          <p:cNvSpPr/>
          <p:nvPr/>
        </p:nvSpPr>
        <p:spPr>
          <a:xfrm>
            <a:off x="5349240" y="1956816"/>
            <a:ext cx="1600200" cy="201168"/>
          </a:xfrm>
          <a:prstGeom prst="rect">
            <a:avLst/>
          </a:prstGeom>
          <a:noFill/>
          <a:ln/>
        </p:spPr>
        <p:txBody>
          <a:bodyPr wrap="square" rtlCol="0" anchor="ctr"/>
          <a:lstStyle/>
          <a:p>
            <a:pPr algn="ctr" indent="0" marL="0">
              <a:buNone/>
            </a:pPr>
            <a:r>
              <a:rPr lang="en-US" sz="900" dirty="0">
                <a:solidFill>
                  <a:srgbClr val="1E2761"/>
                </a:solidFill>
                <a:latin typeface="Calibri" pitchFamily="34" charset="0"/>
                <a:ea typeface="Calibri" pitchFamily="34" charset="-122"/>
                <a:cs typeface="Calibri" pitchFamily="34" charset="-120"/>
              </a:rPr>
              <a:t>vs Tesla</a:t>
            </a:r>
            <a:endParaRPr lang="en-US" sz="900" dirty="0"/>
          </a:p>
        </p:txBody>
      </p:sp>
      <p:sp>
        <p:nvSpPr>
          <p:cNvPr id="17" name="Text 15"/>
          <p:cNvSpPr/>
          <p:nvPr/>
        </p:nvSpPr>
        <p:spPr>
          <a:xfrm>
            <a:off x="5349240" y="2176272"/>
            <a:ext cx="1600200" cy="256032"/>
          </a:xfrm>
          <a:prstGeom prst="rect">
            <a:avLst/>
          </a:prstGeom>
          <a:noFill/>
          <a:ln/>
        </p:spPr>
        <p:txBody>
          <a:bodyPr wrap="square" rtlCol="0" anchor="ctr"/>
          <a:lstStyle/>
          <a:p>
            <a:pPr algn="ctr" indent="0" marL="0">
              <a:buNone/>
            </a:pPr>
            <a:r>
              <a:rPr lang="en-US" sz="1300" b="1" dirty="0">
                <a:solidFill>
                  <a:srgbClr val="E8A020"/>
                </a:solidFill>
                <a:latin typeface="Calibri" pitchFamily="34" charset="0"/>
                <a:ea typeface="Calibri" pitchFamily="34" charset="-122"/>
                <a:cs typeface="Calibri" pitchFamily="34" charset="-120"/>
              </a:rPr>
              <a:t>2.26 Juta Unit</a:t>
            </a:r>
            <a:endParaRPr lang="en-US" sz="1300" dirty="0"/>
          </a:p>
        </p:txBody>
      </p:sp>
      <p:sp>
        <p:nvSpPr>
          <p:cNvPr id="18" name="Text 16"/>
          <p:cNvSpPr/>
          <p:nvPr/>
        </p:nvSpPr>
        <p:spPr>
          <a:xfrm>
            <a:off x="5330952" y="2450592"/>
            <a:ext cx="1664208" cy="411480"/>
          </a:xfrm>
          <a:prstGeom prst="rect">
            <a:avLst/>
          </a:prstGeom>
          <a:noFill/>
          <a:ln/>
        </p:spPr>
        <p:txBody>
          <a:bodyPr wrap="square" rtlCol="0" anchor="ctr"/>
          <a:lstStyle/>
          <a:p>
            <a:pPr algn="ctr" indent="0" marL="0">
              <a:lnSpc>
                <a:spcPct val="110000"/>
              </a:lnSpc>
              <a:buNone/>
            </a:pPr>
            <a:r>
              <a:rPr lang="en-US" sz="850" dirty="0">
                <a:solidFill>
                  <a:srgbClr val="8891B4"/>
                </a:solidFill>
                <a:latin typeface="Calibri" pitchFamily="34" charset="0"/>
                <a:ea typeface="Calibri" pitchFamily="34" charset="-122"/>
                <a:cs typeface="Calibri" pitchFamily="34" charset="-120"/>
              </a:rPr>
              <a:t>BYD menjual 2x lebih banyak dari Tesla pada 2024. EV terjangkau mengalahkan EV premium.</a:t>
            </a:r>
            <a:endParaRPr lang="en-US" sz="850" dirty="0"/>
          </a:p>
        </p:txBody>
      </p:sp>
      <p:sp>
        <p:nvSpPr>
          <p:cNvPr id="19" name="Shape 17"/>
          <p:cNvSpPr/>
          <p:nvPr/>
        </p:nvSpPr>
        <p:spPr>
          <a:xfrm>
            <a:off x="7178040" y="1078992"/>
            <a:ext cx="1783080" cy="1828800"/>
          </a:xfrm>
          <a:prstGeom prst="roundRect">
            <a:avLst>
              <a:gd name="adj" fmla="val 5128"/>
            </a:avLst>
          </a:prstGeom>
          <a:solidFill>
            <a:srgbClr val="2A3580"/>
          </a:solidFill>
          <a:ln w="12700">
            <a:solidFill>
              <a:srgbClr val="C8860A"/>
            </a:solidFill>
            <a:prstDash val="solid"/>
          </a:ln>
        </p:spPr>
      </p:sp>
      <p:sp>
        <p:nvSpPr>
          <p:cNvPr id="20" name="Text 18"/>
          <p:cNvSpPr/>
          <p:nvPr/>
        </p:nvSpPr>
        <p:spPr>
          <a:xfrm>
            <a:off x="7836408" y="1152144"/>
            <a:ext cx="502920" cy="50292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Text 19"/>
          <p:cNvSpPr/>
          <p:nvPr/>
        </p:nvSpPr>
        <p:spPr>
          <a:xfrm>
            <a:off x="7269480" y="1682496"/>
            <a:ext cx="1600200" cy="2743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AZKO (Ace Hdw)</a:t>
            </a:r>
            <a:endParaRPr lang="en-US" sz="1200" dirty="0"/>
          </a:p>
        </p:txBody>
      </p:sp>
      <p:sp>
        <p:nvSpPr>
          <p:cNvPr id="22" name="Text 20"/>
          <p:cNvSpPr/>
          <p:nvPr/>
        </p:nvSpPr>
        <p:spPr>
          <a:xfrm>
            <a:off x="7269480" y="1956816"/>
            <a:ext cx="1600200" cy="201168"/>
          </a:xfrm>
          <a:prstGeom prst="rect">
            <a:avLst/>
          </a:prstGeom>
          <a:noFill/>
          <a:ln/>
        </p:spPr>
        <p:txBody>
          <a:bodyPr wrap="square" rtlCol="0" anchor="ctr"/>
          <a:lstStyle/>
          <a:p>
            <a:pPr algn="ctr" indent="0" marL="0">
              <a:buNone/>
            </a:pPr>
            <a:r>
              <a:rPr lang="en-US" sz="900" dirty="0">
                <a:solidFill>
                  <a:srgbClr val="C8860A"/>
                </a:solidFill>
                <a:latin typeface="Calibri" pitchFamily="34" charset="0"/>
                <a:ea typeface="Calibri" pitchFamily="34" charset="-122"/>
                <a:cs typeface="Calibri" pitchFamily="34" charset="-120"/>
              </a:rPr>
              <a:t>→ Inspirasi</a:t>
            </a:r>
            <a:endParaRPr lang="en-US" sz="900" dirty="0"/>
          </a:p>
        </p:txBody>
      </p:sp>
      <p:sp>
        <p:nvSpPr>
          <p:cNvPr id="23" name="Text 21"/>
          <p:cNvSpPr/>
          <p:nvPr/>
        </p:nvSpPr>
        <p:spPr>
          <a:xfrm>
            <a:off x="7269480" y="2176272"/>
            <a:ext cx="1600200" cy="256032"/>
          </a:xfrm>
          <a:prstGeom prst="rect">
            <a:avLst/>
          </a:prstGeom>
          <a:noFill/>
          <a:ln/>
        </p:spPr>
        <p:txBody>
          <a:bodyPr wrap="square" rtlCol="0" anchor="ctr"/>
          <a:lstStyle/>
          <a:p>
            <a:pPr algn="ctr" indent="0" marL="0">
              <a:buNone/>
            </a:pPr>
            <a:r>
              <a:rPr lang="en-US" sz="1300" b="1" dirty="0">
                <a:solidFill>
                  <a:srgbClr val="E8A020"/>
                </a:solidFill>
                <a:latin typeface="Calibri" pitchFamily="34" charset="0"/>
                <a:ea typeface="Calibri" pitchFamily="34" charset="-122"/>
                <a:cs typeface="Calibri" pitchFamily="34" charset="-120"/>
              </a:rPr>
              <a:t>6,780 m²</a:t>
            </a:r>
            <a:endParaRPr lang="en-US" sz="1300" dirty="0"/>
          </a:p>
        </p:txBody>
      </p:sp>
      <p:sp>
        <p:nvSpPr>
          <p:cNvPr id="24" name="Text 22"/>
          <p:cNvSpPr/>
          <p:nvPr/>
        </p:nvSpPr>
        <p:spPr>
          <a:xfrm>
            <a:off x="7251192" y="2450592"/>
            <a:ext cx="1664208" cy="411480"/>
          </a:xfrm>
          <a:prstGeom prst="rect">
            <a:avLst/>
          </a:prstGeom>
          <a:noFill/>
          <a:ln/>
        </p:spPr>
        <p:txBody>
          <a:bodyPr wrap="square" rtlCol="0" anchor="ctr"/>
          <a:lstStyle/>
          <a:p>
            <a:pPr algn="ctr" indent="0" marL="0">
              <a:lnSpc>
                <a:spcPct val="110000"/>
              </a:lnSpc>
              <a:buNone/>
            </a:pPr>
            <a:r>
              <a:rPr lang="en-US" sz="850" dirty="0">
                <a:solidFill>
                  <a:srgbClr val="8891B4"/>
                </a:solidFill>
                <a:latin typeface="Calibri" pitchFamily="34" charset="0"/>
                <a:ea typeface="Calibri" pitchFamily="34" charset="-122"/>
                <a:cs typeface="Calibri" pitchFamily="34" charset="-120"/>
              </a:rPr>
              <a:t>Rebrand Januari 2025: dari Ace Hardware transaksional ke "ruang inspirasi" 6.780m² — merespons consumer baru.</a:t>
            </a:r>
            <a:endParaRPr lang="en-US" sz="850" dirty="0"/>
          </a:p>
        </p:txBody>
      </p:sp>
      <p:sp>
        <p:nvSpPr>
          <p:cNvPr id="25" name="Text 23"/>
          <p:cNvSpPr/>
          <p:nvPr/>
        </p:nvSpPr>
        <p:spPr>
          <a:xfrm>
            <a:off x="502920" y="3044952"/>
            <a:ext cx="8229600" cy="256032"/>
          </a:xfrm>
          <a:prstGeom prst="rect">
            <a:avLst/>
          </a:prstGeom>
          <a:noFill/>
          <a:ln/>
        </p:spPr>
        <p:txBody>
          <a:bodyPr wrap="square" rtlCol="0" anchor="ctr"/>
          <a:lstStyle/>
          <a:p>
            <a:pPr algn="l" indent="0" marL="0">
              <a:buNone/>
            </a:pPr>
            <a:r>
              <a:rPr lang="en-US" sz="1100" b="1" dirty="0">
                <a:solidFill>
                  <a:srgbClr val="E8A020"/>
                </a:solidFill>
                <a:latin typeface="Calibri" pitchFamily="34" charset="0"/>
                <a:ea typeface="Calibri" pitchFamily="34" charset="-122"/>
                <a:cs typeface="Calibri" pitchFamily="34" charset="-120"/>
              </a:rPr>
              <a:t>4 PEMICU UTAMA DOWNTRADING</a:t>
            </a:r>
            <a:endParaRPr lang="en-US" sz="1100" dirty="0"/>
          </a:p>
        </p:txBody>
      </p:sp>
      <p:sp>
        <p:nvSpPr>
          <p:cNvPr id="26" name="Shape 24"/>
          <p:cNvSpPr/>
          <p:nvPr/>
        </p:nvSpPr>
        <p:spPr>
          <a:xfrm>
            <a:off x="502920" y="3383280"/>
            <a:ext cx="1993392" cy="1417320"/>
          </a:xfrm>
          <a:prstGeom prst="roundRect">
            <a:avLst>
              <a:gd name="adj" fmla="val 6452"/>
            </a:avLst>
          </a:prstGeom>
          <a:solidFill>
            <a:srgbClr val="2A3580"/>
          </a:solidFill>
          <a:ln/>
        </p:spPr>
      </p:sp>
      <p:sp>
        <p:nvSpPr>
          <p:cNvPr id="27" name="Shape 25"/>
          <p:cNvSpPr/>
          <p:nvPr/>
        </p:nvSpPr>
        <p:spPr>
          <a:xfrm>
            <a:off x="1271016" y="3438144"/>
            <a:ext cx="475488" cy="475488"/>
          </a:xfrm>
          <a:prstGeom prst="ellipse">
            <a:avLst/>
          </a:prstGeom>
          <a:solidFill>
            <a:srgbClr val="E8A020"/>
          </a:solidFill>
          <a:ln/>
        </p:spPr>
      </p:sp>
      <p:sp>
        <p:nvSpPr>
          <p:cNvPr id="28" name="Text 26"/>
          <p:cNvSpPr/>
          <p:nvPr/>
        </p:nvSpPr>
        <p:spPr>
          <a:xfrm>
            <a:off x="1271016" y="3438144"/>
            <a:ext cx="475488" cy="475488"/>
          </a:xfrm>
          <a:prstGeom prst="rect">
            <a:avLst/>
          </a:prstGeom>
          <a:noFill/>
          <a:ln/>
        </p:spPr>
        <p:txBody>
          <a:bodyPr wrap="square" lIns="0" tIns="0" rIns="0" bIns="0" rtlCol="0" anchor="ctr"/>
          <a:lstStyle/>
          <a:p>
            <a:pPr algn="ctr" indent="0" marL="0">
              <a:buNone/>
            </a:pPr>
            <a:r>
              <a:rPr lang="en-US" sz="1500" b="1" dirty="0">
                <a:solidFill>
                  <a:srgbClr val="141E52"/>
                </a:solidFill>
                <a:latin typeface="Calibri" pitchFamily="34" charset="0"/>
                <a:ea typeface="Calibri" pitchFamily="34" charset="-122"/>
                <a:cs typeface="Calibri" pitchFamily="34" charset="-120"/>
              </a:rPr>
              <a:t>1</a:t>
            </a:r>
            <a:endParaRPr lang="en-US" sz="1500" dirty="0"/>
          </a:p>
        </p:txBody>
      </p:sp>
      <p:sp>
        <p:nvSpPr>
          <p:cNvPr id="29" name="Text 27"/>
          <p:cNvSpPr/>
          <p:nvPr/>
        </p:nvSpPr>
        <p:spPr>
          <a:xfrm>
            <a:off x="594360" y="3950208"/>
            <a:ext cx="1810512" cy="402336"/>
          </a:xfrm>
          <a:prstGeom prst="rect">
            <a:avLst/>
          </a:prstGeom>
          <a:noFill/>
          <a:ln/>
        </p:spPr>
        <p:txBody>
          <a:bodyPr wrap="square"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Tekanan</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Ekonomi</a:t>
            </a:r>
            <a:endParaRPr lang="en-US" sz="1200" dirty="0"/>
          </a:p>
        </p:txBody>
      </p:sp>
      <p:sp>
        <p:nvSpPr>
          <p:cNvPr id="30" name="Text 28"/>
          <p:cNvSpPr/>
          <p:nvPr/>
        </p:nvSpPr>
        <p:spPr>
          <a:xfrm>
            <a:off x="594360" y="4352544"/>
            <a:ext cx="1810512" cy="256032"/>
          </a:xfrm>
          <a:prstGeom prst="rect">
            <a:avLst/>
          </a:prstGeom>
          <a:noFill/>
          <a:ln/>
        </p:spPr>
        <p:txBody>
          <a:bodyPr wrap="square" rtlCol="0" anchor="ctr"/>
          <a:lstStyle/>
          <a:p>
            <a:pPr algn="ctr" indent="0" marL="0">
              <a:buNone/>
            </a:pPr>
            <a:r>
              <a:rPr lang="en-US" sz="900" dirty="0">
                <a:solidFill>
                  <a:srgbClr val="8891B4"/>
                </a:solidFill>
                <a:latin typeface="Calibri" pitchFamily="34" charset="0"/>
                <a:ea typeface="Calibri" pitchFamily="34" charset="-122"/>
                <a:cs typeface="Calibri" pitchFamily="34" charset="-120"/>
              </a:rPr>
              <a:t>Inflasi &amp; stagnasi upah real</a:t>
            </a:r>
            <a:endParaRPr lang="en-US" sz="900" dirty="0"/>
          </a:p>
        </p:txBody>
      </p:sp>
      <p:sp>
        <p:nvSpPr>
          <p:cNvPr id="31" name="Shape 29"/>
          <p:cNvSpPr/>
          <p:nvPr/>
        </p:nvSpPr>
        <p:spPr>
          <a:xfrm>
            <a:off x="2606040" y="3383280"/>
            <a:ext cx="1993392" cy="1417320"/>
          </a:xfrm>
          <a:prstGeom prst="roundRect">
            <a:avLst>
              <a:gd name="adj" fmla="val 6452"/>
            </a:avLst>
          </a:prstGeom>
          <a:solidFill>
            <a:srgbClr val="2A3580"/>
          </a:solidFill>
          <a:ln/>
        </p:spPr>
      </p:sp>
      <p:sp>
        <p:nvSpPr>
          <p:cNvPr id="32" name="Shape 30"/>
          <p:cNvSpPr/>
          <p:nvPr/>
        </p:nvSpPr>
        <p:spPr>
          <a:xfrm>
            <a:off x="3374136" y="3438144"/>
            <a:ext cx="475488" cy="475488"/>
          </a:xfrm>
          <a:prstGeom prst="ellipse">
            <a:avLst/>
          </a:prstGeom>
          <a:solidFill>
            <a:srgbClr val="E8A020"/>
          </a:solidFill>
          <a:ln/>
        </p:spPr>
      </p:sp>
      <p:sp>
        <p:nvSpPr>
          <p:cNvPr id="33" name="Text 31"/>
          <p:cNvSpPr/>
          <p:nvPr/>
        </p:nvSpPr>
        <p:spPr>
          <a:xfrm>
            <a:off x="3374136" y="3438144"/>
            <a:ext cx="475488" cy="475488"/>
          </a:xfrm>
          <a:prstGeom prst="rect">
            <a:avLst/>
          </a:prstGeom>
          <a:noFill/>
          <a:ln/>
        </p:spPr>
        <p:txBody>
          <a:bodyPr wrap="square" lIns="0" tIns="0" rIns="0" bIns="0" rtlCol="0" anchor="ctr"/>
          <a:lstStyle/>
          <a:p>
            <a:pPr algn="ctr" indent="0" marL="0">
              <a:buNone/>
            </a:pPr>
            <a:r>
              <a:rPr lang="en-US" sz="1500" b="1" dirty="0">
                <a:solidFill>
                  <a:srgbClr val="141E52"/>
                </a:solidFill>
                <a:latin typeface="Calibri" pitchFamily="34" charset="0"/>
                <a:ea typeface="Calibri" pitchFamily="34" charset="-122"/>
                <a:cs typeface="Calibri" pitchFamily="34" charset="-120"/>
              </a:rPr>
              <a:t>2</a:t>
            </a:r>
            <a:endParaRPr lang="en-US" sz="1500" dirty="0"/>
          </a:p>
        </p:txBody>
      </p:sp>
      <p:sp>
        <p:nvSpPr>
          <p:cNvPr id="34" name="Text 32"/>
          <p:cNvSpPr/>
          <p:nvPr/>
        </p:nvSpPr>
        <p:spPr>
          <a:xfrm>
            <a:off x="2697480" y="3950208"/>
            <a:ext cx="1810512" cy="402336"/>
          </a:xfrm>
          <a:prstGeom prst="rect">
            <a:avLst/>
          </a:prstGeom>
          <a:noFill/>
          <a:ln/>
        </p:spPr>
        <p:txBody>
          <a:bodyPr wrap="square"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Kesadaran</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Konsumen</a:t>
            </a:r>
            <a:endParaRPr lang="en-US" sz="1200" dirty="0"/>
          </a:p>
        </p:txBody>
      </p:sp>
      <p:sp>
        <p:nvSpPr>
          <p:cNvPr id="35" name="Text 33"/>
          <p:cNvSpPr/>
          <p:nvPr/>
        </p:nvSpPr>
        <p:spPr>
          <a:xfrm>
            <a:off x="2697480" y="4352544"/>
            <a:ext cx="1810512" cy="256032"/>
          </a:xfrm>
          <a:prstGeom prst="rect">
            <a:avLst/>
          </a:prstGeom>
          <a:noFill/>
          <a:ln/>
        </p:spPr>
        <p:txBody>
          <a:bodyPr wrap="square" rtlCol="0" anchor="ctr"/>
          <a:lstStyle/>
          <a:p>
            <a:pPr algn="ctr" indent="0" marL="0">
              <a:buNone/>
            </a:pPr>
            <a:r>
              <a:rPr lang="en-US" sz="900" dirty="0">
                <a:solidFill>
                  <a:srgbClr val="8891B4"/>
                </a:solidFill>
                <a:latin typeface="Calibri" pitchFamily="34" charset="0"/>
                <a:ea typeface="Calibri" pitchFamily="34" charset="-122"/>
                <a:cs typeface="Calibri" pitchFamily="34" charset="-120"/>
              </a:rPr>
              <a:t>"Conscious consumer" mindset</a:t>
            </a:r>
            <a:endParaRPr lang="en-US" sz="900" dirty="0"/>
          </a:p>
        </p:txBody>
      </p:sp>
      <p:sp>
        <p:nvSpPr>
          <p:cNvPr id="36" name="Shape 34"/>
          <p:cNvSpPr/>
          <p:nvPr/>
        </p:nvSpPr>
        <p:spPr>
          <a:xfrm>
            <a:off x="4709160" y="3383280"/>
            <a:ext cx="1993392" cy="1417320"/>
          </a:xfrm>
          <a:prstGeom prst="roundRect">
            <a:avLst>
              <a:gd name="adj" fmla="val 6452"/>
            </a:avLst>
          </a:prstGeom>
          <a:solidFill>
            <a:srgbClr val="2A3580"/>
          </a:solidFill>
          <a:ln/>
        </p:spPr>
      </p:sp>
      <p:sp>
        <p:nvSpPr>
          <p:cNvPr id="37" name="Shape 35"/>
          <p:cNvSpPr/>
          <p:nvPr/>
        </p:nvSpPr>
        <p:spPr>
          <a:xfrm>
            <a:off x="5477256" y="3438144"/>
            <a:ext cx="475488" cy="475488"/>
          </a:xfrm>
          <a:prstGeom prst="ellipse">
            <a:avLst/>
          </a:prstGeom>
          <a:solidFill>
            <a:srgbClr val="E8A020"/>
          </a:solidFill>
          <a:ln/>
        </p:spPr>
      </p:sp>
      <p:sp>
        <p:nvSpPr>
          <p:cNvPr id="38" name="Text 36"/>
          <p:cNvSpPr/>
          <p:nvPr/>
        </p:nvSpPr>
        <p:spPr>
          <a:xfrm>
            <a:off x="5477256" y="3438144"/>
            <a:ext cx="475488" cy="475488"/>
          </a:xfrm>
          <a:prstGeom prst="rect">
            <a:avLst/>
          </a:prstGeom>
          <a:noFill/>
          <a:ln/>
        </p:spPr>
        <p:txBody>
          <a:bodyPr wrap="square" lIns="0" tIns="0" rIns="0" bIns="0" rtlCol="0" anchor="ctr"/>
          <a:lstStyle/>
          <a:p>
            <a:pPr algn="ctr" indent="0" marL="0">
              <a:buNone/>
            </a:pPr>
            <a:r>
              <a:rPr lang="en-US" sz="1500" b="1" dirty="0">
                <a:solidFill>
                  <a:srgbClr val="141E52"/>
                </a:solidFill>
                <a:latin typeface="Calibri" pitchFamily="34" charset="0"/>
                <a:ea typeface="Calibri" pitchFamily="34" charset="-122"/>
                <a:cs typeface="Calibri" pitchFamily="34" charset="-120"/>
              </a:rPr>
              <a:t>3</a:t>
            </a:r>
            <a:endParaRPr lang="en-US" sz="1500" dirty="0"/>
          </a:p>
        </p:txBody>
      </p:sp>
      <p:sp>
        <p:nvSpPr>
          <p:cNvPr id="39" name="Text 37"/>
          <p:cNvSpPr/>
          <p:nvPr/>
        </p:nvSpPr>
        <p:spPr>
          <a:xfrm>
            <a:off x="4800600" y="3950208"/>
            <a:ext cx="1810512" cy="402336"/>
          </a:xfrm>
          <a:prstGeom prst="rect">
            <a:avLst/>
          </a:prstGeom>
          <a:noFill/>
          <a:ln/>
        </p:spPr>
        <p:txBody>
          <a:bodyPr wrap="square"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Alternatif</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Berkualitas</a:t>
            </a:r>
            <a:endParaRPr lang="en-US" sz="1200" dirty="0"/>
          </a:p>
        </p:txBody>
      </p:sp>
      <p:sp>
        <p:nvSpPr>
          <p:cNvPr id="40" name="Text 38"/>
          <p:cNvSpPr/>
          <p:nvPr/>
        </p:nvSpPr>
        <p:spPr>
          <a:xfrm>
            <a:off x="4800600" y="4352544"/>
            <a:ext cx="1810512" cy="256032"/>
          </a:xfrm>
          <a:prstGeom prst="rect">
            <a:avLst/>
          </a:prstGeom>
          <a:noFill/>
          <a:ln/>
        </p:spPr>
        <p:txBody>
          <a:bodyPr wrap="square" rtlCol="0" anchor="ctr"/>
          <a:lstStyle/>
          <a:p>
            <a:pPr algn="ctr" indent="0" marL="0">
              <a:buNone/>
            </a:pPr>
            <a:r>
              <a:rPr lang="en-US" sz="900" dirty="0">
                <a:solidFill>
                  <a:srgbClr val="8891B4"/>
                </a:solidFill>
                <a:latin typeface="Calibri" pitchFamily="34" charset="0"/>
                <a:ea typeface="Calibri" pitchFamily="34" charset="-122"/>
                <a:cs typeface="Calibri" pitchFamily="34" charset="-120"/>
              </a:rPr>
              <a:t>Brand lokal makin kompetitif</a:t>
            </a:r>
            <a:endParaRPr lang="en-US" sz="900" dirty="0"/>
          </a:p>
        </p:txBody>
      </p:sp>
      <p:sp>
        <p:nvSpPr>
          <p:cNvPr id="41" name="Shape 39"/>
          <p:cNvSpPr/>
          <p:nvPr/>
        </p:nvSpPr>
        <p:spPr>
          <a:xfrm>
            <a:off x="6812280" y="3383280"/>
            <a:ext cx="1993392" cy="1417320"/>
          </a:xfrm>
          <a:prstGeom prst="roundRect">
            <a:avLst>
              <a:gd name="adj" fmla="val 6452"/>
            </a:avLst>
          </a:prstGeom>
          <a:solidFill>
            <a:srgbClr val="2A3580"/>
          </a:solidFill>
          <a:ln/>
        </p:spPr>
      </p:sp>
      <p:sp>
        <p:nvSpPr>
          <p:cNvPr id="42" name="Shape 40"/>
          <p:cNvSpPr/>
          <p:nvPr/>
        </p:nvSpPr>
        <p:spPr>
          <a:xfrm>
            <a:off x="7580376" y="3438144"/>
            <a:ext cx="475488" cy="475488"/>
          </a:xfrm>
          <a:prstGeom prst="ellipse">
            <a:avLst/>
          </a:prstGeom>
          <a:solidFill>
            <a:srgbClr val="E8A020"/>
          </a:solidFill>
          <a:ln/>
        </p:spPr>
      </p:sp>
      <p:sp>
        <p:nvSpPr>
          <p:cNvPr id="43" name="Text 41"/>
          <p:cNvSpPr/>
          <p:nvPr/>
        </p:nvSpPr>
        <p:spPr>
          <a:xfrm>
            <a:off x="7580376" y="3438144"/>
            <a:ext cx="475488" cy="475488"/>
          </a:xfrm>
          <a:prstGeom prst="rect">
            <a:avLst/>
          </a:prstGeom>
          <a:noFill/>
          <a:ln/>
        </p:spPr>
        <p:txBody>
          <a:bodyPr wrap="square" lIns="0" tIns="0" rIns="0" bIns="0" rtlCol="0" anchor="ctr"/>
          <a:lstStyle/>
          <a:p>
            <a:pPr algn="ctr" indent="0" marL="0">
              <a:buNone/>
            </a:pPr>
            <a:r>
              <a:rPr lang="en-US" sz="1500" b="1" dirty="0">
                <a:solidFill>
                  <a:srgbClr val="141E52"/>
                </a:solidFill>
                <a:latin typeface="Calibri" pitchFamily="34" charset="0"/>
                <a:ea typeface="Calibri" pitchFamily="34" charset="-122"/>
                <a:cs typeface="Calibri" pitchFamily="34" charset="-120"/>
              </a:rPr>
              <a:t>4</a:t>
            </a:r>
            <a:endParaRPr lang="en-US" sz="1500" dirty="0"/>
          </a:p>
        </p:txBody>
      </p:sp>
      <p:sp>
        <p:nvSpPr>
          <p:cNvPr id="44" name="Text 42"/>
          <p:cNvSpPr/>
          <p:nvPr/>
        </p:nvSpPr>
        <p:spPr>
          <a:xfrm>
            <a:off x="6903720" y="3950208"/>
            <a:ext cx="1810512" cy="402336"/>
          </a:xfrm>
          <a:prstGeom prst="rect">
            <a:avLst/>
          </a:prstGeom>
          <a:noFill/>
          <a:ln/>
        </p:spPr>
        <p:txBody>
          <a:bodyPr wrap="square" rtlCol="0" anchor="ctr"/>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Digital</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Transparency</a:t>
            </a:r>
            <a:endParaRPr lang="en-US" sz="1200" dirty="0"/>
          </a:p>
        </p:txBody>
      </p:sp>
      <p:sp>
        <p:nvSpPr>
          <p:cNvPr id="45" name="Text 43"/>
          <p:cNvSpPr/>
          <p:nvPr/>
        </p:nvSpPr>
        <p:spPr>
          <a:xfrm>
            <a:off x="6903720" y="4352544"/>
            <a:ext cx="1810512" cy="256032"/>
          </a:xfrm>
          <a:prstGeom prst="rect">
            <a:avLst/>
          </a:prstGeom>
          <a:noFill/>
          <a:ln/>
        </p:spPr>
        <p:txBody>
          <a:bodyPr wrap="square" rtlCol="0" anchor="ctr"/>
          <a:lstStyle/>
          <a:p>
            <a:pPr algn="ctr" indent="0" marL="0">
              <a:buNone/>
            </a:pPr>
            <a:r>
              <a:rPr lang="en-US" sz="900" dirty="0">
                <a:solidFill>
                  <a:srgbClr val="8891B4"/>
                </a:solidFill>
                <a:latin typeface="Calibri" pitchFamily="34" charset="0"/>
                <a:ea typeface="Calibri" pitchFamily="34" charset="-122"/>
                <a:cs typeface="Calibri" pitchFamily="34" charset="-120"/>
              </a:rPr>
              <a:t>Harga mudah dibandingkan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2FA"/>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1F7A8C"/>
          </a:solidFill>
          <a:ln/>
        </p:spPr>
      </p:sp>
      <p:sp>
        <p:nvSpPr>
          <p:cNvPr id="3" name="Text 1"/>
          <p:cNvSpPr/>
          <p:nvPr/>
        </p:nvSpPr>
        <p:spPr>
          <a:xfrm>
            <a:off x="502920" y="91440"/>
            <a:ext cx="8229600" cy="502920"/>
          </a:xfrm>
          <a:prstGeom prst="rect">
            <a:avLst/>
          </a:prstGeom>
          <a:noFill/>
          <a:ln/>
        </p:spPr>
        <p:txBody>
          <a:bodyPr wrap="square" rtlCol="0" anchor="ctr"/>
          <a:lstStyle/>
          <a:p>
            <a:pPr algn="l" indent="0" marL="0">
              <a:buNone/>
            </a:pPr>
            <a:r>
              <a:rPr lang="en-US" sz="2500" b="1" dirty="0">
                <a:solidFill>
                  <a:srgbClr val="FFFFFF"/>
                </a:solidFill>
                <a:latin typeface="Calibri" pitchFamily="34" charset="0"/>
                <a:ea typeface="Calibri" pitchFamily="34" charset="-122"/>
                <a:cs typeface="Calibri" pitchFamily="34" charset="-120"/>
              </a:rPr>
              <a:t>Siapa yang Menggantikan? — Aspirant Class</a:t>
            </a:r>
            <a:endParaRPr lang="en-US" sz="2500" dirty="0"/>
          </a:p>
        </p:txBody>
      </p:sp>
      <p:sp>
        <p:nvSpPr>
          <p:cNvPr id="4" name="Text 2"/>
          <p:cNvSpPr/>
          <p:nvPr/>
        </p:nvSpPr>
        <p:spPr>
          <a:xfrm>
            <a:off x="502920" y="612648"/>
            <a:ext cx="8229600" cy="274320"/>
          </a:xfrm>
          <a:prstGeom prst="rect">
            <a:avLst/>
          </a:prstGeom>
          <a:noFill/>
          <a:ln/>
        </p:spPr>
        <p:txBody>
          <a:bodyPr wrap="square" rtlCol="0" anchor="ctr"/>
          <a:lstStyle/>
          <a:p>
            <a:pPr algn="l" indent="0" marL="0">
              <a:buNone/>
            </a:pPr>
            <a:r>
              <a:rPr lang="en-US" sz="1200" dirty="0">
                <a:solidFill>
                  <a:srgbClr val="D0EEF3"/>
                </a:solidFill>
                <a:latin typeface="Calibri" pitchFamily="34" charset="0"/>
                <a:ea typeface="Calibri" pitchFamily="34" charset="-122"/>
                <a:cs typeface="Calibri" pitchFamily="34" charset="-120"/>
              </a:rPr>
              <a:t>Segmen "naik kelas" yang belum mapan — target paling relevan untuk retail masa depan Indonesia</a:t>
            </a:r>
            <a:endParaRPr lang="en-US" sz="1200" dirty="0"/>
          </a:p>
        </p:txBody>
      </p:sp>
      <p:sp>
        <p:nvSpPr>
          <p:cNvPr id="5" name="Shape 3"/>
          <p:cNvSpPr/>
          <p:nvPr/>
        </p:nvSpPr>
        <p:spPr>
          <a:xfrm>
            <a:off x="475488" y="1170432"/>
            <a:ext cx="3218688" cy="2304288"/>
          </a:xfrm>
          <a:prstGeom prst="roundRect">
            <a:avLst>
              <a:gd name="adj" fmla="val 4762"/>
            </a:avLst>
          </a:prstGeom>
          <a:solidFill>
            <a:srgbClr val="1F7A8C"/>
          </a:solidFill>
          <a:ln/>
        </p:spPr>
      </p:sp>
      <p:sp>
        <p:nvSpPr>
          <p:cNvPr id="6" name="Text 4"/>
          <p:cNvSpPr/>
          <p:nvPr/>
        </p:nvSpPr>
        <p:spPr>
          <a:xfrm>
            <a:off x="475488" y="1261872"/>
            <a:ext cx="3218688" cy="1005840"/>
          </a:xfrm>
          <a:prstGeom prst="rect">
            <a:avLst/>
          </a:prstGeom>
          <a:noFill/>
          <a:ln/>
        </p:spPr>
        <p:txBody>
          <a:bodyPr wrap="square" rtlCol="0" anchor="ctr"/>
          <a:lstStyle/>
          <a:p>
            <a:pPr algn="ctr" indent="0" marL="0">
              <a:buNone/>
            </a:pPr>
            <a:r>
              <a:rPr lang="en-US" sz="7200" b="1" dirty="0">
                <a:solidFill>
                  <a:srgbClr val="FFFFFF"/>
                </a:solidFill>
                <a:latin typeface="Calibri" pitchFamily="34" charset="0"/>
                <a:ea typeface="Calibri" pitchFamily="34" charset="-122"/>
                <a:cs typeface="Calibri" pitchFamily="34" charset="-120"/>
              </a:rPr>
              <a:t>142</a:t>
            </a:r>
            <a:endParaRPr lang="en-US" sz="7200" dirty="0"/>
          </a:p>
        </p:txBody>
      </p:sp>
      <p:sp>
        <p:nvSpPr>
          <p:cNvPr id="7" name="Text 5"/>
          <p:cNvSpPr/>
          <p:nvPr/>
        </p:nvSpPr>
        <p:spPr>
          <a:xfrm>
            <a:off x="475488" y="2286000"/>
            <a:ext cx="3218688" cy="329184"/>
          </a:xfrm>
          <a:prstGeom prst="rect">
            <a:avLst/>
          </a:prstGeom>
          <a:noFill/>
          <a:ln/>
        </p:spPr>
        <p:txBody>
          <a:bodyPr wrap="square" rtlCol="0" anchor="ctr"/>
          <a:lstStyle/>
          <a:p>
            <a:pPr algn="ctr" indent="0" marL="0">
              <a:buNone/>
            </a:pPr>
            <a:r>
              <a:rPr lang="en-US" sz="1600" dirty="0">
                <a:solidFill>
                  <a:srgbClr val="D0EEF3"/>
                </a:solidFill>
                <a:latin typeface="Calibri" pitchFamily="34" charset="0"/>
                <a:ea typeface="Calibri" pitchFamily="34" charset="-122"/>
                <a:cs typeface="Calibri" pitchFamily="34" charset="-120"/>
              </a:rPr>
              <a:t>Juta Orang</a:t>
            </a:r>
            <a:endParaRPr lang="en-US" sz="1600" dirty="0"/>
          </a:p>
        </p:txBody>
      </p:sp>
      <p:sp>
        <p:nvSpPr>
          <p:cNvPr id="8" name="Text 6"/>
          <p:cNvSpPr/>
          <p:nvPr/>
        </p:nvSpPr>
        <p:spPr>
          <a:xfrm>
            <a:off x="475488" y="2651760"/>
            <a:ext cx="3218688"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Aspirant Class 2025  =  50.4% populasi Indonesia</a:t>
            </a:r>
            <a:endParaRPr lang="en-US" sz="1000" dirty="0"/>
          </a:p>
        </p:txBody>
      </p:sp>
      <p:sp>
        <p:nvSpPr>
          <p:cNvPr id="9" name="Shape 7"/>
          <p:cNvSpPr/>
          <p:nvPr/>
        </p:nvSpPr>
        <p:spPr>
          <a:xfrm>
            <a:off x="475488" y="3566160"/>
            <a:ext cx="3218688" cy="566928"/>
          </a:xfrm>
          <a:prstGeom prst="roundRect">
            <a:avLst>
              <a:gd name="adj" fmla="val 12903"/>
            </a:avLst>
          </a:prstGeom>
          <a:solidFill>
            <a:srgbClr val="00695C"/>
          </a:solidFill>
          <a:ln/>
        </p:spPr>
      </p:sp>
      <p:sp>
        <p:nvSpPr>
          <p:cNvPr id="10" name="Text 8"/>
          <p:cNvSpPr/>
          <p:nvPr/>
        </p:nvSpPr>
        <p:spPr>
          <a:xfrm>
            <a:off x="475488" y="3566160"/>
            <a:ext cx="3218688" cy="566928"/>
          </a:xfrm>
          <a:prstGeom prst="rect">
            <a:avLst/>
          </a:prstGeom>
          <a:noFill/>
          <a:ln/>
        </p:spPr>
        <p:txBody>
          <a:bodyPr wrap="square" rtlCol="0" anchor="ctr"/>
          <a:lstStyle/>
          <a:p>
            <a:pPr algn="ctr" indent="0" marL="0">
              <a:lnSpc>
                <a:spcPct val="110000"/>
              </a:lnSpc>
              <a:buNone/>
            </a:pPr>
            <a:r>
              <a:rPr lang="en-US" sz="1000" dirty="0">
                <a:solidFill>
                  <a:srgbClr val="FFFFFF"/>
                </a:solidFill>
                <a:latin typeface="Calibri" pitchFamily="34" charset="0"/>
                <a:ea typeface="Calibri" pitchFamily="34" charset="-122"/>
                <a:cs typeface="Calibri" pitchFamily="34" charset="-120"/>
              </a:rPr>
              <a:t>↑ Naik dari 137.5 juta (2024)  —  tumbuh +4.5 juta dalam 1 tahun</a:t>
            </a:r>
            <a:endParaRPr lang="en-US" sz="1000" dirty="0"/>
          </a:p>
        </p:txBody>
      </p:sp>
      <p:sp>
        <p:nvSpPr>
          <p:cNvPr id="11" name="Shape 9"/>
          <p:cNvSpPr/>
          <p:nvPr/>
        </p:nvSpPr>
        <p:spPr>
          <a:xfrm>
            <a:off x="3977640" y="1170432"/>
            <a:ext cx="4681728" cy="841248"/>
          </a:xfrm>
          <a:prstGeom prst="roundRect">
            <a:avLst>
              <a:gd name="adj" fmla="val 10870"/>
            </a:avLst>
          </a:prstGeom>
          <a:solidFill>
            <a:srgbClr val="FFFFFF"/>
          </a:solidFill>
          <a:ln/>
          <a:effectLst>
            <a:outerShdw sx="100000" sy="100000" kx="0" ky="0" algn="bl" rotWithShape="0" blurRad="63500" dist="25400" dir="2700000">
              <a:srgbClr val="CCCCCC">
                <a:alpha val="18000"/>
              </a:srgbClr>
            </a:outerShdw>
          </a:effectLst>
        </p:spPr>
      </p:sp>
      <p:sp>
        <p:nvSpPr>
          <p:cNvPr id="12" name="Shape 10"/>
          <p:cNvSpPr/>
          <p:nvPr/>
        </p:nvSpPr>
        <p:spPr>
          <a:xfrm>
            <a:off x="4096512" y="1307592"/>
            <a:ext cx="548640" cy="548640"/>
          </a:xfrm>
          <a:prstGeom prst="ellipse">
            <a:avLst/>
          </a:prstGeom>
          <a:solidFill>
            <a:srgbClr val="C8860A"/>
          </a:solidFill>
          <a:ln/>
        </p:spPr>
      </p:sp>
      <p:sp>
        <p:nvSpPr>
          <p:cNvPr id="13" name="Text 11"/>
          <p:cNvSpPr/>
          <p:nvPr/>
        </p:nvSpPr>
        <p:spPr>
          <a:xfrm>
            <a:off x="4096512" y="1307592"/>
            <a:ext cx="548640" cy="548640"/>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14" name="Text 12"/>
          <p:cNvSpPr/>
          <p:nvPr/>
        </p:nvSpPr>
        <p:spPr>
          <a:xfrm>
            <a:off x="4754880" y="1252728"/>
            <a:ext cx="3749040" cy="320040"/>
          </a:xfrm>
          <a:prstGeom prst="rect">
            <a:avLst/>
          </a:prstGeom>
          <a:noFill/>
          <a:ln/>
        </p:spPr>
        <p:txBody>
          <a:bodyPr wrap="square" rtlCol="0" anchor="ctr"/>
          <a:lstStyle/>
          <a:p>
            <a:pPr algn="l" indent="0" marL="0">
              <a:buNone/>
            </a:pPr>
            <a:r>
              <a:rPr lang="en-US" sz="1300" b="1" dirty="0">
                <a:solidFill>
                  <a:srgbClr val="1A2355"/>
                </a:solidFill>
                <a:latin typeface="Calibri" pitchFamily="34" charset="0"/>
                <a:ea typeface="Calibri" pitchFamily="34" charset="-122"/>
                <a:cs typeface="Calibri" pitchFamily="34" charset="-120"/>
              </a:rPr>
              <a:t>Sensitif Harga, Sangat Aspiratif</a:t>
            </a:r>
            <a:endParaRPr lang="en-US" sz="1300" dirty="0"/>
          </a:p>
        </p:txBody>
      </p:sp>
      <p:sp>
        <p:nvSpPr>
          <p:cNvPr id="15" name="Text 13"/>
          <p:cNvSpPr/>
          <p:nvPr/>
        </p:nvSpPr>
        <p:spPr>
          <a:xfrm>
            <a:off x="4754880" y="1600200"/>
            <a:ext cx="3749040" cy="347472"/>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Cari "quality at right price". Tidak mau terkesan murah tapi tidak bisa beli premium.</a:t>
            </a:r>
            <a:endParaRPr lang="en-US" sz="1100" dirty="0"/>
          </a:p>
        </p:txBody>
      </p:sp>
      <p:sp>
        <p:nvSpPr>
          <p:cNvPr id="16" name="Shape 14"/>
          <p:cNvSpPr/>
          <p:nvPr/>
        </p:nvSpPr>
        <p:spPr>
          <a:xfrm>
            <a:off x="3977640" y="2130552"/>
            <a:ext cx="4681728" cy="841248"/>
          </a:xfrm>
          <a:prstGeom prst="roundRect">
            <a:avLst>
              <a:gd name="adj" fmla="val 10870"/>
            </a:avLst>
          </a:prstGeom>
          <a:solidFill>
            <a:srgbClr val="FFFFFF"/>
          </a:solidFill>
          <a:ln/>
          <a:effectLst>
            <a:outerShdw sx="100000" sy="100000" kx="0" ky="0" algn="bl" rotWithShape="0" blurRad="63500" dist="25400" dir="2700000">
              <a:srgbClr val="CCCCCC">
                <a:alpha val="18000"/>
              </a:srgbClr>
            </a:outerShdw>
          </a:effectLst>
        </p:spPr>
      </p:sp>
      <p:sp>
        <p:nvSpPr>
          <p:cNvPr id="17" name="Shape 15"/>
          <p:cNvSpPr/>
          <p:nvPr/>
        </p:nvSpPr>
        <p:spPr>
          <a:xfrm>
            <a:off x="4096512" y="2267712"/>
            <a:ext cx="548640" cy="548640"/>
          </a:xfrm>
          <a:prstGeom prst="ellipse">
            <a:avLst/>
          </a:prstGeom>
          <a:solidFill>
            <a:srgbClr val="1E2761"/>
          </a:solidFill>
          <a:ln/>
        </p:spPr>
      </p:sp>
      <p:sp>
        <p:nvSpPr>
          <p:cNvPr id="18" name="Text 16"/>
          <p:cNvSpPr/>
          <p:nvPr/>
        </p:nvSpPr>
        <p:spPr>
          <a:xfrm>
            <a:off x="4096512" y="2267712"/>
            <a:ext cx="548640" cy="548640"/>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19" name="Text 17"/>
          <p:cNvSpPr/>
          <p:nvPr/>
        </p:nvSpPr>
        <p:spPr>
          <a:xfrm>
            <a:off x="4754880" y="2212848"/>
            <a:ext cx="3749040" cy="320040"/>
          </a:xfrm>
          <a:prstGeom prst="rect">
            <a:avLst/>
          </a:prstGeom>
          <a:noFill/>
          <a:ln/>
        </p:spPr>
        <p:txBody>
          <a:bodyPr wrap="square" rtlCol="0" anchor="ctr"/>
          <a:lstStyle/>
          <a:p>
            <a:pPr algn="l" indent="0" marL="0">
              <a:buNone/>
            </a:pPr>
            <a:r>
              <a:rPr lang="en-US" sz="1300" b="1" dirty="0">
                <a:solidFill>
                  <a:srgbClr val="1A2355"/>
                </a:solidFill>
                <a:latin typeface="Calibri" pitchFamily="34" charset="0"/>
                <a:ea typeface="Calibri" pitchFamily="34" charset="-122"/>
                <a:cs typeface="Calibri" pitchFamily="34" charset="-120"/>
              </a:rPr>
              <a:t>Mobile-First, Research Sebelum Beli</a:t>
            </a:r>
            <a:endParaRPr lang="en-US" sz="1300" dirty="0"/>
          </a:p>
        </p:txBody>
      </p:sp>
      <p:sp>
        <p:nvSpPr>
          <p:cNvPr id="20" name="Text 18"/>
          <p:cNvSpPr/>
          <p:nvPr/>
        </p:nvSpPr>
        <p:spPr>
          <a:xfrm>
            <a:off x="4754880" y="2560320"/>
            <a:ext cx="3749040" cy="347472"/>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Bandingkan harga &amp; review online sebelum keputusan pembelian omnichannel.</a:t>
            </a:r>
            <a:endParaRPr lang="en-US" sz="1100" dirty="0"/>
          </a:p>
        </p:txBody>
      </p:sp>
      <p:sp>
        <p:nvSpPr>
          <p:cNvPr id="21" name="Shape 19"/>
          <p:cNvSpPr/>
          <p:nvPr/>
        </p:nvSpPr>
        <p:spPr>
          <a:xfrm>
            <a:off x="3977640" y="3090672"/>
            <a:ext cx="4681728" cy="841248"/>
          </a:xfrm>
          <a:prstGeom prst="roundRect">
            <a:avLst>
              <a:gd name="adj" fmla="val 10870"/>
            </a:avLst>
          </a:prstGeom>
          <a:solidFill>
            <a:srgbClr val="FFFFFF"/>
          </a:solidFill>
          <a:ln/>
          <a:effectLst>
            <a:outerShdw sx="100000" sy="100000" kx="0" ky="0" algn="bl" rotWithShape="0" blurRad="63500" dist="25400" dir="2700000">
              <a:srgbClr val="CCCCCC">
                <a:alpha val="18000"/>
              </a:srgbClr>
            </a:outerShdw>
          </a:effectLst>
        </p:spPr>
      </p:sp>
      <p:sp>
        <p:nvSpPr>
          <p:cNvPr id="22" name="Shape 20"/>
          <p:cNvSpPr/>
          <p:nvPr/>
        </p:nvSpPr>
        <p:spPr>
          <a:xfrm>
            <a:off x="4096512" y="3227832"/>
            <a:ext cx="548640" cy="548640"/>
          </a:xfrm>
          <a:prstGeom prst="ellipse">
            <a:avLst/>
          </a:prstGeom>
          <a:solidFill>
            <a:srgbClr val="00695C"/>
          </a:solidFill>
          <a:ln/>
        </p:spPr>
      </p:sp>
      <p:sp>
        <p:nvSpPr>
          <p:cNvPr id="23" name="Text 21"/>
          <p:cNvSpPr/>
          <p:nvPr/>
        </p:nvSpPr>
        <p:spPr>
          <a:xfrm>
            <a:off x="4096512" y="3227832"/>
            <a:ext cx="548640" cy="548640"/>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24" name="Text 22"/>
          <p:cNvSpPr/>
          <p:nvPr/>
        </p:nvSpPr>
        <p:spPr>
          <a:xfrm>
            <a:off x="4754880" y="3172968"/>
            <a:ext cx="3749040" cy="320040"/>
          </a:xfrm>
          <a:prstGeom prst="rect">
            <a:avLst/>
          </a:prstGeom>
          <a:noFill/>
          <a:ln/>
        </p:spPr>
        <p:txBody>
          <a:bodyPr wrap="square" rtlCol="0" anchor="ctr"/>
          <a:lstStyle/>
          <a:p>
            <a:pPr algn="l" indent="0" marL="0">
              <a:buNone/>
            </a:pPr>
            <a:r>
              <a:rPr lang="en-US" sz="1300" b="1" dirty="0">
                <a:solidFill>
                  <a:srgbClr val="1A2355"/>
                </a:solidFill>
                <a:latin typeface="Calibri" pitchFamily="34" charset="0"/>
                <a:ea typeface="Calibri" pitchFamily="34" charset="-122"/>
                <a:cs typeface="Calibri" pitchFamily="34" charset="-120"/>
              </a:rPr>
              <a:t>Value-Driven Decision Making</a:t>
            </a:r>
            <a:endParaRPr lang="en-US" sz="1300" dirty="0"/>
          </a:p>
        </p:txBody>
      </p:sp>
      <p:sp>
        <p:nvSpPr>
          <p:cNvPr id="25" name="Text 23"/>
          <p:cNvSpPr/>
          <p:nvPr/>
        </p:nvSpPr>
        <p:spPr>
          <a:xfrm>
            <a:off x="4754880" y="3520440"/>
            <a:ext cx="3749040" cy="347472"/>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Beli berdasarkan manfaat nyata, bukan status. Loyal ke brand yang konsisten deliver.</a:t>
            </a:r>
            <a:endParaRPr lang="en-US" sz="1100" dirty="0"/>
          </a:p>
        </p:txBody>
      </p:sp>
      <p:sp>
        <p:nvSpPr>
          <p:cNvPr id="26" name="Shape 24"/>
          <p:cNvSpPr/>
          <p:nvPr/>
        </p:nvSpPr>
        <p:spPr>
          <a:xfrm>
            <a:off x="3977640" y="4050792"/>
            <a:ext cx="4681728" cy="841248"/>
          </a:xfrm>
          <a:prstGeom prst="roundRect">
            <a:avLst>
              <a:gd name="adj" fmla="val 10870"/>
            </a:avLst>
          </a:prstGeom>
          <a:solidFill>
            <a:srgbClr val="FFFFFF"/>
          </a:solidFill>
          <a:ln/>
          <a:effectLst>
            <a:outerShdw sx="100000" sy="100000" kx="0" ky="0" algn="bl" rotWithShape="0" blurRad="63500" dist="25400" dir="2700000">
              <a:srgbClr val="CCCCCC">
                <a:alpha val="18000"/>
              </a:srgbClr>
            </a:outerShdw>
          </a:effectLst>
        </p:spPr>
      </p:sp>
      <p:sp>
        <p:nvSpPr>
          <p:cNvPr id="27" name="Shape 25"/>
          <p:cNvSpPr/>
          <p:nvPr/>
        </p:nvSpPr>
        <p:spPr>
          <a:xfrm>
            <a:off x="4096512" y="4187952"/>
            <a:ext cx="548640" cy="548640"/>
          </a:xfrm>
          <a:prstGeom prst="ellipse">
            <a:avLst/>
          </a:prstGeom>
          <a:solidFill>
            <a:srgbClr val="6A1B9A"/>
          </a:solidFill>
          <a:ln/>
        </p:spPr>
      </p:sp>
      <p:sp>
        <p:nvSpPr>
          <p:cNvPr id="28" name="Text 26"/>
          <p:cNvSpPr/>
          <p:nvPr/>
        </p:nvSpPr>
        <p:spPr>
          <a:xfrm>
            <a:off x="4096512" y="4187952"/>
            <a:ext cx="548640" cy="548640"/>
          </a:xfrm>
          <a:prstGeom prst="rect">
            <a:avLst/>
          </a:prstGeom>
          <a:noFill/>
          <a:ln/>
        </p:spPr>
        <p:txBody>
          <a:bodyPr wrap="square" lIns="0" tIns="0" rIns="0" bIns="0" rtlCol="0" anchor="ctr"/>
          <a:lstStyle/>
          <a:p>
            <a:pPr algn="ctr" indent="0" marL="0">
              <a:buNone/>
            </a:pPr>
            <a:r>
              <a:rPr lang="en-US" sz="1900" dirty="0">
                <a:solidFill>
                  <a:srgbClr val="000000"/>
                </a:solidFill>
              </a:rPr>
              <a:t>🏘️</a:t>
            </a:r>
            <a:endParaRPr lang="en-US" sz="1900" dirty="0"/>
          </a:p>
        </p:txBody>
      </p:sp>
      <p:sp>
        <p:nvSpPr>
          <p:cNvPr id="29" name="Text 27"/>
          <p:cNvSpPr/>
          <p:nvPr/>
        </p:nvSpPr>
        <p:spPr>
          <a:xfrm>
            <a:off x="4754880" y="4133088"/>
            <a:ext cx="3749040" cy="320040"/>
          </a:xfrm>
          <a:prstGeom prst="rect">
            <a:avLst/>
          </a:prstGeom>
          <a:noFill/>
          <a:ln/>
        </p:spPr>
        <p:txBody>
          <a:bodyPr wrap="square" rtlCol="0" anchor="ctr"/>
          <a:lstStyle/>
          <a:p>
            <a:pPr algn="l" indent="0" marL="0">
              <a:buNone/>
            </a:pPr>
            <a:r>
              <a:rPr lang="en-US" sz="1300" b="1" dirty="0">
                <a:solidFill>
                  <a:srgbClr val="1A2355"/>
                </a:solidFill>
                <a:latin typeface="Calibri" pitchFamily="34" charset="0"/>
                <a:ea typeface="Calibri" pitchFamily="34" charset="-122"/>
                <a:cs typeface="Calibri" pitchFamily="34" charset="-120"/>
              </a:rPr>
              <a:t>Tumbuh di Kota Tier 2 &amp; 3</a:t>
            </a:r>
            <a:endParaRPr lang="en-US" sz="1300" dirty="0"/>
          </a:p>
        </p:txBody>
      </p:sp>
      <p:sp>
        <p:nvSpPr>
          <p:cNvPr id="30" name="Text 28"/>
          <p:cNvSpPr/>
          <p:nvPr/>
        </p:nvSpPr>
        <p:spPr>
          <a:xfrm>
            <a:off x="4754880" y="4480560"/>
            <a:ext cx="3749040" cy="347472"/>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Growth engine terbesar bukan Jakarta — kota-kota menengah yang underserved retailer.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24128"/>
          </a:xfrm>
          <a:prstGeom prst="rect">
            <a:avLst/>
          </a:prstGeom>
          <a:solidFill>
            <a:srgbClr val="1E2761"/>
          </a:solidFill>
          <a:ln/>
        </p:spPr>
      </p:sp>
      <p:sp>
        <p:nvSpPr>
          <p:cNvPr id="3" name="Text 1"/>
          <p:cNvSpPr/>
          <p:nvPr/>
        </p:nvSpPr>
        <p:spPr>
          <a:xfrm>
            <a:off x="502920" y="109728"/>
            <a:ext cx="7315200" cy="457200"/>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Wajah Baru Retail Global 2026</a:t>
            </a:r>
            <a:endParaRPr lang="en-US" sz="2400" dirty="0"/>
          </a:p>
        </p:txBody>
      </p:sp>
      <p:sp>
        <p:nvSpPr>
          <p:cNvPr id="4" name="Text 2"/>
          <p:cNvSpPr/>
          <p:nvPr/>
        </p:nvSpPr>
        <p:spPr>
          <a:xfrm>
            <a:off x="502920" y="585216"/>
            <a:ext cx="8229600" cy="274320"/>
          </a:xfrm>
          <a:prstGeom prst="rect">
            <a:avLst/>
          </a:prstGeom>
          <a:noFill/>
          <a:ln/>
        </p:spPr>
        <p:txBody>
          <a:bodyPr wrap="square" rtlCol="0" anchor="ctr"/>
          <a:lstStyle/>
          <a:p>
            <a:pPr algn="l" indent="0" marL="0">
              <a:buNone/>
            </a:pPr>
            <a:r>
              <a:rPr lang="en-US" sz="1150" dirty="0">
                <a:solidFill>
                  <a:srgbClr val="8891B4"/>
                </a:solidFill>
                <a:latin typeface="Calibri" pitchFamily="34" charset="0"/>
                <a:ea typeface="Calibri" pitchFamily="34" charset="-122"/>
                <a:cs typeface="Calibri" pitchFamily="34" charset="-120"/>
              </a:rPr>
              <a:t>Dari toko transaksional menuju ekosistem pengalaman — pergeseran struktural yang dipercepat pasca-pandemi</a:t>
            </a:r>
            <a:endParaRPr lang="en-US" sz="1150" dirty="0"/>
          </a:p>
        </p:txBody>
      </p:sp>
      <p:sp>
        <p:nvSpPr>
          <p:cNvPr id="5" name="Shape 3"/>
          <p:cNvSpPr/>
          <p:nvPr/>
        </p:nvSpPr>
        <p:spPr>
          <a:xfrm>
            <a:off x="502920" y="1115568"/>
            <a:ext cx="1920240" cy="1170432"/>
          </a:xfrm>
          <a:prstGeom prst="roundRect">
            <a:avLst>
              <a:gd name="adj" fmla="val 7031"/>
            </a:avLst>
          </a:prstGeom>
          <a:solidFill>
            <a:srgbClr val="F0F2FA"/>
          </a:solidFill>
          <a:ln/>
        </p:spPr>
      </p:sp>
      <p:sp>
        <p:nvSpPr>
          <p:cNvPr id="6" name="Text 4"/>
          <p:cNvSpPr/>
          <p:nvPr/>
        </p:nvSpPr>
        <p:spPr>
          <a:xfrm>
            <a:off x="1197864" y="1170432"/>
            <a:ext cx="502920" cy="38404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7" name="Text 5"/>
          <p:cNvSpPr/>
          <p:nvPr/>
        </p:nvSpPr>
        <p:spPr>
          <a:xfrm>
            <a:off x="594360" y="1554480"/>
            <a:ext cx="1737360" cy="347472"/>
          </a:xfrm>
          <a:prstGeom prst="rect">
            <a:avLst/>
          </a:prstGeom>
          <a:noFill/>
          <a:ln/>
        </p:spPr>
        <p:txBody>
          <a:bodyPr wrap="square" rtlCol="0" anchor="ctr"/>
          <a:lstStyle/>
          <a:p>
            <a:pPr algn="ctr" indent="0" marL="0">
              <a:buNone/>
            </a:pPr>
            <a:r>
              <a:rPr lang="en-US" sz="2000" b="1" dirty="0">
                <a:solidFill>
                  <a:srgbClr val="1E2761"/>
                </a:solidFill>
                <a:latin typeface="Calibri" pitchFamily="34" charset="0"/>
                <a:ea typeface="Calibri" pitchFamily="34" charset="-122"/>
                <a:cs typeface="Calibri" pitchFamily="34" charset="-120"/>
              </a:rPr>
              <a:t>$6.27T</a:t>
            </a:r>
            <a:endParaRPr lang="en-US" sz="2000" dirty="0"/>
          </a:p>
        </p:txBody>
      </p:sp>
      <p:sp>
        <p:nvSpPr>
          <p:cNvPr id="8" name="Text 6"/>
          <p:cNvSpPr/>
          <p:nvPr/>
        </p:nvSpPr>
        <p:spPr>
          <a:xfrm>
            <a:off x="557784" y="1901952"/>
            <a:ext cx="1810512" cy="329184"/>
          </a:xfrm>
          <a:prstGeom prst="rect">
            <a:avLst/>
          </a:prstGeom>
          <a:noFill/>
          <a:ln/>
        </p:spPr>
        <p:txBody>
          <a:bodyPr wrap="square" rtlCol="0" anchor="ctr"/>
          <a:lstStyle/>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USA Brick-and-mortar</a:t>
            </a:r>
            <a:endParaRPr lang="en-US" sz="850" dirty="0"/>
          </a:p>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retail 2025</a:t>
            </a:r>
            <a:endParaRPr lang="en-US" sz="850" dirty="0"/>
          </a:p>
        </p:txBody>
      </p:sp>
      <p:sp>
        <p:nvSpPr>
          <p:cNvPr id="9" name="Shape 7"/>
          <p:cNvSpPr/>
          <p:nvPr/>
        </p:nvSpPr>
        <p:spPr>
          <a:xfrm>
            <a:off x="2560320" y="1115568"/>
            <a:ext cx="1920240" cy="1170432"/>
          </a:xfrm>
          <a:prstGeom prst="roundRect">
            <a:avLst>
              <a:gd name="adj" fmla="val 7031"/>
            </a:avLst>
          </a:prstGeom>
          <a:solidFill>
            <a:srgbClr val="F0F2FA"/>
          </a:solidFill>
          <a:ln/>
        </p:spPr>
      </p:sp>
      <p:sp>
        <p:nvSpPr>
          <p:cNvPr id="10" name="Text 8"/>
          <p:cNvSpPr/>
          <p:nvPr/>
        </p:nvSpPr>
        <p:spPr>
          <a:xfrm>
            <a:off x="3255264" y="1170432"/>
            <a:ext cx="502920" cy="38404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1" name="Text 9"/>
          <p:cNvSpPr/>
          <p:nvPr/>
        </p:nvSpPr>
        <p:spPr>
          <a:xfrm>
            <a:off x="2651760" y="1554480"/>
            <a:ext cx="1737360" cy="347472"/>
          </a:xfrm>
          <a:prstGeom prst="rect">
            <a:avLst/>
          </a:prstGeom>
          <a:noFill/>
          <a:ln/>
        </p:spPr>
        <p:txBody>
          <a:bodyPr wrap="square" rtlCol="0" anchor="ctr"/>
          <a:lstStyle/>
          <a:p>
            <a:pPr algn="ctr" indent="0" marL="0">
              <a:buNone/>
            </a:pPr>
            <a:r>
              <a:rPr lang="en-US" sz="2000" b="1" dirty="0">
                <a:solidFill>
                  <a:srgbClr val="1E2761"/>
                </a:solidFill>
                <a:latin typeface="Calibri" pitchFamily="34" charset="0"/>
                <a:ea typeface="Calibri" pitchFamily="34" charset="-122"/>
                <a:cs typeface="Calibri" pitchFamily="34" charset="-120"/>
              </a:rPr>
              <a:t>$2.27T</a:t>
            </a:r>
            <a:endParaRPr lang="en-US" sz="2000" dirty="0"/>
          </a:p>
        </p:txBody>
      </p:sp>
      <p:sp>
        <p:nvSpPr>
          <p:cNvPr id="12" name="Text 10"/>
          <p:cNvSpPr/>
          <p:nvPr/>
        </p:nvSpPr>
        <p:spPr>
          <a:xfrm>
            <a:off x="2615184" y="1901952"/>
            <a:ext cx="1810512" cy="329184"/>
          </a:xfrm>
          <a:prstGeom prst="rect">
            <a:avLst/>
          </a:prstGeom>
          <a:noFill/>
          <a:ln/>
        </p:spPr>
        <p:txBody>
          <a:bodyPr wrap="square" rtlCol="0" anchor="ctr"/>
          <a:lstStyle/>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China total retail</a:t>
            </a:r>
            <a:endParaRPr lang="en-US" sz="850" dirty="0"/>
          </a:p>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(Alibaba ekosistem)</a:t>
            </a:r>
            <a:endParaRPr lang="en-US" sz="850" dirty="0"/>
          </a:p>
        </p:txBody>
      </p:sp>
      <p:sp>
        <p:nvSpPr>
          <p:cNvPr id="13" name="Shape 11"/>
          <p:cNvSpPr/>
          <p:nvPr/>
        </p:nvSpPr>
        <p:spPr>
          <a:xfrm>
            <a:off x="4617720" y="1115568"/>
            <a:ext cx="1920240" cy="1170432"/>
          </a:xfrm>
          <a:prstGeom prst="roundRect">
            <a:avLst>
              <a:gd name="adj" fmla="val 7031"/>
            </a:avLst>
          </a:prstGeom>
          <a:solidFill>
            <a:srgbClr val="F0F2FA"/>
          </a:solidFill>
          <a:ln/>
        </p:spPr>
      </p:sp>
      <p:sp>
        <p:nvSpPr>
          <p:cNvPr id="14" name="Text 12"/>
          <p:cNvSpPr/>
          <p:nvPr/>
        </p:nvSpPr>
        <p:spPr>
          <a:xfrm>
            <a:off x="5312664" y="1170432"/>
            <a:ext cx="502920" cy="38404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5" name="Text 13"/>
          <p:cNvSpPr/>
          <p:nvPr/>
        </p:nvSpPr>
        <p:spPr>
          <a:xfrm>
            <a:off x="4709160" y="1554480"/>
            <a:ext cx="1737360" cy="347472"/>
          </a:xfrm>
          <a:prstGeom prst="rect">
            <a:avLst/>
          </a:prstGeom>
          <a:noFill/>
          <a:ln/>
        </p:spPr>
        <p:txBody>
          <a:bodyPr wrap="square" rtlCol="0" anchor="ctr"/>
          <a:lstStyle/>
          <a:p>
            <a:pPr algn="ctr" indent="0" marL="0">
              <a:buNone/>
            </a:pPr>
            <a:r>
              <a:rPr lang="en-US" sz="2000" b="1" dirty="0">
                <a:solidFill>
                  <a:srgbClr val="1E2761"/>
                </a:solidFill>
                <a:latin typeface="Calibri" pitchFamily="34" charset="0"/>
                <a:ea typeface="Calibri" pitchFamily="34" charset="-122"/>
                <a:cs typeface="Calibri" pitchFamily="34" charset="-120"/>
              </a:rPr>
              <a:t>$60B</a:t>
            </a:r>
            <a:endParaRPr lang="en-US" sz="2000" dirty="0"/>
          </a:p>
        </p:txBody>
      </p:sp>
      <p:sp>
        <p:nvSpPr>
          <p:cNvPr id="16" name="Text 14"/>
          <p:cNvSpPr/>
          <p:nvPr/>
        </p:nvSpPr>
        <p:spPr>
          <a:xfrm>
            <a:off x="4672584" y="1901952"/>
            <a:ext cx="1810512" cy="329184"/>
          </a:xfrm>
          <a:prstGeom prst="rect">
            <a:avLst/>
          </a:prstGeom>
          <a:noFill/>
          <a:ln/>
        </p:spPr>
        <p:txBody>
          <a:bodyPr wrap="square" rtlCol="0" anchor="ctr"/>
          <a:lstStyle/>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Indonesia retail</a:t>
            </a:r>
            <a:endParaRPr lang="en-US" sz="850" dirty="0"/>
          </a:p>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market 2025</a:t>
            </a:r>
            <a:endParaRPr lang="en-US" sz="850" dirty="0"/>
          </a:p>
        </p:txBody>
      </p:sp>
      <p:sp>
        <p:nvSpPr>
          <p:cNvPr id="17" name="Shape 15"/>
          <p:cNvSpPr/>
          <p:nvPr/>
        </p:nvSpPr>
        <p:spPr>
          <a:xfrm>
            <a:off x="6675120" y="1115568"/>
            <a:ext cx="1920240" cy="1170432"/>
          </a:xfrm>
          <a:prstGeom prst="roundRect">
            <a:avLst>
              <a:gd name="adj" fmla="val 7031"/>
            </a:avLst>
          </a:prstGeom>
          <a:solidFill>
            <a:srgbClr val="F0F2FA"/>
          </a:solidFill>
          <a:ln/>
        </p:spPr>
      </p:sp>
      <p:sp>
        <p:nvSpPr>
          <p:cNvPr id="18" name="Text 16"/>
          <p:cNvSpPr/>
          <p:nvPr/>
        </p:nvSpPr>
        <p:spPr>
          <a:xfrm>
            <a:off x="7370064" y="1170432"/>
            <a:ext cx="502920" cy="38404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9" name="Text 17"/>
          <p:cNvSpPr/>
          <p:nvPr/>
        </p:nvSpPr>
        <p:spPr>
          <a:xfrm>
            <a:off x="6766560" y="1554480"/>
            <a:ext cx="1737360" cy="347472"/>
          </a:xfrm>
          <a:prstGeom prst="rect">
            <a:avLst/>
          </a:prstGeom>
          <a:noFill/>
          <a:ln/>
        </p:spPr>
        <p:txBody>
          <a:bodyPr wrap="square" rtlCol="0" anchor="ctr"/>
          <a:lstStyle/>
          <a:p>
            <a:pPr algn="ctr" indent="0" marL="0">
              <a:buNone/>
            </a:pPr>
            <a:r>
              <a:rPr lang="en-US" sz="2000" b="1" dirty="0">
                <a:solidFill>
                  <a:srgbClr val="1E2761"/>
                </a:solidFill>
                <a:latin typeface="Calibri" pitchFamily="34" charset="0"/>
                <a:ea typeface="Calibri" pitchFamily="34" charset="-122"/>
                <a:cs typeface="Calibri" pitchFamily="34" charset="-120"/>
              </a:rPr>
              <a:t>44,315</a:t>
            </a:r>
            <a:endParaRPr lang="en-US" sz="2000" dirty="0"/>
          </a:p>
        </p:txBody>
      </p:sp>
      <p:sp>
        <p:nvSpPr>
          <p:cNvPr id="20" name="Text 18"/>
          <p:cNvSpPr/>
          <p:nvPr/>
        </p:nvSpPr>
        <p:spPr>
          <a:xfrm>
            <a:off x="6729984" y="1901952"/>
            <a:ext cx="1810512" cy="329184"/>
          </a:xfrm>
          <a:prstGeom prst="rect">
            <a:avLst/>
          </a:prstGeom>
          <a:noFill/>
          <a:ln/>
        </p:spPr>
        <p:txBody>
          <a:bodyPr wrap="square" rtlCol="0" anchor="ctr"/>
          <a:lstStyle/>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Minimarket di</a:t>
            </a:r>
            <a:endParaRPr lang="en-US" sz="850" dirty="0"/>
          </a:p>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Indonesia (2025)</a:t>
            </a:r>
            <a:endParaRPr lang="en-US" sz="850" dirty="0"/>
          </a:p>
        </p:txBody>
      </p:sp>
      <p:sp>
        <p:nvSpPr>
          <p:cNvPr id="21" name="Shape 19"/>
          <p:cNvSpPr/>
          <p:nvPr/>
        </p:nvSpPr>
        <p:spPr>
          <a:xfrm>
            <a:off x="502920" y="2395728"/>
            <a:ext cx="4160520" cy="566928"/>
          </a:xfrm>
          <a:prstGeom prst="roundRect">
            <a:avLst>
              <a:gd name="adj" fmla="val 14516"/>
            </a:avLst>
          </a:prstGeom>
          <a:solidFill>
            <a:srgbClr val="E8A020"/>
          </a:solidFill>
          <a:ln/>
        </p:spPr>
      </p:sp>
      <p:sp>
        <p:nvSpPr>
          <p:cNvPr id="22" name="Text 20"/>
          <p:cNvSpPr/>
          <p:nvPr/>
        </p:nvSpPr>
        <p:spPr>
          <a:xfrm>
            <a:off x="502920" y="2395728"/>
            <a:ext cx="4160520" cy="566928"/>
          </a:xfrm>
          <a:prstGeom prst="rect">
            <a:avLst/>
          </a:prstGeom>
          <a:noFill/>
          <a:ln/>
        </p:spPr>
        <p:txBody>
          <a:bodyPr wrap="square" rtlCol="0" anchor="ctr"/>
          <a:lstStyle/>
          <a:p>
            <a:pPr algn="ctr" indent="0" marL="0">
              <a:lnSpc>
                <a:spcPct val="110000"/>
              </a:lnSpc>
              <a:buNone/>
            </a:pPr>
            <a:r>
              <a:rPr lang="en-US" sz="1100" b="1" dirty="0">
                <a:solidFill>
                  <a:srgbClr val="141E52"/>
                </a:solidFill>
                <a:latin typeface="Calibri" pitchFamily="34" charset="0"/>
                <a:ea typeface="Calibri" pitchFamily="34" charset="-122"/>
                <a:cs typeface="Calibri" pitchFamily="34" charset="-120"/>
              </a:rPr>
              <a:t>59% shoppers ingin LEBIH BANYAK in-store experience  ·  81% bersedia bayar premium untuk pengalaman</a:t>
            </a:r>
            <a:endParaRPr lang="en-US" sz="1100" dirty="0"/>
          </a:p>
        </p:txBody>
      </p:sp>
      <p:sp>
        <p:nvSpPr>
          <p:cNvPr id="23" name="Shape 21"/>
          <p:cNvSpPr/>
          <p:nvPr/>
        </p:nvSpPr>
        <p:spPr>
          <a:xfrm>
            <a:off x="502920" y="3090672"/>
            <a:ext cx="8183880" cy="438912"/>
          </a:xfrm>
          <a:prstGeom prst="roundRect">
            <a:avLst>
              <a:gd name="adj" fmla="val 16667"/>
            </a:avLst>
          </a:prstGeom>
          <a:solidFill>
            <a:srgbClr val="F0F2FA"/>
          </a:solidFill>
          <a:ln w="12700">
            <a:solidFill>
              <a:srgbClr val="00695C"/>
            </a:solidFill>
            <a:prstDash val="solid"/>
          </a:ln>
        </p:spPr>
      </p:sp>
      <p:sp>
        <p:nvSpPr>
          <p:cNvPr id="24" name="Text 22"/>
          <p:cNvSpPr/>
          <p:nvPr/>
        </p:nvSpPr>
        <p:spPr>
          <a:xfrm>
            <a:off x="548640" y="3127248"/>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5" name="Text 23"/>
          <p:cNvSpPr/>
          <p:nvPr/>
        </p:nvSpPr>
        <p:spPr>
          <a:xfrm>
            <a:off x="987552" y="3127248"/>
            <a:ext cx="1572768" cy="365760"/>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Freshippo (Alibaba)</a:t>
            </a:r>
            <a:endParaRPr lang="en-US" sz="1200" dirty="0"/>
          </a:p>
        </p:txBody>
      </p:sp>
      <p:sp>
        <p:nvSpPr>
          <p:cNvPr id="26" name="Shape 24"/>
          <p:cNvSpPr/>
          <p:nvPr/>
        </p:nvSpPr>
        <p:spPr>
          <a:xfrm>
            <a:off x="2578608" y="3182112"/>
            <a:ext cx="36576" cy="256032"/>
          </a:xfrm>
          <a:prstGeom prst="rect">
            <a:avLst/>
          </a:prstGeom>
          <a:solidFill>
            <a:srgbClr val="00695C"/>
          </a:solidFill>
          <a:ln/>
        </p:spPr>
      </p:sp>
      <p:sp>
        <p:nvSpPr>
          <p:cNvPr id="27" name="Text 25"/>
          <p:cNvSpPr/>
          <p:nvPr/>
        </p:nvSpPr>
        <p:spPr>
          <a:xfrm>
            <a:off x="2670048" y="3127248"/>
            <a:ext cx="5925312" cy="36576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1,459+ toko, 6 format berbeda. "Retail-tainment": makan sushi segar di dalam supermarket. Gabungkan FnB + grocery + entertainment.</a:t>
            </a:r>
            <a:endParaRPr lang="en-US" sz="1100" dirty="0"/>
          </a:p>
        </p:txBody>
      </p:sp>
      <p:sp>
        <p:nvSpPr>
          <p:cNvPr id="28" name="Shape 26"/>
          <p:cNvSpPr/>
          <p:nvPr/>
        </p:nvSpPr>
        <p:spPr>
          <a:xfrm>
            <a:off x="502920" y="3593592"/>
            <a:ext cx="8183880" cy="438912"/>
          </a:xfrm>
          <a:prstGeom prst="roundRect">
            <a:avLst>
              <a:gd name="adj" fmla="val 16667"/>
            </a:avLst>
          </a:prstGeom>
          <a:solidFill>
            <a:srgbClr val="F0F2FA"/>
          </a:solidFill>
          <a:ln w="12700">
            <a:solidFill>
              <a:srgbClr val="1E2761"/>
            </a:solidFill>
            <a:prstDash val="solid"/>
          </a:ln>
        </p:spPr>
      </p:sp>
      <p:sp>
        <p:nvSpPr>
          <p:cNvPr id="29" name="Text 27"/>
          <p:cNvSpPr/>
          <p:nvPr/>
        </p:nvSpPr>
        <p:spPr>
          <a:xfrm>
            <a:off x="548640" y="3630168"/>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0" name="Text 28"/>
          <p:cNvSpPr/>
          <p:nvPr/>
        </p:nvSpPr>
        <p:spPr>
          <a:xfrm>
            <a:off x="987552" y="3630168"/>
            <a:ext cx="1572768" cy="365760"/>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FamilyMart PARK</a:t>
            </a:r>
            <a:endParaRPr lang="en-US" sz="1200" dirty="0"/>
          </a:p>
        </p:txBody>
      </p:sp>
      <p:sp>
        <p:nvSpPr>
          <p:cNvPr id="31" name="Shape 29"/>
          <p:cNvSpPr/>
          <p:nvPr/>
        </p:nvSpPr>
        <p:spPr>
          <a:xfrm>
            <a:off x="2578608" y="3685032"/>
            <a:ext cx="36576" cy="256032"/>
          </a:xfrm>
          <a:prstGeom prst="rect">
            <a:avLst/>
          </a:prstGeom>
          <a:solidFill>
            <a:srgbClr val="1E2761"/>
          </a:solidFill>
          <a:ln/>
        </p:spPr>
      </p:sp>
      <p:sp>
        <p:nvSpPr>
          <p:cNvPr id="32" name="Text 30"/>
          <p:cNvSpPr/>
          <p:nvPr/>
        </p:nvSpPr>
        <p:spPr>
          <a:xfrm>
            <a:off x="2670048" y="3630168"/>
            <a:ext cx="5925312" cy="36576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Flagship baru July 2026 di Tokyo. Konsep "life infrastructure": laundry, gym, coworking, F&amp;B, dan convenience dalam 1 bangunan.</a:t>
            </a:r>
            <a:endParaRPr lang="en-US" sz="1100" dirty="0"/>
          </a:p>
        </p:txBody>
      </p:sp>
      <p:sp>
        <p:nvSpPr>
          <p:cNvPr id="33" name="Shape 31"/>
          <p:cNvSpPr/>
          <p:nvPr/>
        </p:nvSpPr>
        <p:spPr>
          <a:xfrm>
            <a:off x="502920" y="4096512"/>
            <a:ext cx="8183880" cy="438912"/>
          </a:xfrm>
          <a:prstGeom prst="roundRect">
            <a:avLst>
              <a:gd name="adj" fmla="val 16667"/>
            </a:avLst>
          </a:prstGeom>
          <a:solidFill>
            <a:srgbClr val="F0F2FA"/>
          </a:solidFill>
          <a:ln w="12700">
            <a:solidFill>
              <a:srgbClr val="C8860A"/>
            </a:solidFill>
            <a:prstDash val="solid"/>
          </a:ln>
        </p:spPr>
      </p:sp>
      <p:sp>
        <p:nvSpPr>
          <p:cNvPr id="34" name="Text 32"/>
          <p:cNvSpPr/>
          <p:nvPr/>
        </p:nvSpPr>
        <p:spPr>
          <a:xfrm>
            <a:off x="548640" y="4133088"/>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5" name="Text 33"/>
          <p:cNvSpPr/>
          <p:nvPr/>
        </p:nvSpPr>
        <p:spPr>
          <a:xfrm>
            <a:off x="987552" y="4133088"/>
            <a:ext cx="1572768" cy="365760"/>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AZKO (ex-Ace Hdw)</a:t>
            </a:r>
            <a:endParaRPr lang="en-US" sz="1200" dirty="0"/>
          </a:p>
        </p:txBody>
      </p:sp>
      <p:sp>
        <p:nvSpPr>
          <p:cNvPr id="36" name="Shape 34"/>
          <p:cNvSpPr/>
          <p:nvPr/>
        </p:nvSpPr>
        <p:spPr>
          <a:xfrm>
            <a:off x="2578608" y="4187952"/>
            <a:ext cx="36576" cy="256032"/>
          </a:xfrm>
          <a:prstGeom prst="rect">
            <a:avLst/>
          </a:prstGeom>
          <a:solidFill>
            <a:srgbClr val="C8860A"/>
          </a:solidFill>
          <a:ln/>
        </p:spPr>
      </p:sp>
      <p:sp>
        <p:nvSpPr>
          <p:cNvPr id="37" name="Text 35"/>
          <p:cNvSpPr/>
          <p:nvPr/>
        </p:nvSpPr>
        <p:spPr>
          <a:xfrm>
            <a:off x="2670048" y="4133088"/>
            <a:ext cx="5925312" cy="36576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Rebrand Jan 2025 dari hardware store ke "inspiration room" 6,780m². Mitra10 Q1 2026: Rp 4.19T revenue. Retail home improvement berevolusi.</a:t>
            </a:r>
            <a:endParaRPr lang="en-US" sz="1100" dirty="0"/>
          </a:p>
        </p:txBody>
      </p:sp>
      <p:sp>
        <p:nvSpPr>
          <p:cNvPr id="38" name="Shape 36"/>
          <p:cNvSpPr/>
          <p:nvPr/>
        </p:nvSpPr>
        <p:spPr>
          <a:xfrm>
            <a:off x="502920" y="4599432"/>
            <a:ext cx="8183880" cy="438912"/>
          </a:xfrm>
          <a:prstGeom prst="roundRect">
            <a:avLst>
              <a:gd name="adj" fmla="val 16667"/>
            </a:avLst>
          </a:prstGeom>
          <a:solidFill>
            <a:srgbClr val="F0F2FA"/>
          </a:solidFill>
          <a:ln w="12700">
            <a:solidFill>
              <a:srgbClr val="8E24AA"/>
            </a:solidFill>
            <a:prstDash val="solid"/>
          </a:ln>
        </p:spPr>
      </p:sp>
      <p:sp>
        <p:nvSpPr>
          <p:cNvPr id="39" name="Text 37"/>
          <p:cNvSpPr/>
          <p:nvPr/>
        </p:nvSpPr>
        <p:spPr>
          <a:xfrm>
            <a:off x="548640" y="4636008"/>
            <a:ext cx="411480" cy="36576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40" name="Text 38"/>
          <p:cNvSpPr/>
          <p:nvPr/>
        </p:nvSpPr>
        <p:spPr>
          <a:xfrm>
            <a:off x="987552" y="4636008"/>
            <a:ext cx="1572768" cy="365760"/>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Pop Mart</a:t>
            </a:r>
            <a:endParaRPr lang="en-US" sz="1200" dirty="0"/>
          </a:p>
        </p:txBody>
      </p:sp>
      <p:sp>
        <p:nvSpPr>
          <p:cNvPr id="41" name="Shape 39"/>
          <p:cNvSpPr/>
          <p:nvPr/>
        </p:nvSpPr>
        <p:spPr>
          <a:xfrm>
            <a:off x="2578608" y="4690872"/>
            <a:ext cx="36576" cy="256032"/>
          </a:xfrm>
          <a:prstGeom prst="rect">
            <a:avLst/>
          </a:prstGeom>
          <a:solidFill>
            <a:srgbClr val="8E24AA"/>
          </a:solidFill>
          <a:ln/>
        </p:spPr>
      </p:sp>
      <p:sp>
        <p:nvSpPr>
          <p:cNvPr id="42" name="Text 40"/>
          <p:cNvSpPr/>
          <p:nvPr/>
        </p:nvSpPr>
        <p:spPr>
          <a:xfrm>
            <a:off x="2670048" y="4636008"/>
            <a:ext cx="5925312" cy="365760"/>
          </a:xfrm>
          <a:prstGeom prst="rect">
            <a:avLst/>
          </a:prstGeom>
          <a:noFill/>
          <a:ln/>
        </p:spPr>
        <p:txBody>
          <a:bodyPr wrap="square" rtlCol="0" anchor="ctr"/>
          <a:lstStyle/>
          <a:p>
            <a:pPr algn="l" indent="0" marL="0">
              <a:buNone/>
            </a:pPr>
            <a:r>
              <a:rPr lang="en-US" sz="1100" dirty="0">
                <a:solidFill>
                  <a:srgbClr val="3D4A6E"/>
                </a:solidFill>
                <a:latin typeface="Calibri" pitchFamily="34" charset="0"/>
                <a:ea typeface="Calibri" pitchFamily="34" charset="-122"/>
                <a:cs typeface="Calibri" pitchFamily="34" charset="-120"/>
              </a:rPr>
              <a:t>Narrative experience retail: beli "mystery box" dengan karakter collectibles. Revenue $1B+ karena selling experience, bukan produk biasa.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2FA"/>
        </a:solidFill>
      </p:bgPr>
    </p:bg>
    <p:spTree>
      <p:nvGrpSpPr>
        <p:cNvPr id="1" name=""/>
        <p:cNvGrpSpPr/>
        <p:nvPr/>
      </p:nvGrpSpPr>
      <p:grpSpPr>
        <a:xfrm>
          <a:off x="0" y="0"/>
          <a:ext cx="0" cy="0"/>
          <a:chOff x="0" y="0"/>
          <a:chExt cx="0" cy="0"/>
        </a:xfrm>
      </p:grpSpPr>
      <p:sp>
        <p:nvSpPr>
          <p:cNvPr id="2" name="Text 0"/>
          <p:cNvSpPr/>
          <p:nvPr/>
        </p:nvSpPr>
        <p:spPr>
          <a:xfrm>
            <a:off x="502920" y="256032"/>
            <a:ext cx="8229600" cy="502920"/>
          </a:xfrm>
          <a:prstGeom prst="rect">
            <a:avLst/>
          </a:prstGeom>
          <a:noFill/>
          <a:ln/>
        </p:spPr>
        <p:txBody>
          <a:bodyPr wrap="square" rtlCol="0" anchor="ctr"/>
          <a:lstStyle/>
          <a:p>
            <a:pPr algn="l" indent="0" marL="0">
              <a:buNone/>
            </a:pPr>
            <a:r>
              <a:rPr lang="en-US" sz="2600" b="1" dirty="0">
                <a:solidFill>
                  <a:srgbClr val="1A2355"/>
                </a:solidFill>
                <a:latin typeface="Calibri" pitchFamily="34" charset="0"/>
                <a:ea typeface="Calibri" pitchFamily="34" charset="-122"/>
                <a:cs typeface="Calibri" pitchFamily="34" charset="-120"/>
              </a:rPr>
              <a:t>Belajar dari Global Store Concept Leaders</a:t>
            </a:r>
            <a:endParaRPr lang="en-US" sz="2600" dirty="0"/>
          </a:p>
        </p:txBody>
      </p:sp>
      <p:sp>
        <p:nvSpPr>
          <p:cNvPr id="3" name="Text 1"/>
          <p:cNvSpPr/>
          <p:nvPr/>
        </p:nvSpPr>
        <p:spPr>
          <a:xfrm>
            <a:off x="502920" y="758952"/>
            <a:ext cx="8229600" cy="256032"/>
          </a:xfrm>
          <a:prstGeom prst="rect">
            <a:avLst/>
          </a:prstGeom>
          <a:noFill/>
          <a:ln/>
        </p:spPr>
        <p:txBody>
          <a:bodyPr wrap="square" rtlCol="0" anchor="ctr"/>
          <a:lstStyle/>
          <a:p>
            <a:pPr algn="l" indent="0" marL="0">
              <a:buNone/>
            </a:pPr>
            <a:r>
              <a:rPr lang="en-US" sz="1200" dirty="0">
                <a:solidFill>
                  <a:srgbClr val="3D4A6E"/>
                </a:solidFill>
                <a:latin typeface="Calibri" pitchFamily="34" charset="0"/>
                <a:ea typeface="Calibri" pitchFamily="34" charset="-122"/>
                <a:cs typeface="Calibri" pitchFamily="34" charset="-120"/>
              </a:rPr>
              <a:t>Retailer terkemuka global investasi di specialist expertise + experiential design sebagai strategi utama</a:t>
            </a:r>
            <a:endParaRPr lang="en-US" sz="1200" dirty="0"/>
          </a:p>
        </p:txBody>
      </p:sp>
      <p:sp>
        <p:nvSpPr>
          <p:cNvPr id="4" name="Shape 2"/>
          <p:cNvSpPr/>
          <p:nvPr/>
        </p:nvSpPr>
        <p:spPr>
          <a:xfrm>
            <a:off x="484632" y="1115568"/>
            <a:ext cx="2633472" cy="2542032"/>
          </a:xfrm>
          <a:prstGeom prst="roundRect">
            <a:avLst>
              <a:gd name="adj" fmla="val 3597"/>
            </a:avLst>
          </a:prstGeom>
          <a:solidFill>
            <a:srgbClr val="FFFFFF"/>
          </a:solidFill>
          <a:ln w="12700">
            <a:solidFill>
              <a:srgbClr val="1E2761"/>
            </a:solidFill>
            <a:prstDash val="solid"/>
          </a:ln>
        </p:spPr>
      </p:sp>
      <p:sp>
        <p:nvSpPr>
          <p:cNvPr id="5" name="Shape 3"/>
          <p:cNvSpPr/>
          <p:nvPr/>
        </p:nvSpPr>
        <p:spPr>
          <a:xfrm>
            <a:off x="484632" y="1115568"/>
            <a:ext cx="2633472" cy="731520"/>
          </a:xfrm>
          <a:prstGeom prst="roundRect">
            <a:avLst>
              <a:gd name="adj" fmla="val 12500"/>
            </a:avLst>
          </a:prstGeom>
          <a:solidFill>
            <a:srgbClr val="1E2761"/>
          </a:solidFill>
          <a:ln/>
        </p:spPr>
      </p:sp>
      <p:sp>
        <p:nvSpPr>
          <p:cNvPr id="6" name="Shape 4"/>
          <p:cNvSpPr/>
          <p:nvPr/>
        </p:nvSpPr>
        <p:spPr>
          <a:xfrm>
            <a:off x="484632" y="1572768"/>
            <a:ext cx="2633472" cy="274320"/>
          </a:xfrm>
          <a:prstGeom prst="rect">
            <a:avLst/>
          </a:prstGeom>
          <a:solidFill>
            <a:srgbClr val="1E2761"/>
          </a:solidFill>
          <a:ln/>
        </p:spPr>
      </p:sp>
      <p:sp>
        <p:nvSpPr>
          <p:cNvPr id="7" name="Text 5"/>
          <p:cNvSpPr/>
          <p:nvPr/>
        </p:nvSpPr>
        <p:spPr>
          <a:xfrm>
            <a:off x="612648" y="1188720"/>
            <a:ext cx="2377440" cy="347472"/>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 Lowe's Innovation Labs</a:t>
            </a:r>
            <a:endParaRPr lang="en-US" sz="1300" dirty="0"/>
          </a:p>
        </p:txBody>
      </p:sp>
      <p:sp>
        <p:nvSpPr>
          <p:cNvPr id="8" name="Shape 6"/>
          <p:cNvSpPr/>
          <p:nvPr/>
        </p:nvSpPr>
        <p:spPr>
          <a:xfrm>
            <a:off x="612648" y="1609344"/>
            <a:ext cx="2377440" cy="201168"/>
          </a:xfrm>
          <a:prstGeom prst="roundRect">
            <a:avLst>
              <a:gd name="adj" fmla="val 18182"/>
            </a:avLst>
          </a:prstGeom>
          <a:solidFill>
            <a:srgbClr val="FFFFFF">
              <a:alpha val="70000"/>
            </a:srgbClr>
          </a:solidFill>
          <a:ln/>
        </p:spPr>
      </p:sp>
      <p:sp>
        <p:nvSpPr>
          <p:cNvPr id="9" name="Text 7"/>
          <p:cNvSpPr/>
          <p:nvPr/>
        </p:nvSpPr>
        <p:spPr>
          <a:xfrm>
            <a:off x="612648" y="1609344"/>
            <a:ext cx="23774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Innovation-led</a:t>
            </a:r>
            <a:endParaRPr lang="en-US" sz="900" dirty="0"/>
          </a:p>
        </p:txBody>
      </p:sp>
      <p:sp>
        <p:nvSpPr>
          <p:cNvPr id="10" name="Shape 8"/>
          <p:cNvSpPr/>
          <p:nvPr/>
        </p:nvSpPr>
        <p:spPr>
          <a:xfrm>
            <a:off x="649224" y="2093976"/>
            <a:ext cx="82296" cy="82296"/>
          </a:xfrm>
          <a:prstGeom prst="ellipse">
            <a:avLst/>
          </a:prstGeom>
          <a:solidFill>
            <a:srgbClr val="1E2761"/>
          </a:solidFill>
          <a:ln/>
        </p:spPr>
      </p:sp>
      <p:sp>
        <p:nvSpPr>
          <p:cNvPr id="11" name="Text 9"/>
          <p:cNvSpPr/>
          <p:nvPr/>
        </p:nvSpPr>
        <p:spPr>
          <a:xfrm>
            <a:off x="786384" y="198424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Smart Home showroom + AR display</a:t>
            </a:r>
            <a:endParaRPr lang="en-US" sz="1050" dirty="0"/>
          </a:p>
        </p:txBody>
      </p:sp>
      <p:sp>
        <p:nvSpPr>
          <p:cNvPr id="12" name="Shape 10"/>
          <p:cNvSpPr/>
          <p:nvPr/>
        </p:nvSpPr>
        <p:spPr>
          <a:xfrm>
            <a:off x="649224" y="2642616"/>
            <a:ext cx="82296" cy="82296"/>
          </a:xfrm>
          <a:prstGeom prst="ellipse">
            <a:avLst/>
          </a:prstGeom>
          <a:solidFill>
            <a:srgbClr val="1E2761"/>
          </a:solidFill>
          <a:ln/>
        </p:spPr>
      </p:sp>
      <p:sp>
        <p:nvSpPr>
          <p:cNvPr id="13" name="Text 11"/>
          <p:cNvSpPr/>
          <p:nvPr/>
        </p:nvSpPr>
        <p:spPr>
          <a:xfrm>
            <a:off x="786384" y="253288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Dedicated innovation unit embedded di store</a:t>
            </a:r>
            <a:endParaRPr lang="en-US" sz="1050" dirty="0"/>
          </a:p>
        </p:txBody>
      </p:sp>
      <p:sp>
        <p:nvSpPr>
          <p:cNvPr id="14" name="Shape 12"/>
          <p:cNvSpPr/>
          <p:nvPr/>
        </p:nvSpPr>
        <p:spPr>
          <a:xfrm>
            <a:off x="649224" y="3191256"/>
            <a:ext cx="82296" cy="82296"/>
          </a:xfrm>
          <a:prstGeom prst="ellipse">
            <a:avLst/>
          </a:prstGeom>
          <a:solidFill>
            <a:srgbClr val="1E2761"/>
          </a:solidFill>
          <a:ln/>
        </p:spPr>
      </p:sp>
      <p:sp>
        <p:nvSpPr>
          <p:cNvPr id="15" name="Text 13"/>
          <p:cNvSpPr/>
          <p:nvPr/>
        </p:nvSpPr>
        <p:spPr>
          <a:xfrm>
            <a:off x="786384" y="308152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Staff = advisor, bukan sekadar kasir</a:t>
            </a:r>
            <a:endParaRPr lang="en-US" sz="1050" dirty="0"/>
          </a:p>
        </p:txBody>
      </p:sp>
      <p:sp>
        <p:nvSpPr>
          <p:cNvPr id="16" name="Shape 14"/>
          <p:cNvSpPr/>
          <p:nvPr/>
        </p:nvSpPr>
        <p:spPr>
          <a:xfrm>
            <a:off x="3282696" y="1115568"/>
            <a:ext cx="2633472" cy="2542032"/>
          </a:xfrm>
          <a:prstGeom prst="roundRect">
            <a:avLst>
              <a:gd name="adj" fmla="val 3597"/>
            </a:avLst>
          </a:prstGeom>
          <a:solidFill>
            <a:srgbClr val="FFFFFF"/>
          </a:solidFill>
          <a:ln w="12700">
            <a:solidFill>
              <a:srgbClr val="1F7A8C"/>
            </a:solidFill>
            <a:prstDash val="solid"/>
          </a:ln>
        </p:spPr>
      </p:sp>
      <p:sp>
        <p:nvSpPr>
          <p:cNvPr id="17" name="Shape 15"/>
          <p:cNvSpPr/>
          <p:nvPr/>
        </p:nvSpPr>
        <p:spPr>
          <a:xfrm>
            <a:off x="3282696" y="1115568"/>
            <a:ext cx="2633472" cy="731520"/>
          </a:xfrm>
          <a:prstGeom prst="roundRect">
            <a:avLst>
              <a:gd name="adj" fmla="val 12500"/>
            </a:avLst>
          </a:prstGeom>
          <a:solidFill>
            <a:srgbClr val="1F7A8C"/>
          </a:solidFill>
          <a:ln/>
        </p:spPr>
      </p:sp>
      <p:sp>
        <p:nvSpPr>
          <p:cNvPr id="18" name="Shape 16"/>
          <p:cNvSpPr/>
          <p:nvPr/>
        </p:nvSpPr>
        <p:spPr>
          <a:xfrm>
            <a:off x="3282696" y="1572768"/>
            <a:ext cx="2633472" cy="274320"/>
          </a:xfrm>
          <a:prstGeom prst="rect">
            <a:avLst/>
          </a:prstGeom>
          <a:solidFill>
            <a:srgbClr val="1F7A8C"/>
          </a:solidFill>
          <a:ln/>
        </p:spPr>
      </p:sp>
      <p:sp>
        <p:nvSpPr>
          <p:cNvPr id="19" name="Text 17"/>
          <p:cNvSpPr/>
          <p:nvPr/>
        </p:nvSpPr>
        <p:spPr>
          <a:xfrm>
            <a:off x="3410712" y="1188720"/>
            <a:ext cx="2377440" cy="347472"/>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 Home Depot Design Center</a:t>
            </a:r>
            <a:endParaRPr lang="en-US" sz="1300" dirty="0"/>
          </a:p>
        </p:txBody>
      </p:sp>
      <p:sp>
        <p:nvSpPr>
          <p:cNvPr id="20" name="Shape 18"/>
          <p:cNvSpPr/>
          <p:nvPr/>
        </p:nvSpPr>
        <p:spPr>
          <a:xfrm>
            <a:off x="3410712" y="1609344"/>
            <a:ext cx="2377440" cy="201168"/>
          </a:xfrm>
          <a:prstGeom prst="roundRect">
            <a:avLst>
              <a:gd name="adj" fmla="val 18182"/>
            </a:avLst>
          </a:prstGeom>
          <a:solidFill>
            <a:srgbClr val="FFFFFF">
              <a:alpha val="70000"/>
            </a:srgbClr>
          </a:solidFill>
          <a:ln/>
        </p:spPr>
      </p:sp>
      <p:sp>
        <p:nvSpPr>
          <p:cNvPr id="21" name="Text 19"/>
          <p:cNvSpPr/>
          <p:nvPr/>
        </p:nvSpPr>
        <p:spPr>
          <a:xfrm>
            <a:off x="3410712" y="1609344"/>
            <a:ext cx="23774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Service-led</a:t>
            </a:r>
            <a:endParaRPr lang="en-US" sz="900" dirty="0"/>
          </a:p>
        </p:txBody>
      </p:sp>
      <p:sp>
        <p:nvSpPr>
          <p:cNvPr id="22" name="Shape 20"/>
          <p:cNvSpPr/>
          <p:nvPr/>
        </p:nvSpPr>
        <p:spPr>
          <a:xfrm>
            <a:off x="3447288" y="2093976"/>
            <a:ext cx="82296" cy="82296"/>
          </a:xfrm>
          <a:prstGeom prst="ellipse">
            <a:avLst/>
          </a:prstGeom>
          <a:solidFill>
            <a:srgbClr val="1F7A8C"/>
          </a:solidFill>
          <a:ln/>
        </p:spPr>
      </p:sp>
      <p:sp>
        <p:nvSpPr>
          <p:cNvPr id="23" name="Text 21"/>
          <p:cNvSpPr/>
          <p:nvPr/>
        </p:nvSpPr>
        <p:spPr>
          <a:xfrm>
            <a:off x="3584448" y="198424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Full design consultation service</a:t>
            </a:r>
            <a:endParaRPr lang="en-US" sz="1050" dirty="0"/>
          </a:p>
        </p:txBody>
      </p:sp>
      <p:sp>
        <p:nvSpPr>
          <p:cNvPr id="24" name="Shape 22"/>
          <p:cNvSpPr/>
          <p:nvPr/>
        </p:nvSpPr>
        <p:spPr>
          <a:xfrm>
            <a:off x="3447288" y="2642616"/>
            <a:ext cx="82296" cy="82296"/>
          </a:xfrm>
          <a:prstGeom prst="ellipse">
            <a:avLst/>
          </a:prstGeom>
          <a:solidFill>
            <a:srgbClr val="1F7A8C"/>
          </a:solidFill>
          <a:ln/>
        </p:spPr>
      </p:sp>
      <p:sp>
        <p:nvSpPr>
          <p:cNvPr id="25" name="Text 23"/>
          <p:cNvSpPr/>
          <p:nvPr/>
        </p:nvSpPr>
        <p:spPr>
          <a:xfrm>
            <a:off x="3584448" y="253288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Pro-customer loyalty program</a:t>
            </a:r>
            <a:endParaRPr lang="en-US" sz="1050" dirty="0"/>
          </a:p>
        </p:txBody>
      </p:sp>
      <p:sp>
        <p:nvSpPr>
          <p:cNvPr id="26" name="Shape 24"/>
          <p:cNvSpPr/>
          <p:nvPr/>
        </p:nvSpPr>
        <p:spPr>
          <a:xfrm>
            <a:off x="3447288" y="3191256"/>
            <a:ext cx="82296" cy="82296"/>
          </a:xfrm>
          <a:prstGeom prst="ellipse">
            <a:avLst/>
          </a:prstGeom>
          <a:solidFill>
            <a:srgbClr val="1F7A8C"/>
          </a:solidFill>
          <a:ln/>
        </p:spPr>
      </p:sp>
      <p:sp>
        <p:nvSpPr>
          <p:cNvPr id="27" name="Text 25"/>
          <p:cNvSpPr/>
          <p:nvPr/>
        </p:nvSpPr>
        <p:spPr>
          <a:xfrm>
            <a:off x="3584448" y="308152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Integrasi online + in-store seamless</a:t>
            </a:r>
            <a:endParaRPr lang="en-US" sz="1050" dirty="0"/>
          </a:p>
        </p:txBody>
      </p:sp>
      <p:sp>
        <p:nvSpPr>
          <p:cNvPr id="28" name="Shape 26"/>
          <p:cNvSpPr/>
          <p:nvPr/>
        </p:nvSpPr>
        <p:spPr>
          <a:xfrm>
            <a:off x="6080760" y="1115568"/>
            <a:ext cx="2633472" cy="2542032"/>
          </a:xfrm>
          <a:prstGeom prst="roundRect">
            <a:avLst>
              <a:gd name="adj" fmla="val 3597"/>
            </a:avLst>
          </a:prstGeom>
          <a:solidFill>
            <a:srgbClr val="FFFFFF"/>
          </a:solidFill>
          <a:ln w="12700">
            <a:solidFill>
              <a:srgbClr val="C8860A"/>
            </a:solidFill>
            <a:prstDash val="solid"/>
          </a:ln>
        </p:spPr>
      </p:sp>
      <p:sp>
        <p:nvSpPr>
          <p:cNvPr id="29" name="Shape 27"/>
          <p:cNvSpPr/>
          <p:nvPr/>
        </p:nvSpPr>
        <p:spPr>
          <a:xfrm>
            <a:off x="6080760" y="1115568"/>
            <a:ext cx="2633472" cy="731520"/>
          </a:xfrm>
          <a:prstGeom prst="roundRect">
            <a:avLst>
              <a:gd name="adj" fmla="val 12500"/>
            </a:avLst>
          </a:prstGeom>
          <a:solidFill>
            <a:srgbClr val="C8860A"/>
          </a:solidFill>
          <a:ln/>
        </p:spPr>
      </p:sp>
      <p:sp>
        <p:nvSpPr>
          <p:cNvPr id="30" name="Shape 28"/>
          <p:cNvSpPr/>
          <p:nvPr/>
        </p:nvSpPr>
        <p:spPr>
          <a:xfrm>
            <a:off x="6080760" y="1572768"/>
            <a:ext cx="2633472" cy="274320"/>
          </a:xfrm>
          <a:prstGeom prst="rect">
            <a:avLst/>
          </a:prstGeom>
          <a:solidFill>
            <a:srgbClr val="C8860A"/>
          </a:solidFill>
          <a:ln/>
        </p:spPr>
      </p:sp>
      <p:sp>
        <p:nvSpPr>
          <p:cNvPr id="31" name="Text 29"/>
          <p:cNvSpPr/>
          <p:nvPr/>
        </p:nvSpPr>
        <p:spPr>
          <a:xfrm>
            <a:off x="6208776" y="1188720"/>
            <a:ext cx="2377440" cy="347472"/>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 Leroy Merlin</a:t>
            </a:r>
            <a:endParaRPr lang="en-US" sz="1300" dirty="0"/>
          </a:p>
        </p:txBody>
      </p:sp>
      <p:sp>
        <p:nvSpPr>
          <p:cNvPr id="32" name="Shape 30"/>
          <p:cNvSpPr/>
          <p:nvPr/>
        </p:nvSpPr>
        <p:spPr>
          <a:xfrm>
            <a:off x="6208776" y="1609344"/>
            <a:ext cx="2377440" cy="201168"/>
          </a:xfrm>
          <a:prstGeom prst="roundRect">
            <a:avLst>
              <a:gd name="adj" fmla="val 18182"/>
            </a:avLst>
          </a:prstGeom>
          <a:solidFill>
            <a:srgbClr val="FFFFFF">
              <a:alpha val="70000"/>
            </a:srgbClr>
          </a:solidFill>
          <a:ln/>
        </p:spPr>
      </p:sp>
      <p:sp>
        <p:nvSpPr>
          <p:cNvPr id="33" name="Text 31"/>
          <p:cNvSpPr/>
          <p:nvPr/>
        </p:nvSpPr>
        <p:spPr>
          <a:xfrm>
            <a:off x="6208776" y="1609344"/>
            <a:ext cx="23774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Community-led</a:t>
            </a:r>
            <a:endParaRPr lang="en-US" sz="900" dirty="0"/>
          </a:p>
        </p:txBody>
      </p:sp>
      <p:sp>
        <p:nvSpPr>
          <p:cNvPr id="34" name="Shape 32"/>
          <p:cNvSpPr/>
          <p:nvPr/>
        </p:nvSpPr>
        <p:spPr>
          <a:xfrm>
            <a:off x="6245352" y="2093976"/>
            <a:ext cx="82296" cy="82296"/>
          </a:xfrm>
          <a:prstGeom prst="ellipse">
            <a:avLst/>
          </a:prstGeom>
          <a:solidFill>
            <a:srgbClr val="C8860A"/>
          </a:solidFill>
          <a:ln/>
        </p:spPr>
      </p:sp>
      <p:sp>
        <p:nvSpPr>
          <p:cNvPr id="35" name="Text 33"/>
          <p:cNvSpPr/>
          <p:nvPr/>
        </p:nvSpPr>
        <p:spPr>
          <a:xfrm>
            <a:off x="6382512" y="198424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Free DIY workshops weekly</a:t>
            </a:r>
            <a:endParaRPr lang="en-US" sz="1050" dirty="0"/>
          </a:p>
        </p:txBody>
      </p:sp>
      <p:sp>
        <p:nvSpPr>
          <p:cNvPr id="36" name="Shape 34"/>
          <p:cNvSpPr/>
          <p:nvPr/>
        </p:nvSpPr>
        <p:spPr>
          <a:xfrm>
            <a:off x="6245352" y="2642616"/>
            <a:ext cx="82296" cy="82296"/>
          </a:xfrm>
          <a:prstGeom prst="ellipse">
            <a:avLst/>
          </a:prstGeom>
          <a:solidFill>
            <a:srgbClr val="C8860A"/>
          </a:solidFill>
          <a:ln/>
        </p:spPr>
      </p:sp>
      <p:sp>
        <p:nvSpPr>
          <p:cNvPr id="37" name="Text 35"/>
          <p:cNvSpPr/>
          <p:nvPr/>
        </p:nvSpPr>
        <p:spPr>
          <a:xfrm>
            <a:off x="6382512" y="253288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Community of makers &amp; hobbyists</a:t>
            </a:r>
            <a:endParaRPr lang="en-US" sz="1050" dirty="0"/>
          </a:p>
        </p:txBody>
      </p:sp>
      <p:sp>
        <p:nvSpPr>
          <p:cNvPr id="38" name="Shape 36"/>
          <p:cNvSpPr/>
          <p:nvPr/>
        </p:nvSpPr>
        <p:spPr>
          <a:xfrm>
            <a:off x="6245352" y="3191256"/>
            <a:ext cx="82296" cy="82296"/>
          </a:xfrm>
          <a:prstGeom prst="ellipse">
            <a:avLst/>
          </a:prstGeom>
          <a:solidFill>
            <a:srgbClr val="C8860A"/>
          </a:solidFill>
          <a:ln/>
        </p:spPr>
      </p:sp>
      <p:sp>
        <p:nvSpPr>
          <p:cNvPr id="39" name="Text 37"/>
          <p:cNvSpPr/>
          <p:nvPr/>
        </p:nvSpPr>
        <p:spPr>
          <a:xfrm>
            <a:off x="6382512" y="308152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Content creator partnership store</a:t>
            </a:r>
            <a:endParaRPr lang="en-US" sz="1050" dirty="0"/>
          </a:p>
        </p:txBody>
      </p:sp>
      <p:sp>
        <p:nvSpPr>
          <p:cNvPr id="40" name="Shape 38"/>
          <p:cNvSpPr/>
          <p:nvPr/>
        </p:nvSpPr>
        <p:spPr>
          <a:xfrm>
            <a:off x="484632" y="2578608"/>
            <a:ext cx="2633472" cy="2542032"/>
          </a:xfrm>
          <a:prstGeom prst="roundRect">
            <a:avLst>
              <a:gd name="adj" fmla="val 3597"/>
            </a:avLst>
          </a:prstGeom>
          <a:solidFill>
            <a:srgbClr val="FFFFFF"/>
          </a:solidFill>
          <a:ln w="12700">
            <a:solidFill>
              <a:srgbClr val="6A1B9A"/>
            </a:solidFill>
            <a:prstDash val="solid"/>
          </a:ln>
        </p:spPr>
      </p:sp>
      <p:sp>
        <p:nvSpPr>
          <p:cNvPr id="41" name="Shape 39"/>
          <p:cNvSpPr/>
          <p:nvPr/>
        </p:nvSpPr>
        <p:spPr>
          <a:xfrm>
            <a:off x="484632" y="2578608"/>
            <a:ext cx="2633472" cy="731520"/>
          </a:xfrm>
          <a:prstGeom prst="roundRect">
            <a:avLst>
              <a:gd name="adj" fmla="val 12500"/>
            </a:avLst>
          </a:prstGeom>
          <a:solidFill>
            <a:srgbClr val="6A1B9A"/>
          </a:solidFill>
          <a:ln/>
        </p:spPr>
      </p:sp>
      <p:sp>
        <p:nvSpPr>
          <p:cNvPr id="42" name="Shape 40"/>
          <p:cNvSpPr/>
          <p:nvPr/>
        </p:nvSpPr>
        <p:spPr>
          <a:xfrm>
            <a:off x="484632" y="3035808"/>
            <a:ext cx="2633472" cy="274320"/>
          </a:xfrm>
          <a:prstGeom prst="rect">
            <a:avLst/>
          </a:prstGeom>
          <a:solidFill>
            <a:srgbClr val="6A1B9A"/>
          </a:solidFill>
          <a:ln/>
        </p:spPr>
      </p:sp>
      <p:sp>
        <p:nvSpPr>
          <p:cNvPr id="43" name="Text 41"/>
          <p:cNvSpPr/>
          <p:nvPr/>
        </p:nvSpPr>
        <p:spPr>
          <a:xfrm>
            <a:off x="612648" y="2651760"/>
            <a:ext cx="2377440" cy="347472"/>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 Red Star Macalline</a:t>
            </a:r>
            <a:endParaRPr lang="en-US" sz="1300" dirty="0"/>
          </a:p>
        </p:txBody>
      </p:sp>
      <p:sp>
        <p:nvSpPr>
          <p:cNvPr id="44" name="Shape 42"/>
          <p:cNvSpPr/>
          <p:nvPr/>
        </p:nvSpPr>
        <p:spPr>
          <a:xfrm>
            <a:off x="612648" y="3072384"/>
            <a:ext cx="2377440" cy="201168"/>
          </a:xfrm>
          <a:prstGeom prst="roundRect">
            <a:avLst>
              <a:gd name="adj" fmla="val 18182"/>
            </a:avLst>
          </a:prstGeom>
          <a:solidFill>
            <a:srgbClr val="FFFFFF">
              <a:alpha val="70000"/>
            </a:srgbClr>
          </a:solidFill>
          <a:ln/>
        </p:spPr>
      </p:sp>
      <p:sp>
        <p:nvSpPr>
          <p:cNvPr id="45" name="Text 43"/>
          <p:cNvSpPr/>
          <p:nvPr/>
        </p:nvSpPr>
        <p:spPr>
          <a:xfrm>
            <a:off x="612648" y="3072384"/>
            <a:ext cx="23774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Platform-led</a:t>
            </a:r>
            <a:endParaRPr lang="en-US" sz="900" dirty="0"/>
          </a:p>
        </p:txBody>
      </p:sp>
      <p:sp>
        <p:nvSpPr>
          <p:cNvPr id="46" name="Shape 44"/>
          <p:cNvSpPr/>
          <p:nvPr/>
        </p:nvSpPr>
        <p:spPr>
          <a:xfrm>
            <a:off x="649224" y="3557016"/>
            <a:ext cx="82296" cy="82296"/>
          </a:xfrm>
          <a:prstGeom prst="ellipse">
            <a:avLst/>
          </a:prstGeom>
          <a:solidFill>
            <a:srgbClr val="6A1B9A"/>
          </a:solidFill>
          <a:ln/>
        </p:spPr>
      </p:sp>
      <p:sp>
        <p:nvSpPr>
          <p:cNvPr id="47" name="Text 45"/>
          <p:cNvSpPr/>
          <p:nvPr/>
        </p:nvSpPr>
        <p:spPr>
          <a:xfrm>
            <a:off x="786384" y="344728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158 malls, 18,000 brands dalam 1 ekosistem</a:t>
            </a:r>
            <a:endParaRPr lang="en-US" sz="1050" dirty="0"/>
          </a:p>
        </p:txBody>
      </p:sp>
      <p:sp>
        <p:nvSpPr>
          <p:cNvPr id="48" name="Shape 46"/>
          <p:cNvSpPr/>
          <p:nvPr/>
        </p:nvSpPr>
        <p:spPr>
          <a:xfrm>
            <a:off x="649224" y="4105656"/>
            <a:ext cx="82296" cy="82296"/>
          </a:xfrm>
          <a:prstGeom prst="ellipse">
            <a:avLst/>
          </a:prstGeom>
          <a:solidFill>
            <a:srgbClr val="6A1B9A"/>
          </a:solidFill>
          <a:ln/>
        </p:spPr>
      </p:sp>
      <p:sp>
        <p:nvSpPr>
          <p:cNvPr id="49" name="Text 47"/>
          <p:cNvSpPr/>
          <p:nvPr/>
        </p:nvSpPr>
        <p:spPr>
          <a:xfrm>
            <a:off x="786384" y="399592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One-stop home decor destination</a:t>
            </a:r>
            <a:endParaRPr lang="en-US" sz="1050" dirty="0"/>
          </a:p>
        </p:txBody>
      </p:sp>
      <p:sp>
        <p:nvSpPr>
          <p:cNvPr id="50" name="Shape 48"/>
          <p:cNvSpPr/>
          <p:nvPr/>
        </p:nvSpPr>
        <p:spPr>
          <a:xfrm>
            <a:off x="649224" y="4654296"/>
            <a:ext cx="82296" cy="82296"/>
          </a:xfrm>
          <a:prstGeom prst="ellipse">
            <a:avLst/>
          </a:prstGeom>
          <a:solidFill>
            <a:srgbClr val="6A1B9A"/>
          </a:solidFill>
          <a:ln/>
        </p:spPr>
      </p:sp>
      <p:sp>
        <p:nvSpPr>
          <p:cNvPr id="51" name="Text 49"/>
          <p:cNvSpPr/>
          <p:nvPr/>
        </p:nvSpPr>
        <p:spPr>
          <a:xfrm>
            <a:off x="786384" y="454456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Data-driven merchandising per kota</a:t>
            </a:r>
            <a:endParaRPr lang="en-US" sz="1050" dirty="0"/>
          </a:p>
        </p:txBody>
      </p:sp>
      <p:sp>
        <p:nvSpPr>
          <p:cNvPr id="52" name="Shape 50"/>
          <p:cNvSpPr/>
          <p:nvPr/>
        </p:nvSpPr>
        <p:spPr>
          <a:xfrm>
            <a:off x="3282696" y="2578608"/>
            <a:ext cx="2633472" cy="2542032"/>
          </a:xfrm>
          <a:prstGeom prst="roundRect">
            <a:avLst>
              <a:gd name="adj" fmla="val 3597"/>
            </a:avLst>
          </a:prstGeom>
          <a:solidFill>
            <a:srgbClr val="FFFFFF"/>
          </a:solidFill>
          <a:ln w="12700">
            <a:solidFill>
              <a:srgbClr val="00695C"/>
            </a:solidFill>
            <a:prstDash val="solid"/>
          </a:ln>
        </p:spPr>
      </p:sp>
      <p:sp>
        <p:nvSpPr>
          <p:cNvPr id="53" name="Shape 51"/>
          <p:cNvSpPr/>
          <p:nvPr/>
        </p:nvSpPr>
        <p:spPr>
          <a:xfrm>
            <a:off x="3282696" y="2578608"/>
            <a:ext cx="2633472" cy="731520"/>
          </a:xfrm>
          <a:prstGeom prst="roundRect">
            <a:avLst>
              <a:gd name="adj" fmla="val 12500"/>
            </a:avLst>
          </a:prstGeom>
          <a:solidFill>
            <a:srgbClr val="00695C"/>
          </a:solidFill>
          <a:ln/>
        </p:spPr>
      </p:sp>
      <p:sp>
        <p:nvSpPr>
          <p:cNvPr id="54" name="Shape 52"/>
          <p:cNvSpPr/>
          <p:nvPr/>
        </p:nvSpPr>
        <p:spPr>
          <a:xfrm>
            <a:off x="3282696" y="3035808"/>
            <a:ext cx="2633472" cy="274320"/>
          </a:xfrm>
          <a:prstGeom prst="rect">
            <a:avLst/>
          </a:prstGeom>
          <a:solidFill>
            <a:srgbClr val="00695C"/>
          </a:solidFill>
          <a:ln/>
        </p:spPr>
      </p:sp>
      <p:sp>
        <p:nvSpPr>
          <p:cNvPr id="55" name="Text 53"/>
          <p:cNvSpPr/>
          <p:nvPr/>
        </p:nvSpPr>
        <p:spPr>
          <a:xfrm>
            <a:off x="3410712" y="2651760"/>
            <a:ext cx="2377440" cy="347472"/>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 Hanssem (Korea)</a:t>
            </a:r>
            <a:endParaRPr lang="en-US" sz="1300" dirty="0"/>
          </a:p>
        </p:txBody>
      </p:sp>
      <p:sp>
        <p:nvSpPr>
          <p:cNvPr id="56" name="Shape 54"/>
          <p:cNvSpPr/>
          <p:nvPr/>
        </p:nvSpPr>
        <p:spPr>
          <a:xfrm>
            <a:off x="3410712" y="3072384"/>
            <a:ext cx="2377440" cy="201168"/>
          </a:xfrm>
          <a:prstGeom prst="roundRect">
            <a:avLst>
              <a:gd name="adj" fmla="val 18182"/>
            </a:avLst>
          </a:prstGeom>
          <a:solidFill>
            <a:srgbClr val="FFFFFF">
              <a:alpha val="70000"/>
            </a:srgbClr>
          </a:solidFill>
          <a:ln/>
        </p:spPr>
      </p:sp>
      <p:sp>
        <p:nvSpPr>
          <p:cNvPr id="57" name="Text 55"/>
          <p:cNvSpPr/>
          <p:nvPr/>
        </p:nvSpPr>
        <p:spPr>
          <a:xfrm>
            <a:off x="3410712" y="3072384"/>
            <a:ext cx="23774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Tech-led</a:t>
            </a:r>
            <a:endParaRPr lang="en-US" sz="900" dirty="0"/>
          </a:p>
        </p:txBody>
      </p:sp>
      <p:sp>
        <p:nvSpPr>
          <p:cNvPr id="58" name="Shape 56"/>
          <p:cNvSpPr/>
          <p:nvPr/>
        </p:nvSpPr>
        <p:spPr>
          <a:xfrm>
            <a:off x="3447288" y="3557016"/>
            <a:ext cx="82296" cy="82296"/>
          </a:xfrm>
          <a:prstGeom prst="ellipse">
            <a:avLst/>
          </a:prstGeom>
          <a:solidFill>
            <a:srgbClr val="00695C"/>
          </a:solidFill>
          <a:ln/>
        </p:spPr>
      </p:sp>
      <p:sp>
        <p:nvSpPr>
          <p:cNvPr id="59" name="Text 57"/>
          <p:cNvSpPr/>
          <p:nvPr/>
        </p:nvSpPr>
        <p:spPr>
          <a:xfrm>
            <a:off x="3584448" y="344728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3D home planning app + in-store demo</a:t>
            </a:r>
            <a:endParaRPr lang="en-US" sz="1050" dirty="0"/>
          </a:p>
        </p:txBody>
      </p:sp>
      <p:sp>
        <p:nvSpPr>
          <p:cNvPr id="60" name="Shape 58"/>
          <p:cNvSpPr/>
          <p:nvPr/>
        </p:nvSpPr>
        <p:spPr>
          <a:xfrm>
            <a:off x="3447288" y="4105656"/>
            <a:ext cx="82296" cy="82296"/>
          </a:xfrm>
          <a:prstGeom prst="ellipse">
            <a:avLst/>
          </a:prstGeom>
          <a:solidFill>
            <a:srgbClr val="00695C"/>
          </a:solidFill>
          <a:ln/>
        </p:spPr>
      </p:sp>
      <p:sp>
        <p:nvSpPr>
          <p:cNvPr id="61" name="Text 59"/>
          <p:cNvSpPr/>
          <p:nvPr/>
        </p:nvSpPr>
        <p:spPr>
          <a:xfrm>
            <a:off x="3584448" y="399592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One-stop: design, material, installation</a:t>
            </a:r>
            <a:endParaRPr lang="en-US" sz="1050" dirty="0"/>
          </a:p>
        </p:txBody>
      </p:sp>
      <p:sp>
        <p:nvSpPr>
          <p:cNvPr id="62" name="Shape 60"/>
          <p:cNvSpPr/>
          <p:nvPr/>
        </p:nvSpPr>
        <p:spPr>
          <a:xfrm>
            <a:off x="3447288" y="4654296"/>
            <a:ext cx="82296" cy="82296"/>
          </a:xfrm>
          <a:prstGeom prst="ellipse">
            <a:avLst/>
          </a:prstGeom>
          <a:solidFill>
            <a:srgbClr val="00695C"/>
          </a:solidFill>
          <a:ln/>
        </p:spPr>
      </p:sp>
      <p:sp>
        <p:nvSpPr>
          <p:cNvPr id="63" name="Text 61"/>
          <p:cNvSpPr/>
          <p:nvPr/>
        </p:nvSpPr>
        <p:spPr>
          <a:xfrm>
            <a:off x="3584448" y="454456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Showroom sebagai "inspiration lab"</a:t>
            </a:r>
            <a:endParaRPr lang="en-US" sz="1050" dirty="0"/>
          </a:p>
        </p:txBody>
      </p:sp>
      <p:sp>
        <p:nvSpPr>
          <p:cNvPr id="64" name="Shape 62"/>
          <p:cNvSpPr/>
          <p:nvPr/>
        </p:nvSpPr>
        <p:spPr>
          <a:xfrm>
            <a:off x="6080760" y="2578608"/>
            <a:ext cx="2633472" cy="2542032"/>
          </a:xfrm>
          <a:prstGeom prst="roundRect">
            <a:avLst>
              <a:gd name="adj" fmla="val 3597"/>
            </a:avLst>
          </a:prstGeom>
          <a:solidFill>
            <a:srgbClr val="FFFFFF"/>
          </a:solidFill>
          <a:ln w="12700">
            <a:solidFill>
              <a:srgbClr val="E65100"/>
            </a:solidFill>
            <a:prstDash val="solid"/>
          </a:ln>
        </p:spPr>
      </p:sp>
      <p:sp>
        <p:nvSpPr>
          <p:cNvPr id="65" name="Shape 63"/>
          <p:cNvSpPr/>
          <p:nvPr/>
        </p:nvSpPr>
        <p:spPr>
          <a:xfrm>
            <a:off x="6080760" y="2578608"/>
            <a:ext cx="2633472" cy="731520"/>
          </a:xfrm>
          <a:prstGeom prst="roundRect">
            <a:avLst>
              <a:gd name="adj" fmla="val 12500"/>
            </a:avLst>
          </a:prstGeom>
          <a:solidFill>
            <a:srgbClr val="E65100"/>
          </a:solidFill>
          <a:ln/>
        </p:spPr>
      </p:sp>
      <p:sp>
        <p:nvSpPr>
          <p:cNvPr id="66" name="Shape 64"/>
          <p:cNvSpPr/>
          <p:nvPr/>
        </p:nvSpPr>
        <p:spPr>
          <a:xfrm>
            <a:off x="6080760" y="3035808"/>
            <a:ext cx="2633472" cy="274320"/>
          </a:xfrm>
          <a:prstGeom prst="rect">
            <a:avLst/>
          </a:prstGeom>
          <a:solidFill>
            <a:srgbClr val="E65100"/>
          </a:solidFill>
          <a:ln/>
        </p:spPr>
      </p:sp>
      <p:sp>
        <p:nvSpPr>
          <p:cNvPr id="67" name="Text 65"/>
          <p:cNvSpPr/>
          <p:nvPr/>
        </p:nvSpPr>
        <p:spPr>
          <a:xfrm>
            <a:off x="6208776" y="2651760"/>
            <a:ext cx="2377440" cy="347472"/>
          </a:xfrm>
          <a:prstGeom prst="rect">
            <a:avLst/>
          </a:prstGeom>
          <a:noFill/>
          <a:ln/>
        </p:spPr>
        <p:txBody>
          <a:bodyPr wrap="square"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 AZKO &amp; Mitra10</a:t>
            </a:r>
            <a:endParaRPr lang="en-US" sz="1300" dirty="0"/>
          </a:p>
        </p:txBody>
      </p:sp>
      <p:sp>
        <p:nvSpPr>
          <p:cNvPr id="68" name="Shape 66"/>
          <p:cNvSpPr/>
          <p:nvPr/>
        </p:nvSpPr>
        <p:spPr>
          <a:xfrm>
            <a:off x="6208776" y="3072384"/>
            <a:ext cx="2377440" cy="201168"/>
          </a:xfrm>
          <a:prstGeom prst="roundRect">
            <a:avLst>
              <a:gd name="adj" fmla="val 18182"/>
            </a:avLst>
          </a:prstGeom>
          <a:solidFill>
            <a:srgbClr val="FFFFFF">
              <a:alpha val="70000"/>
            </a:srgbClr>
          </a:solidFill>
          <a:ln/>
        </p:spPr>
      </p:sp>
      <p:sp>
        <p:nvSpPr>
          <p:cNvPr id="69" name="Text 67"/>
          <p:cNvSpPr/>
          <p:nvPr/>
        </p:nvSpPr>
        <p:spPr>
          <a:xfrm>
            <a:off x="6208776" y="3072384"/>
            <a:ext cx="2377440" cy="2011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Evolving</a:t>
            </a:r>
            <a:endParaRPr lang="en-US" sz="900" dirty="0"/>
          </a:p>
        </p:txBody>
      </p:sp>
      <p:sp>
        <p:nvSpPr>
          <p:cNvPr id="70" name="Shape 68"/>
          <p:cNvSpPr/>
          <p:nvPr/>
        </p:nvSpPr>
        <p:spPr>
          <a:xfrm>
            <a:off x="6245352" y="3557016"/>
            <a:ext cx="82296" cy="82296"/>
          </a:xfrm>
          <a:prstGeom prst="ellipse">
            <a:avLst/>
          </a:prstGeom>
          <a:solidFill>
            <a:srgbClr val="E65100"/>
          </a:solidFill>
          <a:ln/>
        </p:spPr>
      </p:sp>
      <p:sp>
        <p:nvSpPr>
          <p:cNvPr id="71" name="Text 69"/>
          <p:cNvSpPr/>
          <p:nvPr/>
        </p:nvSpPr>
        <p:spPr>
          <a:xfrm>
            <a:off x="6382512" y="344728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AZKO: 6,780m² inspiration room (2025)</a:t>
            </a:r>
            <a:endParaRPr lang="en-US" sz="1050" dirty="0"/>
          </a:p>
        </p:txBody>
      </p:sp>
      <p:sp>
        <p:nvSpPr>
          <p:cNvPr id="72" name="Shape 70"/>
          <p:cNvSpPr/>
          <p:nvPr/>
        </p:nvSpPr>
        <p:spPr>
          <a:xfrm>
            <a:off x="6245352" y="4105656"/>
            <a:ext cx="82296" cy="82296"/>
          </a:xfrm>
          <a:prstGeom prst="ellipse">
            <a:avLst/>
          </a:prstGeom>
          <a:solidFill>
            <a:srgbClr val="E65100"/>
          </a:solidFill>
          <a:ln/>
        </p:spPr>
      </p:sp>
      <p:sp>
        <p:nvSpPr>
          <p:cNvPr id="73" name="Text 71"/>
          <p:cNvSpPr/>
          <p:nvPr/>
        </p:nvSpPr>
        <p:spPr>
          <a:xfrm>
            <a:off x="6382512" y="399592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Mitra10: Rp 4.19T Q1 2026 revenue</a:t>
            </a:r>
            <a:endParaRPr lang="en-US" sz="1050" dirty="0"/>
          </a:p>
        </p:txBody>
      </p:sp>
      <p:sp>
        <p:nvSpPr>
          <p:cNvPr id="74" name="Shape 72"/>
          <p:cNvSpPr/>
          <p:nvPr/>
        </p:nvSpPr>
        <p:spPr>
          <a:xfrm>
            <a:off x="6245352" y="4654296"/>
            <a:ext cx="82296" cy="82296"/>
          </a:xfrm>
          <a:prstGeom prst="ellipse">
            <a:avLst/>
          </a:prstGeom>
          <a:solidFill>
            <a:srgbClr val="E65100"/>
          </a:solidFill>
          <a:ln/>
        </p:spPr>
      </p:sp>
      <p:sp>
        <p:nvSpPr>
          <p:cNvPr id="75" name="Text 73"/>
          <p:cNvSpPr/>
          <p:nvPr/>
        </p:nvSpPr>
        <p:spPr>
          <a:xfrm>
            <a:off x="6382512" y="4544568"/>
            <a:ext cx="2212848" cy="512064"/>
          </a:xfrm>
          <a:prstGeom prst="rect">
            <a:avLst/>
          </a:prstGeom>
          <a:noFill/>
          <a:ln/>
        </p:spPr>
        <p:txBody>
          <a:bodyPr wrap="square" rtlCol="0" anchor="ctr"/>
          <a:lstStyle/>
          <a:p>
            <a:pPr algn="l" indent="0" marL="0">
              <a:lnSpc>
                <a:spcPct val="110000"/>
              </a:lnSpc>
              <a:buNone/>
            </a:pPr>
            <a:r>
              <a:rPr lang="en-US" sz="1050" dirty="0">
                <a:solidFill>
                  <a:srgbClr val="3D4A6E"/>
                </a:solidFill>
                <a:latin typeface="Calibri" pitchFamily="34" charset="0"/>
                <a:ea typeface="Calibri" pitchFamily="34" charset="-122"/>
                <a:cs typeface="Calibri" pitchFamily="34" charset="-120"/>
              </a:rPr>
              <a:t>Dari transaksional ke inspirational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E52"/>
        </a:solidFill>
      </p:bgPr>
    </p:bg>
    <p:spTree>
      <p:nvGrpSpPr>
        <p:cNvPr id="1" name=""/>
        <p:cNvGrpSpPr/>
        <p:nvPr/>
      </p:nvGrpSpPr>
      <p:grpSpPr>
        <a:xfrm>
          <a:off x="0" y="0"/>
          <a:ext cx="0" cy="0"/>
          <a:chOff x="0" y="0"/>
          <a:chExt cx="0" cy="0"/>
        </a:xfrm>
      </p:grpSpPr>
      <p:sp>
        <p:nvSpPr>
          <p:cNvPr id="2" name="Text 0"/>
          <p:cNvSpPr/>
          <p:nvPr/>
        </p:nvSpPr>
        <p:spPr>
          <a:xfrm>
            <a:off x="502920" y="256032"/>
            <a:ext cx="8229600" cy="512064"/>
          </a:xfrm>
          <a:prstGeom prst="rect">
            <a:avLst/>
          </a:prstGeom>
          <a:noFill/>
          <a:ln/>
        </p:spPr>
        <p:txBody>
          <a:bodyPr wrap="square" rtlCol="0" anchor="ctr"/>
          <a:lstStyle/>
          <a:p>
            <a:pPr algn="l" indent="0" marL="0">
              <a:buNone/>
            </a:pPr>
            <a:r>
              <a:rPr lang="en-US" sz="2700" b="1" dirty="0">
                <a:solidFill>
                  <a:srgbClr val="FFFFFF"/>
                </a:solidFill>
                <a:latin typeface="Calibri" pitchFamily="34" charset="0"/>
                <a:ea typeface="Calibri" pitchFamily="34" charset="-122"/>
                <a:cs typeface="Calibri" pitchFamily="34" charset="-120"/>
              </a:rPr>
              <a:t>Specialist vs Generalist: Equation Baru di Era AI</a:t>
            </a:r>
            <a:endParaRPr lang="en-US" sz="2700" dirty="0"/>
          </a:p>
        </p:txBody>
      </p:sp>
      <p:sp>
        <p:nvSpPr>
          <p:cNvPr id="3" name="Text 1"/>
          <p:cNvSpPr/>
          <p:nvPr/>
        </p:nvSpPr>
        <p:spPr>
          <a:xfrm>
            <a:off x="502920" y="768096"/>
            <a:ext cx="8229600" cy="274320"/>
          </a:xfrm>
          <a:prstGeom prst="rect">
            <a:avLst/>
          </a:prstGeom>
          <a:noFill/>
          <a:ln/>
        </p:spPr>
        <p:txBody>
          <a:bodyPr wrap="square" rtlCol="0" anchor="ctr"/>
          <a:lstStyle/>
          <a:p>
            <a:pPr algn="l" indent="0" marL="0">
              <a:buNone/>
            </a:pPr>
            <a:r>
              <a:rPr lang="en-US" sz="1300" dirty="0">
                <a:solidFill>
                  <a:srgbClr val="8891B4"/>
                </a:solidFill>
                <a:latin typeface="Calibri" pitchFamily="34" charset="0"/>
                <a:ea typeface="Calibri" pitchFamily="34" charset="-122"/>
                <a:cs typeface="Calibri" pitchFamily="34" charset="-120"/>
              </a:rPr>
              <a:t>AI mengubah nilai relatif antara kedalaman dan keluasan kemampuan secara fundamental</a:t>
            </a:r>
            <a:endParaRPr lang="en-US" sz="1300" dirty="0"/>
          </a:p>
        </p:txBody>
      </p:sp>
      <p:sp>
        <p:nvSpPr>
          <p:cNvPr id="4" name="Shape 2"/>
          <p:cNvSpPr/>
          <p:nvPr/>
        </p:nvSpPr>
        <p:spPr>
          <a:xfrm>
            <a:off x="731520" y="1097280"/>
            <a:ext cx="7680960" cy="804672"/>
          </a:xfrm>
          <a:prstGeom prst="roundRect">
            <a:avLst>
              <a:gd name="adj" fmla="val 9091"/>
            </a:avLst>
          </a:prstGeom>
          <a:solidFill>
            <a:srgbClr val="2A3580"/>
          </a:solidFill>
          <a:ln/>
        </p:spPr>
      </p:sp>
      <p:sp>
        <p:nvSpPr>
          <p:cNvPr id="5" name="Text 3"/>
          <p:cNvSpPr/>
          <p:nvPr/>
        </p:nvSpPr>
        <p:spPr>
          <a:xfrm>
            <a:off x="731520" y="1097280"/>
            <a:ext cx="7680960" cy="804672"/>
          </a:xfrm>
          <a:prstGeom prst="rect">
            <a:avLst/>
          </a:prstGeom>
          <a:noFill/>
          <a:ln/>
        </p:spPr>
        <p:txBody>
          <a:bodyPr wrap="square" rtlCol="0" anchor="ctr"/>
          <a:lstStyle/>
          <a:p>
            <a:pPr algn="ctr" indent="0" marL="0">
              <a:buNone/>
            </a:pPr>
            <a:r>
              <a:rPr lang="en-US" sz="1300" dirty="0">
                <a:solidFill>
                  <a:srgbClr val="8891B4"/>
                </a:solidFill>
                <a:latin typeface="Calibri" pitchFamily="34" charset="0"/>
                <a:ea typeface="Calibri" pitchFamily="34" charset="-122"/>
                <a:cs typeface="Calibri" pitchFamily="34" charset="-120"/>
              </a:rPr>
              <a:t>B  R  E  A  D  T  H   —   Kemampuan Lintas Fungsi  (diperluas dengan AI Tools)</a:t>
            </a:r>
            <a:endParaRPr lang="en-US" sz="1300" dirty="0"/>
          </a:p>
        </p:txBody>
      </p:sp>
      <p:sp>
        <p:nvSpPr>
          <p:cNvPr id="6" name="Shape 4"/>
          <p:cNvSpPr/>
          <p:nvPr/>
        </p:nvSpPr>
        <p:spPr>
          <a:xfrm>
            <a:off x="4160520" y="1097280"/>
            <a:ext cx="822960" cy="2697480"/>
          </a:xfrm>
          <a:prstGeom prst="roundRect">
            <a:avLst>
              <a:gd name="adj" fmla="val 8889"/>
            </a:avLst>
          </a:prstGeom>
          <a:solidFill>
            <a:srgbClr val="E8A020"/>
          </a:solidFill>
          <a:ln/>
        </p:spPr>
      </p:sp>
      <p:sp>
        <p:nvSpPr>
          <p:cNvPr id="7" name="Text 5"/>
          <p:cNvSpPr/>
          <p:nvPr/>
        </p:nvSpPr>
        <p:spPr>
          <a:xfrm>
            <a:off x="4160520" y="2560320"/>
            <a:ext cx="822960" cy="1097280"/>
          </a:xfrm>
          <a:prstGeom prst="rect">
            <a:avLst/>
          </a:prstGeom>
          <a:noFill/>
          <a:ln/>
        </p:spPr>
        <p:txBody>
          <a:bodyPr wrap="square" rtlCol="0" anchor="ctr"/>
          <a:lstStyle/>
          <a:p>
            <a:pPr algn="ctr" indent="0" marL="0">
              <a:lnSpc>
                <a:spcPct val="110000"/>
              </a:lnSpc>
              <a:buNone/>
            </a:pPr>
            <a:r>
              <a:rPr lang="en-US" sz="1100" b="1" dirty="0">
                <a:solidFill>
                  <a:srgbClr val="141E52"/>
                </a:solidFill>
                <a:latin typeface="Calibri" pitchFamily="34" charset="0"/>
                <a:ea typeface="Calibri" pitchFamily="34" charset="-122"/>
                <a:cs typeface="Calibri" pitchFamily="34" charset="-120"/>
              </a:rPr>
              <a:t>D</a:t>
            </a:r>
            <a:endParaRPr lang="en-US" sz="1100" dirty="0"/>
          </a:p>
          <a:p>
            <a:pPr algn="ctr" indent="0" marL="0">
              <a:lnSpc>
                <a:spcPct val="110000"/>
              </a:lnSpc>
              <a:buNone/>
            </a:pPr>
            <a:r>
              <a:rPr lang="en-US" sz="1100" b="1" dirty="0">
                <a:solidFill>
                  <a:srgbClr val="141E52"/>
                </a:solidFill>
                <a:latin typeface="Calibri" pitchFamily="34" charset="0"/>
                <a:ea typeface="Calibri" pitchFamily="34" charset="-122"/>
                <a:cs typeface="Calibri" pitchFamily="34" charset="-120"/>
              </a:rPr>
              <a:t>E</a:t>
            </a:r>
            <a:endParaRPr lang="en-US" sz="1100" dirty="0"/>
          </a:p>
          <a:p>
            <a:pPr algn="ctr" indent="0" marL="0">
              <a:lnSpc>
                <a:spcPct val="110000"/>
              </a:lnSpc>
              <a:buNone/>
            </a:pPr>
            <a:r>
              <a:rPr lang="en-US" sz="1100" b="1" dirty="0">
                <a:solidFill>
                  <a:srgbClr val="141E52"/>
                </a:solidFill>
                <a:latin typeface="Calibri" pitchFamily="34" charset="0"/>
                <a:ea typeface="Calibri" pitchFamily="34" charset="-122"/>
                <a:cs typeface="Calibri" pitchFamily="34" charset="-120"/>
              </a:rPr>
              <a:t>P</a:t>
            </a:r>
            <a:endParaRPr lang="en-US" sz="1100" dirty="0"/>
          </a:p>
          <a:p>
            <a:pPr algn="ctr" indent="0" marL="0">
              <a:lnSpc>
                <a:spcPct val="110000"/>
              </a:lnSpc>
              <a:buNone/>
            </a:pPr>
            <a:r>
              <a:rPr lang="en-US" sz="1100" b="1" dirty="0">
                <a:solidFill>
                  <a:srgbClr val="141E52"/>
                </a:solidFill>
                <a:latin typeface="Calibri" pitchFamily="34" charset="0"/>
                <a:ea typeface="Calibri" pitchFamily="34" charset="-122"/>
                <a:cs typeface="Calibri" pitchFamily="34" charset="-120"/>
              </a:rPr>
              <a:t>T</a:t>
            </a:r>
            <a:endParaRPr lang="en-US" sz="1100" dirty="0"/>
          </a:p>
          <a:p>
            <a:pPr algn="ctr" indent="0" marL="0">
              <a:lnSpc>
                <a:spcPct val="110000"/>
              </a:lnSpc>
              <a:buNone/>
            </a:pPr>
            <a:r>
              <a:rPr lang="en-US" sz="1100" b="1" dirty="0">
                <a:solidFill>
                  <a:srgbClr val="141E52"/>
                </a:solidFill>
                <a:latin typeface="Calibri" pitchFamily="34" charset="0"/>
                <a:ea typeface="Calibri" pitchFamily="34" charset="-122"/>
                <a:cs typeface="Calibri" pitchFamily="34" charset="-120"/>
              </a:rPr>
              <a:t>H</a:t>
            </a:r>
            <a:endParaRPr lang="en-US" sz="1100" dirty="0"/>
          </a:p>
        </p:txBody>
      </p:sp>
      <p:sp>
        <p:nvSpPr>
          <p:cNvPr id="8" name="Shape 6"/>
          <p:cNvSpPr/>
          <p:nvPr/>
        </p:nvSpPr>
        <p:spPr>
          <a:xfrm>
            <a:off x="548640" y="2029968"/>
            <a:ext cx="2331720" cy="1572768"/>
          </a:xfrm>
          <a:prstGeom prst="roundRect">
            <a:avLst>
              <a:gd name="adj" fmla="val 5814"/>
            </a:avLst>
          </a:prstGeom>
          <a:solidFill>
            <a:srgbClr val="2A3580"/>
          </a:solidFill>
          <a:ln w="12700">
            <a:solidFill>
              <a:srgbClr val="8891B4"/>
            </a:solidFill>
            <a:prstDash val="solid"/>
          </a:ln>
        </p:spPr>
      </p:sp>
      <p:sp>
        <p:nvSpPr>
          <p:cNvPr id="9" name="Text 7"/>
          <p:cNvSpPr/>
          <p:nvPr/>
        </p:nvSpPr>
        <p:spPr>
          <a:xfrm>
            <a:off x="548640" y="2103120"/>
            <a:ext cx="2331720" cy="347472"/>
          </a:xfrm>
          <a:prstGeom prst="rect">
            <a:avLst/>
          </a:prstGeom>
          <a:noFill/>
          <a:ln/>
        </p:spPr>
        <p:txBody>
          <a:bodyPr wrap="square" rtlCol="0" anchor="ctr"/>
          <a:lstStyle/>
          <a:p>
            <a:pPr algn="ctr" indent="0" marL="0">
              <a:buNone/>
            </a:pPr>
            <a:r>
              <a:rPr lang="en-US" sz="1400" b="1" dirty="0">
                <a:solidFill>
                  <a:srgbClr val="8891B4"/>
                </a:solidFill>
                <a:latin typeface="Calibri" pitchFamily="34" charset="0"/>
                <a:ea typeface="Calibri" pitchFamily="34" charset="-122"/>
                <a:cs typeface="Calibri" pitchFamily="34" charset="-120"/>
              </a:rPr>
              <a:t>GENERALIST</a:t>
            </a:r>
            <a:endParaRPr lang="en-US" sz="1400" dirty="0"/>
          </a:p>
        </p:txBody>
      </p:sp>
      <p:sp>
        <p:nvSpPr>
          <p:cNvPr id="10" name="Text 8"/>
          <p:cNvSpPr/>
          <p:nvPr/>
        </p:nvSpPr>
        <p:spPr>
          <a:xfrm>
            <a:off x="548640" y="2450592"/>
            <a:ext cx="2331720" cy="228600"/>
          </a:xfrm>
          <a:prstGeom prst="rect">
            <a:avLst/>
          </a:prstGeom>
          <a:noFill/>
          <a:ln/>
        </p:spPr>
        <p:txBody>
          <a:bodyPr wrap="square" rtlCol="0" anchor="ctr"/>
          <a:lstStyle/>
          <a:p>
            <a:pPr algn="ctr" indent="0" marL="0">
              <a:buNone/>
            </a:pPr>
            <a:r>
              <a:rPr lang="en-US" sz="1100" dirty="0">
                <a:solidFill>
                  <a:srgbClr val="E8A020"/>
                </a:solidFill>
                <a:latin typeface="Calibri" pitchFamily="34" charset="0"/>
                <a:ea typeface="Calibri" pitchFamily="34" charset="-122"/>
                <a:cs typeface="Calibri" pitchFamily="34" charset="-120"/>
              </a:rPr>
              <a:t>+ AI-Augmented</a:t>
            </a:r>
            <a:endParaRPr lang="en-US" sz="1100" dirty="0"/>
          </a:p>
        </p:txBody>
      </p:sp>
      <p:sp>
        <p:nvSpPr>
          <p:cNvPr id="11" name="Text 9"/>
          <p:cNvSpPr/>
          <p:nvPr/>
        </p:nvSpPr>
        <p:spPr>
          <a:xfrm>
            <a:off x="548640" y="2724912"/>
            <a:ext cx="2331720" cy="777240"/>
          </a:xfrm>
          <a:prstGeom prst="rect">
            <a:avLst/>
          </a:prstGeom>
          <a:noFill/>
          <a:ln/>
        </p:spPr>
        <p:txBody>
          <a:bodyPr wrap="square" rtlCol="0" anchor="ctr"/>
          <a:lstStyle/>
          <a:p>
            <a:pPr algn="ctr" indent="0" marL="0">
              <a:lnSpc>
                <a:spcPct val="120000"/>
              </a:lnSpc>
              <a:buNone/>
            </a:pPr>
            <a:r>
              <a:rPr lang="en-US" sz="1100" dirty="0">
                <a:solidFill>
                  <a:srgbClr val="8891B4"/>
                </a:solidFill>
                <a:latin typeface="Calibri" pitchFamily="34" charset="0"/>
                <a:ea typeface="Calibri" pitchFamily="34" charset="-122"/>
                <a:cs typeface="Calibri" pitchFamily="34" charset="-120"/>
              </a:rPr>
              <a:t>Capai 80% proficiency</a:t>
            </a:r>
            <a:endParaRPr lang="en-US" sz="1100" dirty="0"/>
          </a:p>
          <a:p>
            <a:pPr algn="ctr" indent="0" marL="0">
              <a:lnSpc>
                <a:spcPct val="120000"/>
              </a:lnSpc>
              <a:buNone/>
            </a:pPr>
            <a:r>
              <a:rPr lang="en-US" sz="1100" dirty="0">
                <a:solidFill>
                  <a:srgbClr val="8891B4"/>
                </a:solidFill>
                <a:latin typeface="Calibri" pitchFamily="34" charset="0"/>
                <a:ea typeface="Calibri" pitchFamily="34" charset="-122"/>
                <a:cs typeface="Calibri" pitchFamily="34" charset="-120"/>
              </a:rPr>
              <a:t>di banyak bidang dalam</a:t>
            </a:r>
            <a:endParaRPr lang="en-US" sz="1100" dirty="0"/>
          </a:p>
          <a:p>
            <a:pPr algn="ctr" indent="0" marL="0">
              <a:lnSpc>
                <a:spcPct val="120000"/>
              </a:lnSpc>
              <a:buNone/>
            </a:pPr>
            <a:r>
              <a:rPr lang="en-US" sz="1100" dirty="0">
                <a:solidFill>
                  <a:srgbClr val="8891B4"/>
                </a:solidFill>
                <a:latin typeface="Calibri" pitchFamily="34" charset="0"/>
                <a:ea typeface="Calibri" pitchFamily="34" charset="-122"/>
                <a:cs typeface="Calibri" pitchFamily="34" charset="-120"/>
              </a:rPr>
              <a:t>minggu, bukan tahun</a:t>
            </a:r>
            <a:endParaRPr lang="en-US" sz="1100" dirty="0"/>
          </a:p>
        </p:txBody>
      </p:sp>
      <p:sp>
        <p:nvSpPr>
          <p:cNvPr id="12" name="Shape 10"/>
          <p:cNvSpPr/>
          <p:nvPr/>
        </p:nvSpPr>
        <p:spPr>
          <a:xfrm>
            <a:off x="6263640" y="2029968"/>
            <a:ext cx="2331720" cy="1572768"/>
          </a:xfrm>
          <a:prstGeom prst="roundRect">
            <a:avLst>
              <a:gd name="adj" fmla="val 5814"/>
            </a:avLst>
          </a:prstGeom>
          <a:solidFill>
            <a:srgbClr val="2A3580"/>
          </a:solidFill>
          <a:ln w="12700">
            <a:solidFill>
              <a:srgbClr val="E8A020"/>
            </a:solidFill>
            <a:prstDash val="solid"/>
          </a:ln>
        </p:spPr>
      </p:sp>
      <p:sp>
        <p:nvSpPr>
          <p:cNvPr id="13" name="Text 11"/>
          <p:cNvSpPr/>
          <p:nvPr/>
        </p:nvSpPr>
        <p:spPr>
          <a:xfrm>
            <a:off x="6263640" y="2103120"/>
            <a:ext cx="2331720" cy="347472"/>
          </a:xfrm>
          <a:prstGeom prst="rect">
            <a:avLst/>
          </a:prstGeom>
          <a:noFill/>
          <a:ln/>
        </p:spPr>
        <p:txBody>
          <a:bodyPr wrap="square" rtlCol="0" anchor="ctr"/>
          <a:lstStyle/>
          <a:p>
            <a:pPr algn="ctr" indent="0" marL="0">
              <a:buNone/>
            </a:pPr>
            <a:r>
              <a:rPr lang="en-US" sz="1400" b="1" dirty="0">
                <a:solidFill>
                  <a:srgbClr val="E8A020"/>
                </a:solidFill>
                <a:latin typeface="Calibri" pitchFamily="34" charset="0"/>
                <a:ea typeface="Calibri" pitchFamily="34" charset="-122"/>
                <a:cs typeface="Calibri" pitchFamily="34" charset="-120"/>
              </a:rPr>
              <a:t>SPECIALIST</a:t>
            </a:r>
            <a:endParaRPr lang="en-US" sz="1400" dirty="0"/>
          </a:p>
        </p:txBody>
      </p:sp>
      <p:sp>
        <p:nvSpPr>
          <p:cNvPr id="14" name="Text 12"/>
          <p:cNvSpPr/>
          <p:nvPr/>
        </p:nvSpPr>
        <p:spPr>
          <a:xfrm>
            <a:off x="6263640" y="2450592"/>
            <a:ext cx="2331720" cy="228600"/>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AI-Resilient</a:t>
            </a:r>
            <a:endParaRPr lang="en-US" sz="1100" dirty="0"/>
          </a:p>
        </p:txBody>
      </p:sp>
      <p:sp>
        <p:nvSpPr>
          <p:cNvPr id="15" name="Text 13"/>
          <p:cNvSpPr/>
          <p:nvPr/>
        </p:nvSpPr>
        <p:spPr>
          <a:xfrm>
            <a:off x="6263640" y="2724912"/>
            <a:ext cx="2331720" cy="777240"/>
          </a:xfrm>
          <a:prstGeom prst="rect">
            <a:avLst/>
          </a:prstGeom>
          <a:noFill/>
          <a:ln/>
        </p:spPr>
        <p:txBody>
          <a:bodyPr wrap="square" rtlCol="0" anchor="ctr"/>
          <a:lstStyle/>
          <a:p>
            <a:pPr algn="ctr" indent="0" marL="0">
              <a:lnSpc>
                <a:spcPct val="120000"/>
              </a:lnSpc>
              <a:buNone/>
            </a:pPr>
            <a:r>
              <a:rPr lang="en-US" sz="1100" dirty="0">
                <a:solidFill>
                  <a:srgbClr val="8891B4"/>
                </a:solidFill>
                <a:latin typeface="Calibri" pitchFamily="34" charset="0"/>
                <a:ea typeface="Calibri" pitchFamily="34" charset="-122"/>
                <a:cs typeface="Calibri" pitchFamily="34" charset="-120"/>
              </a:rPr>
              <a:t>Nilai di "last 10%":</a:t>
            </a:r>
            <a:endParaRPr lang="en-US" sz="1100" dirty="0"/>
          </a:p>
          <a:p>
            <a:pPr algn="ctr" indent="0" marL="0">
              <a:lnSpc>
                <a:spcPct val="120000"/>
              </a:lnSpc>
              <a:buNone/>
            </a:pPr>
            <a:r>
              <a:rPr lang="en-US" sz="1100" dirty="0">
                <a:solidFill>
                  <a:srgbClr val="8891B4"/>
                </a:solidFill>
                <a:latin typeface="Calibri" pitchFamily="34" charset="0"/>
                <a:ea typeface="Calibri" pitchFamily="34" charset="-122"/>
                <a:cs typeface="Calibri" pitchFamily="34" charset="-120"/>
              </a:rPr>
              <a:t>judgment, etika, konteks</a:t>
            </a:r>
            <a:endParaRPr lang="en-US" sz="1100" dirty="0"/>
          </a:p>
          <a:p>
            <a:pPr algn="ctr" indent="0" marL="0">
              <a:lnSpc>
                <a:spcPct val="120000"/>
              </a:lnSpc>
              <a:buNone/>
            </a:pPr>
            <a:r>
              <a:rPr lang="en-US" sz="1100" dirty="0">
                <a:solidFill>
                  <a:srgbClr val="8891B4"/>
                </a:solidFill>
                <a:latin typeface="Calibri" pitchFamily="34" charset="0"/>
                <a:ea typeface="Calibri" pitchFamily="34" charset="-122"/>
                <a:cs typeface="Calibri" pitchFamily="34" charset="-120"/>
              </a:rPr>
              <a:t>mendalam yang AI tidak bisa replikasi</a:t>
            </a:r>
            <a:endParaRPr lang="en-US" sz="1100" dirty="0"/>
          </a:p>
        </p:txBody>
      </p:sp>
      <p:sp>
        <p:nvSpPr>
          <p:cNvPr id="16" name="Text 14"/>
          <p:cNvSpPr/>
          <p:nvPr/>
        </p:nvSpPr>
        <p:spPr>
          <a:xfrm>
            <a:off x="3611880" y="2103120"/>
            <a:ext cx="1920240" cy="658368"/>
          </a:xfrm>
          <a:prstGeom prst="rect">
            <a:avLst/>
          </a:prstGeom>
          <a:noFill/>
          <a:ln/>
        </p:spPr>
        <p:txBody>
          <a:bodyPr wrap="square" rtlCol="0" anchor="ctr"/>
          <a:lstStyle/>
          <a:p>
            <a:pPr algn="ctr" indent="0" marL="0">
              <a:lnSpc>
                <a:spcPct val="110000"/>
              </a:lnSpc>
              <a:buNone/>
            </a:pPr>
            <a:r>
              <a:rPr lang="en-US" sz="1400" b="1" dirty="0">
                <a:solidFill>
                  <a:srgbClr val="FFFFFF"/>
                </a:solidFill>
                <a:latin typeface="Calibri" pitchFamily="34" charset="0"/>
                <a:ea typeface="Calibri" pitchFamily="34" charset="-122"/>
                <a:cs typeface="Calibri" pitchFamily="34" charset="-120"/>
              </a:rPr>
              <a:t>T-SHAPED</a:t>
            </a:r>
            <a:endParaRPr lang="en-US" sz="1400" dirty="0"/>
          </a:p>
          <a:p>
            <a:pPr algn="ctr" indent="0" marL="0">
              <a:lnSpc>
                <a:spcPct val="110000"/>
              </a:lnSpc>
              <a:buNone/>
            </a:pPr>
            <a:r>
              <a:rPr lang="en-US" sz="1400" b="1" dirty="0">
                <a:solidFill>
                  <a:srgbClr val="FFFFFF"/>
                </a:solidFill>
                <a:latin typeface="Calibri" pitchFamily="34" charset="0"/>
                <a:ea typeface="Calibri" pitchFamily="34" charset="-122"/>
                <a:cs typeface="Calibri" pitchFamily="34" charset="-120"/>
              </a:rPr>
              <a:t>★ WINNER</a:t>
            </a:r>
            <a:endParaRPr lang="en-US" sz="1400" dirty="0"/>
          </a:p>
        </p:txBody>
      </p:sp>
      <p:sp>
        <p:nvSpPr>
          <p:cNvPr id="17" name="Text 15"/>
          <p:cNvSpPr/>
          <p:nvPr/>
        </p:nvSpPr>
        <p:spPr>
          <a:xfrm>
            <a:off x="3566160" y="2788920"/>
            <a:ext cx="2011680" cy="731520"/>
          </a:xfrm>
          <a:prstGeom prst="rect">
            <a:avLst/>
          </a:prstGeom>
          <a:noFill/>
          <a:ln/>
        </p:spPr>
        <p:txBody>
          <a:bodyPr wrap="square" rtlCol="0" anchor="ctr"/>
          <a:lstStyle/>
          <a:p>
            <a:pPr algn="ctr" indent="0" marL="0">
              <a:lnSpc>
                <a:spcPct val="115000"/>
              </a:lnSpc>
              <a:buNone/>
            </a:pPr>
            <a:r>
              <a:rPr lang="en-US" sz="1100" dirty="0">
                <a:solidFill>
                  <a:srgbClr val="8891B4"/>
                </a:solidFill>
                <a:latin typeface="Calibri" pitchFamily="34" charset="0"/>
                <a:ea typeface="Calibri" pitchFamily="34" charset="-122"/>
                <a:cs typeface="Calibri" pitchFamily="34" charset="-120"/>
              </a:rPr>
              <a:t>Depth dalam 1 domain</a:t>
            </a:r>
            <a:endParaRPr lang="en-US" sz="1100" dirty="0"/>
          </a:p>
          <a:p>
            <a:pPr algn="ctr" indent="0" marL="0">
              <a:lnSpc>
                <a:spcPct val="115000"/>
              </a:lnSpc>
              <a:buNone/>
            </a:pPr>
            <a:r>
              <a:rPr lang="en-US" sz="1100" dirty="0">
                <a:solidFill>
                  <a:srgbClr val="8891B4"/>
                </a:solidFill>
                <a:latin typeface="Calibri" pitchFamily="34" charset="0"/>
                <a:ea typeface="Calibri" pitchFamily="34" charset="-122"/>
                <a:cs typeface="Calibri" pitchFamily="34" charset="-120"/>
              </a:rPr>
              <a:t>+ Breadth lintas fungsi</a:t>
            </a:r>
            <a:endParaRPr lang="en-US" sz="1100" dirty="0"/>
          </a:p>
          <a:p>
            <a:pPr algn="ctr" indent="0" marL="0">
              <a:lnSpc>
                <a:spcPct val="115000"/>
              </a:lnSpc>
              <a:buNone/>
            </a:pPr>
            <a:r>
              <a:rPr lang="en-US" sz="1100" dirty="0">
                <a:solidFill>
                  <a:srgbClr val="8891B4"/>
                </a:solidFill>
                <a:latin typeface="Calibri" pitchFamily="34" charset="0"/>
                <a:ea typeface="Calibri" pitchFamily="34" charset="-122"/>
                <a:cs typeface="Calibri" pitchFamily="34" charset="-120"/>
              </a:rPr>
              <a:t>= Most Valuable</a:t>
            </a:r>
            <a:endParaRPr lang="en-US" sz="1100" dirty="0"/>
          </a:p>
        </p:txBody>
      </p:sp>
      <p:sp>
        <p:nvSpPr>
          <p:cNvPr id="18" name="Shape 16"/>
          <p:cNvSpPr/>
          <p:nvPr/>
        </p:nvSpPr>
        <p:spPr>
          <a:xfrm>
            <a:off x="502920" y="4160520"/>
            <a:ext cx="8229600" cy="621792"/>
          </a:xfrm>
          <a:prstGeom prst="roundRect">
            <a:avLst>
              <a:gd name="adj" fmla="val 11765"/>
            </a:avLst>
          </a:prstGeom>
          <a:solidFill>
            <a:srgbClr val="E8A020"/>
          </a:solidFill>
          <a:ln/>
        </p:spPr>
      </p:sp>
      <p:sp>
        <p:nvSpPr>
          <p:cNvPr id="19" name="Text 17"/>
          <p:cNvSpPr/>
          <p:nvPr/>
        </p:nvSpPr>
        <p:spPr>
          <a:xfrm>
            <a:off x="502920" y="4160520"/>
            <a:ext cx="8229600" cy="621792"/>
          </a:xfrm>
          <a:prstGeom prst="rect">
            <a:avLst/>
          </a:prstGeom>
          <a:noFill/>
          <a:ln/>
        </p:spPr>
        <p:txBody>
          <a:bodyPr wrap="square" rtlCol="0" anchor="ctr"/>
          <a:lstStyle/>
          <a:p>
            <a:pPr algn="ctr" indent="0" marL="0">
              <a:buNone/>
            </a:pPr>
            <a:r>
              <a:rPr lang="en-US" sz="1200" dirty="0">
                <a:solidFill>
                  <a:srgbClr val="141E52"/>
                </a:solidFill>
                <a:latin typeface="Calibri" pitchFamily="34" charset="0"/>
                <a:ea typeface="Calibri" pitchFamily="34" charset="-122"/>
                <a:cs typeface="Calibri" pitchFamily="34" charset="-120"/>
              </a:rPr>
              <a:t>85% employer berencana upskilling karyawan  ·  63% sebut skill gap sebagai hambatan transformasi utama  (WEF, 2025)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0695C"/>
          </a:solidFill>
          <a:ln/>
        </p:spPr>
      </p:sp>
      <p:sp>
        <p:nvSpPr>
          <p:cNvPr id="3" name="Text 1"/>
          <p:cNvSpPr/>
          <p:nvPr/>
        </p:nvSpPr>
        <p:spPr>
          <a:xfrm>
            <a:off x="502920" y="109728"/>
            <a:ext cx="8046720" cy="47548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Store Concept: Dari Cost Center ke Value Creator</a:t>
            </a:r>
            <a:endParaRPr lang="en-US" sz="2400" dirty="0"/>
          </a:p>
        </p:txBody>
      </p:sp>
      <p:sp>
        <p:nvSpPr>
          <p:cNvPr id="4" name="Text 2"/>
          <p:cNvSpPr/>
          <p:nvPr/>
        </p:nvSpPr>
        <p:spPr>
          <a:xfrm>
            <a:off x="502920" y="594360"/>
            <a:ext cx="8229600" cy="274320"/>
          </a:xfrm>
          <a:prstGeom prst="rect">
            <a:avLst/>
          </a:prstGeom>
          <a:noFill/>
          <a:ln/>
        </p:spPr>
        <p:txBody>
          <a:bodyPr wrap="square" rtlCol="0" anchor="ctr"/>
          <a:lstStyle/>
          <a:p>
            <a:pPr algn="l" indent="0" marL="0">
              <a:buNone/>
            </a:pPr>
            <a:r>
              <a:rPr lang="en-US" sz="1200" dirty="0">
                <a:solidFill>
                  <a:srgbClr val="D0EEF3"/>
                </a:solidFill>
                <a:latin typeface="Calibri" pitchFamily="34" charset="0"/>
                <a:ea typeface="Calibri" pitchFamily="34" charset="-122"/>
                <a:cs typeface="Calibri" pitchFamily="34" charset="-120"/>
              </a:rPr>
              <a:t>Pergeseran paradigma: Store Concept bukan biaya — ini adalah mesin revenue dan competitive moat</a:t>
            </a:r>
            <a:endParaRPr lang="en-US" sz="1200" dirty="0"/>
          </a:p>
        </p:txBody>
      </p:sp>
      <p:sp>
        <p:nvSpPr>
          <p:cNvPr id="5" name="Shape 3"/>
          <p:cNvSpPr/>
          <p:nvPr/>
        </p:nvSpPr>
        <p:spPr>
          <a:xfrm>
            <a:off x="502920" y="1115568"/>
            <a:ext cx="2926080" cy="1325880"/>
          </a:xfrm>
          <a:prstGeom prst="roundRect">
            <a:avLst>
              <a:gd name="adj" fmla="val 6897"/>
            </a:avLst>
          </a:prstGeom>
          <a:solidFill>
            <a:srgbClr val="FFEBEE"/>
          </a:solidFill>
          <a:ln w="12700">
            <a:solidFill>
              <a:srgbClr val="C62828"/>
            </a:solidFill>
            <a:prstDash val="solid"/>
          </a:ln>
        </p:spPr>
      </p:sp>
      <p:sp>
        <p:nvSpPr>
          <p:cNvPr id="6" name="Text 4"/>
          <p:cNvSpPr/>
          <p:nvPr/>
        </p:nvSpPr>
        <p:spPr>
          <a:xfrm>
            <a:off x="502920" y="1170432"/>
            <a:ext cx="2926080" cy="365760"/>
          </a:xfrm>
          <a:prstGeom prst="rect">
            <a:avLst/>
          </a:prstGeom>
          <a:noFill/>
          <a:ln/>
        </p:spPr>
        <p:txBody>
          <a:bodyPr wrap="square" rtlCol="0" anchor="ctr"/>
          <a:lstStyle/>
          <a:p>
            <a:pPr algn="ctr" indent="0" marL="0">
              <a:buNone/>
            </a:pPr>
            <a:r>
              <a:rPr lang="en-US" sz="1400" b="1" dirty="0">
                <a:solidFill>
                  <a:srgbClr val="C62828"/>
                </a:solidFill>
                <a:latin typeface="Calibri" pitchFamily="34" charset="0"/>
                <a:ea typeface="Calibri" pitchFamily="34" charset="-122"/>
                <a:cs typeface="Calibri" pitchFamily="34" charset="-120"/>
              </a:rPr>
              <a:t>❌ COST CENTER</a:t>
            </a:r>
            <a:endParaRPr lang="en-US" sz="1400" dirty="0"/>
          </a:p>
        </p:txBody>
      </p:sp>
      <p:sp>
        <p:nvSpPr>
          <p:cNvPr id="7" name="Text 5"/>
          <p:cNvSpPr/>
          <p:nvPr/>
        </p:nvSpPr>
        <p:spPr>
          <a:xfrm>
            <a:off x="594360" y="1554480"/>
            <a:ext cx="2743200" cy="822960"/>
          </a:xfrm>
          <a:prstGeom prst="rect">
            <a:avLst/>
          </a:prstGeom>
          <a:noFill/>
          <a:ln/>
        </p:spPr>
        <p:txBody>
          <a:bodyPr wrap="square" rtlCol="0" anchor="ctr"/>
          <a:lstStyle/>
          <a:p>
            <a:pPr algn="l" indent="0" marL="0">
              <a:lnSpc>
                <a:spcPct val="120000"/>
              </a:lnSpc>
              <a:buNone/>
            </a:pPr>
            <a:r>
              <a:rPr lang="en-US" sz="1050" dirty="0">
                <a:solidFill>
                  <a:srgbClr val="3D4A6E"/>
                </a:solidFill>
                <a:latin typeface="Calibri" pitchFamily="34" charset="0"/>
                <a:ea typeface="Calibri" pitchFamily="34" charset="-122"/>
                <a:cs typeface="Calibri" pitchFamily="34" charset="-120"/>
              </a:rPr>
              <a:t>• Biaya desain dianggap overhead</a:t>
            </a:r>
            <a:endParaRPr lang="en-US" sz="1050" dirty="0"/>
          </a:p>
          <a:p>
            <a:pPr algn="l" indent="0" marL="0">
              <a:lnSpc>
                <a:spcPct val="120000"/>
              </a:lnSpc>
              <a:buNone/>
            </a:pPr>
            <a:r>
              <a:rPr lang="en-US" sz="1050" dirty="0">
                <a:solidFill>
                  <a:srgbClr val="3D4A6E"/>
                </a:solidFill>
                <a:latin typeface="Calibri" pitchFamily="34" charset="0"/>
                <a:ea typeface="Calibri" pitchFamily="34" charset="-122"/>
                <a:cs typeface="Calibri" pitchFamily="34" charset="-120"/>
              </a:rPr>
              <a:t>• KPI = penghematan biaya</a:t>
            </a:r>
            <a:endParaRPr lang="en-US" sz="1050" dirty="0"/>
          </a:p>
          <a:p>
            <a:pPr algn="l" indent="0" marL="0">
              <a:lnSpc>
                <a:spcPct val="120000"/>
              </a:lnSpc>
              <a:buNone/>
            </a:pPr>
            <a:r>
              <a:rPr lang="en-US" sz="1050" dirty="0">
                <a:solidFill>
                  <a:srgbClr val="3D4A6E"/>
                </a:solidFill>
                <a:latin typeface="Calibri" pitchFamily="34" charset="0"/>
                <a:ea typeface="Calibri" pitchFamily="34" charset="-122"/>
                <a:cs typeface="Calibri" pitchFamily="34" charset="-120"/>
              </a:rPr>
              <a:t>• Reaktif terhadap permintaan</a:t>
            </a:r>
            <a:endParaRPr lang="en-US" sz="1050" dirty="0"/>
          </a:p>
          <a:p>
            <a:pPr algn="l" indent="0" marL="0">
              <a:lnSpc>
                <a:spcPct val="120000"/>
              </a:lnSpc>
              <a:buNone/>
            </a:pPr>
            <a:r>
              <a:rPr lang="en-US" sz="1050" dirty="0">
                <a:solidFill>
                  <a:srgbClr val="3D4A6E"/>
                </a:solidFill>
                <a:latin typeface="Calibri" pitchFamily="34" charset="0"/>
                <a:ea typeface="Calibri" pitchFamily="34" charset="-122"/>
                <a:cs typeface="Calibri" pitchFamily="34" charset="-120"/>
              </a:rPr>
              <a:t>• Tidak memiliki P&amp;L sendiri</a:t>
            </a:r>
            <a:endParaRPr lang="en-US" sz="1050" dirty="0"/>
          </a:p>
        </p:txBody>
      </p:sp>
      <p:sp>
        <p:nvSpPr>
          <p:cNvPr id="8" name="Text 6"/>
          <p:cNvSpPr/>
          <p:nvPr/>
        </p:nvSpPr>
        <p:spPr>
          <a:xfrm>
            <a:off x="3520440" y="1508760"/>
            <a:ext cx="713232" cy="502920"/>
          </a:xfrm>
          <a:prstGeom prst="rect">
            <a:avLst/>
          </a:prstGeom>
          <a:noFill/>
          <a:ln/>
        </p:spPr>
        <p:txBody>
          <a:bodyPr wrap="square" rtlCol="0" anchor="ctr"/>
          <a:lstStyle/>
          <a:p>
            <a:pPr algn="ctr" indent="0" marL="0">
              <a:buNone/>
            </a:pPr>
            <a:r>
              <a:rPr lang="en-US" sz="3600" b="1" dirty="0">
                <a:solidFill>
                  <a:srgbClr val="00695C"/>
                </a:solidFill>
                <a:latin typeface="Calibri" pitchFamily="34" charset="0"/>
                <a:ea typeface="Calibri" pitchFamily="34" charset="-122"/>
                <a:cs typeface="Calibri" pitchFamily="34" charset="-120"/>
              </a:rPr>
              <a:t>→</a:t>
            </a:r>
            <a:endParaRPr lang="en-US" sz="3600" dirty="0"/>
          </a:p>
        </p:txBody>
      </p:sp>
      <p:sp>
        <p:nvSpPr>
          <p:cNvPr id="9" name="Shape 7"/>
          <p:cNvSpPr/>
          <p:nvPr/>
        </p:nvSpPr>
        <p:spPr>
          <a:xfrm>
            <a:off x="4297680" y="1115568"/>
            <a:ext cx="4370832" cy="1325880"/>
          </a:xfrm>
          <a:prstGeom prst="roundRect">
            <a:avLst>
              <a:gd name="adj" fmla="val 6897"/>
            </a:avLst>
          </a:prstGeom>
          <a:solidFill>
            <a:srgbClr val="E8F5E9"/>
          </a:solidFill>
          <a:ln w="12700">
            <a:solidFill>
              <a:srgbClr val="2E7D32"/>
            </a:solidFill>
            <a:prstDash val="solid"/>
          </a:ln>
        </p:spPr>
      </p:sp>
      <p:sp>
        <p:nvSpPr>
          <p:cNvPr id="10" name="Text 8"/>
          <p:cNvSpPr/>
          <p:nvPr/>
        </p:nvSpPr>
        <p:spPr>
          <a:xfrm>
            <a:off x="4297680" y="1170432"/>
            <a:ext cx="4370832" cy="365760"/>
          </a:xfrm>
          <a:prstGeom prst="rect">
            <a:avLst/>
          </a:prstGeom>
          <a:noFill/>
          <a:ln/>
        </p:spPr>
        <p:txBody>
          <a:bodyPr wrap="square" rtlCol="0" anchor="ctr"/>
          <a:lstStyle/>
          <a:p>
            <a:pPr algn="ctr" indent="0" marL="0">
              <a:buNone/>
            </a:pPr>
            <a:r>
              <a:rPr lang="en-US" sz="1400" b="1" dirty="0">
                <a:solidFill>
                  <a:srgbClr val="2E7D32"/>
                </a:solidFill>
                <a:latin typeface="Calibri" pitchFamily="34" charset="0"/>
                <a:ea typeface="Calibri" pitchFamily="34" charset="-122"/>
                <a:cs typeface="Calibri" pitchFamily="34" charset="-120"/>
              </a:rPr>
              <a:t>✅ VALUE CREATOR</a:t>
            </a:r>
            <a:endParaRPr lang="en-US" sz="1400" dirty="0"/>
          </a:p>
        </p:txBody>
      </p:sp>
      <p:sp>
        <p:nvSpPr>
          <p:cNvPr id="11" name="Text 9"/>
          <p:cNvSpPr/>
          <p:nvPr/>
        </p:nvSpPr>
        <p:spPr>
          <a:xfrm>
            <a:off x="4407408" y="1554480"/>
            <a:ext cx="4133088" cy="822960"/>
          </a:xfrm>
          <a:prstGeom prst="rect">
            <a:avLst/>
          </a:prstGeom>
          <a:noFill/>
          <a:ln/>
        </p:spPr>
        <p:txBody>
          <a:bodyPr wrap="square" rtlCol="0" anchor="ctr"/>
          <a:lstStyle/>
          <a:p>
            <a:pPr algn="l" indent="0" marL="0">
              <a:lnSpc>
                <a:spcPct val="120000"/>
              </a:lnSpc>
              <a:buNone/>
            </a:pPr>
            <a:r>
              <a:rPr lang="en-US" sz="1050" dirty="0">
                <a:solidFill>
                  <a:srgbClr val="3D4A6E"/>
                </a:solidFill>
                <a:latin typeface="Calibri" pitchFamily="34" charset="0"/>
                <a:ea typeface="Calibri" pitchFamily="34" charset="-122"/>
                <a:cs typeface="Calibri" pitchFamily="34" charset="-120"/>
              </a:rPr>
              <a:t>• Hasilkan revenue baru (venue, content, service)</a:t>
            </a:r>
            <a:endParaRPr lang="en-US" sz="1050" dirty="0"/>
          </a:p>
          <a:p>
            <a:pPr algn="l" indent="0" marL="0">
              <a:lnSpc>
                <a:spcPct val="120000"/>
              </a:lnSpc>
              <a:buNone/>
            </a:pPr>
            <a:r>
              <a:rPr lang="en-US" sz="1050" dirty="0">
                <a:solidFill>
                  <a:srgbClr val="3D4A6E"/>
                </a:solidFill>
                <a:latin typeface="Calibri" pitchFamily="34" charset="0"/>
                <a:ea typeface="Calibri" pitchFamily="34" charset="-122"/>
                <a:cs typeface="Calibri" pitchFamily="34" charset="-120"/>
              </a:rPr>
              <a:t>• KPI = conversion, footfall, NPS</a:t>
            </a:r>
            <a:endParaRPr lang="en-US" sz="1050" dirty="0"/>
          </a:p>
          <a:p>
            <a:pPr algn="l" indent="0" marL="0">
              <a:lnSpc>
                <a:spcPct val="120000"/>
              </a:lnSpc>
              <a:buNone/>
            </a:pPr>
            <a:r>
              <a:rPr lang="en-US" sz="1050" dirty="0">
                <a:solidFill>
                  <a:srgbClr val="3D4A6E"/>
                </a:solidFill>
                <a:latin typeface="Calibri" pitchFamily="34" charset="0"/>
                <a:ea typeface="Calibri" pitchFamily="34" charset="-122"/>
                <a:cs typeface="Calibri" pitchFamily="34" charset="-120"/>
              </a:rPr>
              <a:t>• Proaktif: trendsetter bagi tim lain</a:t>
            </a:r>
            <a:endParaRPr lang="en-US" sz="1050" dirty="0"/>
          </a:p>
          <a:p>
            <a:pPr algn="l" indent="0" marL="0">
              <a:lnSpc>
                <a:spcPct val="120000"/>
              </a:lnSpc>
              <a:buNone/>
            </a:pPr>
            <a:r>
              <a:rPr lang="en-US" sz="1050" dirty="0">
                <a:solidFill>
                  <a:srgbClr val="3D4A6E"/>
                </a:solidFill>
                <a:latin typeface="Calibri" pitchFamily="34" charset="0"/>
                <a:ea typeface="Calibri" pitchFamily="34" charset="-122"/>
                <a:cs typeface="Calibri" pitchFamily="34" charset="-120"/>
              </a:rPr>
              <a:t>• Miliki P&amp;L &amp; target sendiri</a:t>
            </a:r>
            <a:endParaRPr lang="en-US" sz="1050" dirty="0"/>
          </a:p>
        </p:txBody>
      </p:sp>
      <p:sp>
        <p:nvSpPr>
          <p:cNvPr id="12" name="Text 10"/>
          <p:cNvSpPr/>
          <p:nvPr/>
        </p:nvSpPr>
        <p:spPr>
          <a:xfrm>
            <a:off x="502920" y="2560320"/>
            <a:ext cx="8229600" cy="256032"/>
          </a:xfrm>
          <a:prstGeom prst="rect">
            <a:avLst/>
          </a:prstGeom>
          <a:noFill/>
          <a:ln/>
        </p:spPr>
        <p:txBody>
          <a:bodyPr wrap="square" rtlCol="0" anchor="ctr"/>
          <a:lstStyle/>
          <a:p>
            <a:pPr algn="l" indent="0" marL="0">
              <a:buNone/>
            </a:pPr>
            <a:r>
              <a:rPr lang="en-US" sz="1100" b="1" dirty="0">
                <a:solidFill>
                  <a:srgbClr val="00695C"/>
                </a:solidFill>
                <a:latin typeface="Calibri" pitchFamily="34" charset="0"/>
                <a:ea typeface="Calibri" pitchFamily="34" charset="-122"/>
                <a:cs typeface="Calibri" pitchFamily="34" charset="-120"/>
              </a:rPr>
              <a:t>6 MODEL BISNIS STORE CONCEPT</a:t>
            </a:r>
            <a:endParaRPr lang="en-US" sz="1100" dirty="0"/>
          </a:p>
        </p:txBody>
      </p:sp>
      <p:sp>
        <p:nvSpPr>
          <p:cNvPr id="13" name="Shape 11"/>
          <p:cNvSpPr/>
          <p:nvPr/>
        </p:nvSpPr>
        <p:spPr>
          <a:xfrm>
            <a:off x="502920" y="2889504"/>
            <a:ext cx="1353312" cy="1901952"/>
          </a:xfrm>
          <a:prstGeom prst="roundRect">
            <a:avLst>
              <a:gd name="adj" fmla="val 6081"/>
            </a:avLst>
          </a:prstGeom>
          <a:solidFill>
            <a:srgbClr val="F0F2FA"/>
          </a:solidFill>
          <a:ln w="12700">
            <a:solidFill>
              <a:srgbClr val="1F7A8C"/>
            </a:solidFill>
            <a:prstDash val="solid"/>
          </a:ln>
        </p:spPr>
      </p:sp>
      <p:sp>
        <p:nvSpPr>
          <p:cNvPr id="14" name="Text 12"/>
          <p:cNvSpPr/>
          <p:nvPr/>
        </p:nvSpPr>
        <p:spPr>
          <a:xfrm>
            <a:off x="932688" y="2944368"/>
            <a:ext cx="493776"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5" name="Text 13"/>
          <p:cNvSpPr/>
          <p:nvPr/>
        </p:nvSpPr>
        <p:spPr>
          <a:xfrm>
            <a:off x="557784" y="3419856"/>
            <a:ext cx="1243584" cy="365760"/>
          </a:xfrm>
          <a:prstGeom prst="rect">
            <a:avLst/>
          </a:prstGeom>
          <a:noFill/>
          <a:ln/>
        </p:spPr>
        <p:txBody>
          <a:bodyPr wrap="square" rtlCol="0" anchor="ctr"/>
          <a:lstStyle/>
          <a:p>
            <a:pPr algn="ctr" indent="0" marL="0">
              <a:lnSpc>
                <a:spcPct val="105000"/>
              </a:lnSpc>
              <a:buNone/>
            </a:pPr>
            <a:r>
              <a:rPr lang="en-US" sz="950" b="1" dirty="0">
                <a:solidFill>
                  <a:srgbClr val="1A2355"/>
                </a:solidFill>
                <a:latin typeface="Calibri" pitchFamily="34" charset="0"/>
                <a:ea typeface="Calibri" pitchFamily="34" charset="-122"/>
                <a:cs typeface="Calibri" pitchFamily="34" charset="-120"/>
              </a:rPr>
              <a:t>Venue &amp; Events</a:t>
            </a:r>
            <a:endParaRPr lang="en-US" sz="950" dirty="0"/>
          </a:p>
        </p:txBody>
      </p:sp>
      <p:sp>
        <p:nvSpPr>
          <p:cNvPr id="16" name="Shape 14"/>
          <p:cNvSpPr/>
          <p:nvPr/>
        </p:nvSpPr>
        <p:spPr>
          <a:xfrm>
            <a:off x="594360" y="3803904"/>
            <a:ext cx="1170432" cy="201168"/>
          </a:xfrm>
          <a:prstGeom prst="roundRect">
            <a:avLst>
              <a:gd name="adj" fmla="val 18182"/>
            </a:avLst>
          </a:prstGeom>
          <a:solidFill>
            <a:srgbClr val="1F7A8C"/>
          </a:solidFill>
          <a:ln/>
        </p:spPr>
      </p:sp>
      <p:sp>
        <p:nvSpPr>
          <p:cNvPr id="17" name="Text 15"/>
          <p:cNvSpPr/>
          <p:nvPr/>
        </p:nvSpPr>
        <p:spPr>
          <a:xfrm>
            <a:off x="594360" y="3803904"/>
            <a:ext cx="1170432"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Rev: Medium</a:t>
            </a:r>
            <a:endParaRPr lang="en-US" sz="800" dirty="0"/>
          </a:p>
        </p:txBody>
      </p:sp>
      <p:sp>
        <p:nvSpPr>
          <p:cNvPr id="18" name="Text 16"/>
          <p:cNvSpPr/>
          <p:nvPr/>
        </p:nvSpPr>
        <p:spPr>
          <a:xfrm>
            <a:off x="557784" y="4041648"/>
            <a:ext cx="1243584" cy="694944"/>
          </a:xfrm>
          <a:prstGeom prst="rect">
            <a:avLst/>
          </a:prstGeom>
          <a:noFill/>
          <a:ln/>
        </p:spPr>
        <p:txBody>
          <a:bodyPr wrap="square" rtlCol="0" anchor="ctr"/>
          <a:lstStyle/>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Sewa ruang untuk events brand, workshop, komunitas</a:t>
            </a:r>
            <a:endParaRPr lang="en-US" sz="850" dirty="0"/>
          </a:p>
        </p:txBody>
      </p:sp>
      <p:sp>
        <p:nvSpPr>
          <p:cNvPr id="19" name="Shape 17"/>
          <p:cNvSpPr/>
          <p:nvPr/>
        </p:nvSpPr>
        <p:spPr>
          <a:xfrm>
            <a:off x="1956816" y="2889504"/>
            <a:ext cx="1353312" cy="1901952"/>
          </a:xfrm>
          <a:prstGeom prst="roundRect">
            <a:avLst>
              <a:gd name="adj" fmla="val 6081"/>
            </a:avLst>
          </a:prstGeom>
          <a:solidFill>
            <a:srgbClr val="F0F2FA"/>
          </a:solidFill>
          <a:ln w="12700">
            <a:solidFill>
              <a:srgbClr val="1E2761"/>
            </a:solidFill>
            <a:prstDash val="solid"/>
          </a:ln>
        </p:spPr>
      </p:sp>
      <p:sp>
        <p:nvSpPr>
          <p:cNvPr id="20" name="Text 18"/>
          <p:cNvSpPr/>
          <p:nvPr/>
        </p:nvSpPr>
        <p:spPr>
          <a:xfrm>
            <a:off x="2386584" y="2944368"/>
            <a:ext cx="493776"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1" name="Text 19"/>
          <p:cNvSpPr/>
          <p:nvPr/>
        </p:nvSpPr>
        <p:spPr>
          <a:xfrm>
            <a:off x="2011680" y="3419856"/>
            <a:ext cx="1243584" cy="365760"/>
          </a:xfrm>
          <a:prstGeom prst="rect">
            <a:avLst/>
          </a:prstGeom>
          <a:noFill/>
          <a:ln/>
        </p:spPr>
        <p:txBody>
          <a:bodyPr wrap="square" rtlCol="0" anchor="ctr"/>
          <a:lstStyle/>
          <a:p>
            <a:pPr algn="ctr" indent="0" marL="0">
              <a:lnSpc>
                <a:spcPct val="105000"/>
              </a:lnSpc>
              <a:buNone/>
            </a:pPr>
            <a:r>
              <a:rPr lang="en-US" sz="950" b="1" dirty="0">
                <a:solidFill>
                  <a:srgbClr val="1A2355"/>
                </a:solidFill>
                <a:latin typeface="Calibri" pitchFamily="34" charset="0"/>
                <a:ea typeface="Calibri" pitchFamily="34" charset="-122"/>
                <a:cs typeface="Calibri" pitchFamily="34" charset="-120"/>
              </a:rPr>
              <a:t>Space-as-Service</a:t>
            </a:r>
            <a:endParaRPr lang="en-US" sz="950" dirty="0"/>
          </a:p>
        </p:txBody>
      </p:sp>
      <p:sp>
        <p:nvSpPr>
          <p:cNvPr id="22" name="Shape 20"/>
          <p:cNvSpPr/>
          <p:nvPr/>
        </p:nvSpPr>
        <p:spPr>
          <a:xfrm>
            <a:off x="2048256" y="3803904"/>
            <a:ext cx="1170432" cy="201168"/>
          </a:xfrm>
          <a:prstGeom prst="roundRect">
            <a:avLst>
              <a:gd name="adj" fmla="val 18182"/>
            </a:avLst>
          </a:prstGeom>
          <a:solidFill>
            <a:srgbClr val="1E2761"/>
          </a:solidFill>
          <a:ln/>
        </p:spPr>
      </p:sp>
      <p:sp>
        <p:nvSpPr>
          <p:cNvPr id="23" name="Text 21"/>
          <p:cNvSpPr/>
          <p:nvPr/>
        </p:nvSpPr>
        <p:spPr>
          <a:xfrm>
            <a:off x="2048256" y="3803904"/>
            <a:ext cx="1170432"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Rev: High</a:t>
            </a:r>
            <a:endParaRPr lang="en-US" sz="800" dirty="0"/>
          </a:p>
        </p:txBody>
      </p:sp>
      <p:sp>
        <p:nvSpPr>
          <p:cNvPr id="24" name="Text 22"/>
          <p:cNvSpPr/>
          <p:nvPr/>
        </p:nvSpPr>
        <p:spPr>
          <a:xfrm>
            <a:off x="2011680" y="4041648"/>
            <a:ext cx="1243584" cy="694944"/>
          </a:xfrm>
          <a:prstGeom prst="rect">
            <a:avLst/>
          </a:prstGeom>
          <a:noFill/>
          <a:ln/>
        </p:spPr>
        <p:txBody>
          <a:bodyPr wrap="square" rtlCol="0" anchor="ctr"/>
          <a:lstStyle/>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Design consultation, installasi, project management</a:t>
            </a:r>
            <a:endParaRPr lang="en-US" sz="850" dirty="0"/>
          </a:p>
        </p:txBody>
      </p:sp>
      <p:sp>
        <p:nvSpPr>
          <p:cNvPr id="25" name="Shape 23"/>
          <p:cNvSpPr/>
          <p:nvPr/>
        </p:nvSpPr>
        <p:spPr>
          <a:xfrm>
            <a:off x="3410712" y="2889504"/>
            <a:ext cx="1353312" cy="1901952"/>
          </a:xfrm>
          <a:prstGeom prst="roundRect">
            <a:avLst>
              <a:gd name="adj" fmla="val 6081"/>
            </a:avLst>
          </a:prstGeom>
          <a:solidFill>
            <a:srgbClr val="F0F2FA"/>
          </a:solidFill>
          <a:ln w="12700">
            <a:solidFill>
              <a:srgbClr val="6A1B9A"/>
            </a:solidFill>
            <a:prstDash val="solid"/>
          </a:ln>
        </p:spPr>
      </p:sp>
      <p:sp>
        <p:nvSpPr>
          <p:cNvPr id="26" name="Text 24"/>
          <p:cNvSpPr/>
          <p:nvPr/>
        </p:nvSpPr>
        <p:spPr>
          <a:xfrm>
            <a:off x="3840480" y="2944368"/>
            <a:ext cx="493776"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7" name="Text 25"/>
          <p:cNvSpPr/>
          <p:nvPr/>
        </p:nvSpPr>
        <p:spPr>
          <a:xfrm>
            <a:off x="3465576" y="3419856"/>
            <a:ext cx="1243584" cy="365760"/>
          </a:xfrm>
          <a:prstGeom prst="rect">
            <a:avLst/>
          </a:prstGeom>
          <a:noFill/>
          <a:ln/>
        </p:spPr>
        <p:txBody>
          <a:bodyPr wrap="square" rtlCol="0" anchor="ctr"/>
          <a:lstStyle/>
          <a:p>
            <a:pPr algn="ctr" indent="0" marL="0">
              <a:lnSpc>
                <a:spcPct val="105000"/>
              </a:lnSpc>
              <a:buNone/>
            </a:pPr>
            <a:r>
              <a:rPr lang="en-US" sz="950" b="1" dirty="0">
                <a:solidFill>
                  <a:srgbClr val="1A2355"/>
                </a:solidFill>
                <a:latin typeface="Calibri" pitchFamily="34" charset="0"/>
                <a:ea typeface="Calibri" pitchFamily="34" charset="-122"/>
                <a:cs typeface="Calibri" pitchFamily="34" charset="-120"/>
              </a:rPr>
              <a:t>Community Membership</a:t>
            </a:r>
            <a:endParaRPr lang="en-US" sz="950" dirty="0"/>
          </a:p>
        </p:txBody>
      </p:sp>
      <p:sp>
        <p:nvSpPr>
          <p:cNvPr id="28" name="Shape 26"/>
          <p:cNvSpPr/>
          <p:nvPr/>
        </p:nvSpPr>
        <p:spPr>
          <a:xfrm>
            <a:off x="3502152" y="3803904"/>
            <a:ext cx="1170432" cy="201168"/>
          </a:xfrm>
          <a:prstGeom prst="roundRect">
            <a:avLst>
              <a:gd name="adj" fmla="val 18182"/>
            </a:avLst>
          </a:prstGeom>
          <a:solidFill>
            <a:srgbClr val="6A1B9A"/>
          </a:solidFill>
          <a:ln/>
        </p:spPr>
      </p:sp>
      <p:sp>
        <p:nvSpPr>
          <p:cNvPr id="29" name="Text 27"/>
          <p:cNvSpPr/>
          <p:nvPr/>
        </p:nvSpPr>
        <p:spPr>
          <a:xfrm>
            <a:off x="3502152" y="3803904"/>
            <a:ext cx="1170432"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Rev: High</a:t>
            </a:r>
            <a:endParaRPr lang="en-US" sz="800" dirty="0"/>
          </a:p>
        </p:txBody>
      </p:sp>
      <p:sp>
        <p:nvSpPr>
          <p:cNvPr id="30" name="Text 28"/>
          <p:cNvSpPr/>
          <p:nvPr/>
        </p:nvSpPr>
        <p:spPr>
          <a:xfrm>
            <a:off x="3465576" y="4041648"/>
            <a:ext cx="1243584" cy="694944"/>
          </a:xfrm>
          <a:prstGeom prst="rect">
            <a:avLst/>
          </a:prstGeom>
          <a:noFill/>
          <a:ln/>
        </p:spPr>
        <p:txBody>
          <a:bodyPr wrap="square" rtlCol="0" anchor="ctr"/>
          <a:lstStyle/>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Program membership eksklusif dengan benefit khusus</a:t>
            </a:r>
            <a:endParaRPr lang="en-US" sz="850" dirty="0"/>
          </a:p>
        </p:txBody>
      </p:sp>
      <p:sp>
        <p:nvSpPr>
          <p:cNvPr id="31" name="Shape 29"/>
          <p:cNvSpPr/>
          <p:nvPr/>
        </p:nvSpPr>
        <p:spPr>
          <a:xfrm>
            <a:off x="4864608" y="2889504"/>
            <a:ext cx="1353312" cy="1901952"/>
          </a:xfrm>
          <a:prstGeom prst="roundRect">
            <a:avLst>
              <a:gd name="adj" fmla="val 6081"/>
            </a:avLst>
          </a:prstGeom>
          <a:solidFill>
            <a:srgbClr val="F0F2FA"/>
          </a:solidFill>
          <a:ln w="12700">
            <a:solidFill>
              <a:srgbClr val="C8860A"/>
            </a:solidFill>
            <a:prstDash val="solid"/>
          </a:ln>
        </p:spPr>
      </p:sp>
      <p:sp>
        <p:nvSpPr>
          <p:cNvPr id="32" name="Text 30"/>
          <p:cNvSpPr/>
          <p:nvPr/>
        </p:nvSpPr>
        <p:spPr>
          <a:xfrm>
            <a:off x="5294376" y="2944368"/>
            <a:ext cx="493776"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3" name="Text 31"/>
          <p:cNvSpPr/>
          <p:nvPr/>
        </p:nvSpPr>
        <p:spPr>
          <a:xfrm>
            <a:off x="4919472" y="3419856"/>
            <a:ext cx="1243584" cy="365760"/>
          </a:xfrm>
          <a:prstGeom prst="rect">
            <a:avLst/>
          </a:prstGeom>
          <a:noFill/>
          <a:ln/>
        </p:spPr>
        <p:txBody>
          <a:bodyPr wrap="square" rtlCol="0" anchor="ctr"/>
          <a:lstStyle/>
          <a:p>
            <a:pPr algn="ctr" indent="0" marL="0">
              <a:lnSpc>
                <a:spcPct val="105000"/>
              </a:lnSpc>
              <a:buNone/>
            </a:pPr>
            <a:r>
              <a:rPr lang="en-US" sz="950" b="1" dirty="0">
                <a:solidFill>
                  <a:srgbClr val="1A2355"/>
                </a:solidFill>
                <a:latin typeface="Calibri" pitchFamily="34" charset="0"/>
                <a:ea typeface="Calibri" pitchFamily="34" charset="-122"/>
                <a:cs typeface="Calibri" pitchFamily="34" charset="-120"/>
              </a:rPr>
              <a:t>Content Studio</a:t>
            </a:r>
            <a:endParaRPr lang="en-US" sz="950" dirty="0"/>
          </a:p>
        </p:txBody>
      </p:sp>
      <p:sp>
        <p:nvSpPr>
          <p:cNvPr id="34" name="Shape 32"/>
          <p:cNvSpPr/>
          <p:nvPr/>
        </p:nvSpPr>
        <p:spPr>
          <a:xfrm>
            <a:off x="4956048" y="3803904"/>
            <a:ext cx="1170432" cy="201168"/>
          </a:xfrm>
          <a:prstGeom prst="roundRect">
            <a:avLst>
              <a:gd name="adj" fmla="val 18182"/>
            </a:avLst>
          </a:prstGeom>
          <a:solidFill>
            <a:srgbClr val="C8860A"/>
          </a:solidFill>
          <a:ln/>
        </p:spPr>
      </p:sp>
      <p:sp>
        <p:nvSpPr>
          <p:cNvPr id="35" name="Text 33"/>
          <p:cNvSpPr/>
          <p:nvPr/>
        </p:nvSpPr>
        <p:spPr>
          <a:xfrm>
            <a:off x="4956048" y="3803904"/>
            <a:ext cx="1170432"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Rev: Med</a:t>
            </a:r>
            <a:endParaRPr lang="en-US" sz="800" dirty="0"/>
          </a:p>
        </p:txBody>
      </p:sp>
      <p:sp>
        <p:nvSpPr>
          <p:cNvPr id="36" name="Text 34"/>
          <p:cNvSpPr/>
          <p:nvPr/>
        </p:nvSpPr>
        <p:spPr>
          <a:xfrm>
            <a:off x="4919472" y="4041648"/>
            <a:ext cx="1243584" cy="694944"/>
          </a:xfrm>
          <a:prstGeom prst="rect">
            <a:avLst/>
          </a:prstGeom>
          <a:noFill/>
          <a:ln/>
        </p:spPr>
        <p:txBody>
          <a:bodyPr wrap="square" rtlCol="0" anchor="ctr"/>
          <a:lstStyle/>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Sewa backdrop, studio, partnership brand &amp; influencer</a:t>
            </a:r>
            <a:endParaRPr lang="en-US" sz="850" dirty="0"/>
          </a:p>
        </p:txBody>
      </p:sp>
      <p:sp>
        <p:nvSpPr>
          <p:cNvPr id="37" name="Shape 35"/>
          <p:cNvSpPr/>
          <p:nvPr/>
        </p:nvSpPr>
        <p:spPr>
          <a:xfrm>
            <a:off x="6318504" y="2889504"/>
            <a:ext cx="1353312" cy="1901952"/>
          </a:xfrm>
          <a:prstGeom prst="roundRect">
            <a:avLst>
              <a:gd name="adj" fmla="val 6081"/>
            </a:avLst>
          </a:prstGeom>
          <a:solidFill>
            <a:srgbClr val="F0F2FA"/>
          </a:solidFill>
          <a:ln w="12700">
            <a:solidFill>
              <a:srgbClr val="00695C"/>
            </a:solidFill>
            <a:prstDash val="solid"/>
          </a:ln>
        </p:spPr>
      </p:sp>
      <p:sp>
        <p:nvSpPr>
          <p:cNvPr id="38" name="Text 36"/>
          <p:cNvSpPr/>
          <p:nvPr/>
        </p:nvSpPr>
        <p:spPr>
          <a:xfrm>
            <a:off x="6748272" y="2944368"/>
            <a:ext cx="493776"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9" name="Text 37"/>
          <p:cNvSpPr/>
          <p:nvPr/>
        </p:nvSpPr>
        <p:spPr>
          <a:xfrm>
            <a:off x="6373368" y="3419856"/>
            <a:ext cx="1243584" cy="365760"/>
          </a:xfrm>
          <a:prstGeom prst="rect">
            <a:avLst/>
          </a:prstGeom>
          <a:noFill/>
          <a:ln/>
        </p:spPr>
        <p:txBody>
          <a:bodyPr wrap="square" rtlCol="0" anchor="ctr"/>
          <a:lstStyle/>
          <a:p>
            <a:pPr algn="ctr" indent="0" marL="0">
              <a:lnSpc>
                <a:spcPct val="105000"/>
              </a:lnSpc>
              <a:buNone/>
            </a:pPr>
            <a:r>
              <a:rPr lang="en-US" sz="950" b="1" dirty="0">
                <a:solidFill>
                  <a:srgbClr val="1A2355"/>
                </a:solidFill>
                <a:latin typeface="Calibri" pitchFamily="34" charset="0"/>
                <a:ea typeface="Calibri" pitchFamily="34" charset="-122"/>
                <a:cs typeface="Calibri" pitchFamily="34" charset="-120"/>
              </a:rPr>
              <a:t>Concept-as-Service</a:t>
            </a:r>
            <a:endParaRPr lang="en-US" sz="950" dirty="0"/>
          </a:p>
        </p:txBody>
      </p:sp>
      <p:sp>
        <p:nvSpPr>
          <p:cNvPr id="40" name="Shape 38"/>
          <p:cNvSpPr/>
          <p:nvPr/>
        </p:nvSpPr>
        <p:spPr>
          <a:xfrm>
            <a:off x="6409944" y="3803904"/>
            <a:ext cx="1170432" cy="201168"/>
          </a:xfrm>
          <a:prstGeom prst="roundRect">
            <a:avLst>
              <a:gd name="adj" fmla="val 18182"/>
            </a:avLst>
          </a:prstGeom>
          <a:solidFill>
            <a:srgbClr val="00695C"/>
          </a:solidFill>
          <a:ln/>
        </p:spPr>
      </p:sp>
      <p:sp>
        <p:nvSpPr>
          <p:cNvPr id="41" name="Text 39"/>
          <p:cNvSpPr/>
          <p:nvPr/>
        </p:nvSpPr>
        <p:spPr>
          <a:xfrm>
            <a:off x="6409944" y="3803904"/>
            <a:ext cx="1170432"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Rev: High</a:t>
            </a:r>
            <a:endParaRPr lang="en-US" sz="800" dirty="0"/>
          </a:p>
        </p:txBody>
      </p:sp>
      <p:sp>
        <p:nvSpPr>
          <p:cNvPr id="42" name="Text 40"/>
          <p:cNvSpPr/>
          <p:nvPr/>
        </p:nvSpPr>
        <p:spPr>
          <a:xfrm>
            <a:off x="6373368" y="4041648"/>
            <a:ext cx="1243584" cy="694944"/>
          </a:xfrm>
          <a:prstGeom prst="rect">
            <a:avLst/>
          </a:prstGeom>
          <a:noFill/>
          <a:ln/>
        </p:spPr>
        <p:txBody>
          <a:bodyPr wrap="square" rtlCol="0" anchor="ctr"/>
          <a:lstStyle/>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Konsultasi &amp; implementasi store concept untuk pihak lain</a:t>
            </a:r>
            <a:endParaRPr lang="en-US" sz="850" dirty="0"/>
          </a:p>
        </p:txBody>
      </p:sp>
      <p:sp>
        <p:nvSpPr>
          <p:cNvPr id="43" name="Shape 41"/>
          <p:cNvSpPr/>
          <p:nvPr/>
        </p:nvSpPr>
        <p:spPr>
          <a:xfrm>
            <a:off x="7772400" y="2889504"/>
            <a:ext cx="1353312" cy="1901952"/>
          </a:xfrm>
          <a:prstGeom prst="roundRect">
            <a:avLst>
              <a:gd name="adj" fmla="val 6081"/>
            </a:avLst>
          </a:prstGeom>
          <a:solidFill>
            <a:srgbClr val="F0F2FA"/>
          </a:solidFill>
          <a:ln w="12700">
            <a:solidFill>
              <a:srgbClr val="2E7D32"/>
            </a:solidFill>
            <a:prstDash val="solid"/>
          </a:ln>
        </p:spPr>
      </p:sp>
      <p:sp>
        <p:nvSpPr>
          <p:cNvPr id="44" name="Text 42"/>
          <p:cNvSpPr/>
          <p:nvPr/>
        </p:nvSpPr>
        <p:spPr>
          <a:xfrm>
            <a:off x="8202168" y="2944368"/>
            <a:ext cx="493776" cy="45720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5" name="Text 43"/>
          <p:cNvSpPr/>
          <p:nvPr/>
        </p:nvSpPr>
        <p:spPr>
          <a:xfrm>
            <a:off x="7827264" y="3419856"/>
            <a:ext cx="1243584" cy="365760"/>
          </a:xfrm>
          <a:prstGeom prst="rect">
            <a:avLst/>
          </a:prstGeom>
          <a:noFill/>
          <a:ln/>
        </p:spPr>
        <p:txBody>
          <a:bodyPr wrap="square" rtlCol="0" anchor="ctr"/>
          <a:lstStyle/>
          <a:p>
            <a:pPr algn="ctr" indent="0" marL="0">
              <a:lnSpc>
                <a:spcPct val="105000"/>
              </a:lnSpc>
              <a:buNone/>
            </a:pPr>
            <a:r>
              <a:rPr lang="en-US" sz="950" b="1" dirty="0">
                <a:solidFill>
                  <a:srgbClr val="1A2355"/>
                </a:solidFill>
                <a:latin typeface="Calibri" pitchFamily="34" charset="0"/>
                <a:ea typeface="Calibri" pitchFamily="34" charset="-122"/>
                <a:cs typeface="Calibri" pitchFamily="34" charset="-120"/>
              </a:rPr>
              <a:t>Circular Store</a:t>
            </a:r>
            <a:endParaRPr lang="en-US" sz="950" dirty="0"/>
          </a:p>
        </p:txBody>
      </p:sp>
      <p:sp>
        <p:nvSpPr>
          <p:cNvPr id="46" name="Shape 44"/>
          <p:cNvSpPr/>
          <p:nvPr/>
        </p:nvSpPr>
        <p:spPr>
          <a:xfrm>
            <a:off x="7863840" y="3803904"/>
            <a:ext cx="1170432" cy="201168"/>
          </a:xfrm>
          <a:prstGeom prst="roundRect">
            <a:avLst>
              <a:gd name="adj" fmla="val 18182"/>
            </a:avLst>
          </a:prstGeom>
          <a:solidFill>
            <a:srgbClr val="2E7D32"/>
          </a:solidFill>
          <a:ln/>
        </p:spPr>
      </p:sp>
      <p:sp>
        <p:nvSpPr>
          <p:cNvPr id="47" name="Text 45"/>
          <p:cNvSpPr/>
          <p:nvPr/>
        </p:nvSpPr>
        <p:spPr>
          <a:xfrm>
            <a:off x="7863840" y="3803904"/>
            <a:ext cx="1170432"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Rev: Med</a:t>
            </a:r>
            <a:endParaRPr lang="en-US" sz="800" dirty="0"/>
          </a:p>
        </p:txBody>
      </p:sp>
      <p:sp>
        <p:nvSpPr>
          <p:cNvPr id="48" name="Text 46"/>
          <p:cNvSpPr/>
          <p:nvPr/>
        </p:nvSpPr>
        <p:spPr>
          <a:xfrm>
            <a:off x="7827264" y="4041648"/>
            <a:ext cx="1243584" cy="694944"/>
          </a:xfrm>
          <a:prstGeom prst="rect">
            <a:avLst/>
          </a:prstGeom>
          <a:noFill/>
          <a:ln/>
        </p:spPr>
        <p:txBody>
          <a:bodyPr wrap="square" rtlCol="0" anchor="ctr"/>
          <a:lstStyle/>
          <a:p>
            <a:pPr algn="ctr" indent="0" marL="0">
              <a:lnSpc>
                <a:spcPct val="110000"/>
              </a:lnSpc>
              <a:buNone/>
            </a:pPr>
            <a:r>
              <a:rPr lang="en-US" sz="850" dirty="0">
                <a:solidFill>
                  <a:srgbClr val="3D4A6E"/>
                </a:solidFill>
                <a:latin typeface="Calibri" pitchFamily="34" charset="0"/>
                <a:ea typeface="Calibri" pitchFamily="34" charset="-122"/>
                <a:cs typeface="Calibri" pitchFamily="34" charset="-120"/>
              </a:rPr>
              <a:t>Trade-in, refurbish, re-sell — revenue baru dari produk lama</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E2761"/>
          </a:solidFill>
          <a:ln/>
        </p:spPr>
      </p:sp>
      <p:sp>
        <p:nvSpPr>
          <p:cNvPr id="3" name="Text 1"/>
          <p:cNvSpPr/>
          <p:nvPr/>
        </p:nvSpPr>
        <p:spPr>
          <a:xfrm>
            <a:off x="502920" y="91440"/>
            <a:ext cx="8229600" cy="502920"/>
          </a:xfrm>
          <a:prstGeom prst="rect">
            <a:avLst/>
          </a:prstGeom>
          <a:noFill/>
          <a:ln/>
        </p:spPr>
        <p:txBody>
          <a:bodyPr wrap="square" rtlCol="0" anchor="ctr"/>
          <a:lstStyle/>
          <a:p>
            <a:pPr algn="l" indent="0" marL="0">
              <a:buNone/>
            </a:pPr>
            <a:r>
              <a:rPr lang="en-US" sz="2300" b="1" dirty="0">
                <a:solidFill>
                  <a:srgbClr val="FFFFFF"/>
                </a:solidFill>
                <a:latin typeface="Calibri" pitchFamily="34" charset="0"/>
                <a:ea typeface="Calibri" pitchFamily="34" charset="-122"/>
                <a:cs typeface="Calibri" pitchFamily="34" charset="-120"/>
              </a:rPr>
              <a:t>Connecting the Dots — Implikasi untuk Store Concept Team</a:t>
            </a:r>
            <a:endParaRPr lang="en-US" sz="2300" dirty="0"/>
          </a:p>
        </p:txBody>
      </p:sp>
      <p:sp>
        <p:nvSpPr>
          <p:cNvPr id="4" name="Text 2"/>
          <p:cNvSpPr/>
          <p:nvPr/>
        </p:nvSpPr>
        <p:spPr>
          <a:xfrm>
            <a:off x="502920" y="603504"/>
            <a:ext cx="8229600" cy="274320"/>
          </a:xfrm>
          <a:prstGeom prst="rect">
            <a:avLst/>
          </a:prstGeom>
          <a:noFill/>
          <a:ln/>
        </p:spPr>
        <p:txBody>
          <a:bodyPr wrap="square" rtlCol="0" anchor="ctr"/>
          <a:lstStyle/>
          <a:p>
            <a:pPr algn="l" indent="0" marL="0">
              <a:buNone/>
            </a:pPr>
            <a:r>
              <a:rPr lang="en-US" sz="1200" dirty="0">
                <a:solidFill>
                  <a:srgbClr val="8891B4"/>
                </a:solidFill>
                <a:latin typeface="Calibri" pitchFamily="34" charset="0"/>
                <a:ea typeface="Calibri" pitchFamily="34" charset="-122"/>
                <a:cs typeface="Calibri" pitchFamily="34" charset="-120"/>
              </a:rPr>
              <a:t>Semua insight bertemu dan menciptakan satu kesimpulan: peran Store Concept lebih strategis dari sebelumnya</a:t>
            </a:r>
            <a:endParaRPr lang="en-US" sz="1200" dirty="0"/>
          </a:p>
        </p:txBody>
      </p:sp>
      <p:sp>
        <p:nvSpPr>
          <p:cNvPr id="5" name="Shape 3"/>
          <p:cNvSpPr/>
          <p:nvPr/>
        </p:nvSpPr>
        <p:spPr>
          <a:xfrm>
            <a:off x="475488" y="1078992"/>
            <a:ext cx="2651760" cy="3749040"/>
          </a:xfrm>
          <a:prstGeom prst="roundRect">
            <a:avLst>
              <a:gd name="adj" fmla="val 3448"/>
            </a:avLst>
          </a:prstGeom>
          <a:solidFill>
            <a:srgbClr val="F0F2FA"/>
          </a:solidFill>
          <a:ln/>
        </p:spPr>
      </p:sp>
      <p:sp>
        <p:nvSpPr>
          <p:cNvPr id="6" name="Shape 4"/>
          <p:cNvSpPr/>
          <p:nvPr/>
        </p:nvSpPr>
        <p:spPr>
          <a:xfrm>
            <a:off x="475488" y="1078992"/>
            <a:ext cx="2651760" cy="658368"/>
          </a:xfrm>
          <a:prstGeom prst="roundRect">
            <a:avLst>
              <a:gd name="adj" fmla="val 13889"/>
            </a:avLst>
          </a:prstGeom>
          <a:solidFill>
            <a:srgbClr val="1F7A8C"/>
          </a:solidFill>
          <a:ln/>
        </p:spPr>
      </p:sp>
      <p:sp>
        <p:nvSpPr>
          <p:cNvPr id="7" name="Shape 5"/>
          <p:cNvSpPr/>
          <p:nvPr/>
        </p:nvSpPr>
        <p:spPr>
          <a:xfrm>
            <a:off x="475488" y="1389888"/>
            <a:ext cx="2651760" cy="347472"/>
          </a:xfrm>
          <a:prstGeom prst="rect">
            <a:avLst/>
          </a:prstGeom>
          <a:solidFill>
            <a:srgbClr val="1F7A8C"/>
          </a:solidFill>
          <a:ln/>
        </p:spPr>
      </p:sp>
      <p:sp>
        <p:nvSpPr>
          <p:cNvPr id="8" name="Text 6"/>
          <p:cNvSpPr/>
          <p:nvPr/>
        </p:nvSpPr>
        <p:spPr>
          <a:xfrm>
            <a:off x="612648" y="1115568"/>
            <a:ext cx="2377440" cy="365760"/>
          </a:xfrm>
          <a:prstGeom prst="rect">
            <a:avLst/>
          </a:prstGeom>
          <a:noFill/>
          <a:ln/>
        </p:spPr>
        <p:txBody>
          <a:bodyPr wrap="square"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  Consumer Reality</a:t>
            </a:r>
            <a:endParaRPr lang="en-US" sz="1400" dirty="0"/>
          </a:p>
        </p:txBody>
      </p:sp>
      <p:sp>
        <p:nvSpPr>
          <p:cNvPr id="9" name="Text 7"/>
          <p:cNvSpPr/>
          <p:nvPr/>
        </p:nvSpPr>
        <p:spPr>
          <a:xfrm>
            <a:off x="612648" y="1481328"/>
            <a:ext cx="2377440" cy="219456"/>
          </a:xfrm>
          <a:prstGeom prst="rect">
            <a:avLst/>
          </a:prstGeom>
          <a:noFill/>
          <a:ln/>
        </p:spPr>
        <p:txBody>
          <a:bodyPr wrap="square"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Perilaku konsumen berubah</a:t>
            </a:r>
            <a:endParaRPr lang="en-US" sz="900" dirty="0"/>
          </a:p>
        </p:txBody>
      </p:sp>
      <p:sp>
        <p:nvSpPr>
          <p:cNvPr id="10" name="Shape 8"/>
          <p:cNvSpPr/>
          <p:nvPr/>
        </p:nvSpPr>
        <p:spPr>
          <a:xfrm>
            <a:off x="612648" y="1847088"/>
            <a:ext cx="2377440" cy="841248"/>
          </a:xfrm>
          <a:prstGeom prst="roundRect">
            <a:avLst>
              <a:gd name="adj" fmla="val 7609"/>
            </a:avLst>
          </a:prstGeom>
          <a:solidFill>
            <a:srgbClr val="FFFFFF"/>
          </a:solidFill>
          <a:ln/>
        </p:spPr>
      </p:sp>
      <p:sp>
        <p:nvSpPr>
          <p:cNvPr id="11" name="Shape 9"/>
          <p:cNvSpPr/>
          <p:nvPr/>
        </p:nvSpPr>
        <p:spPr>
          <a:xfrm>
            <a:off x="694944" y="1938528"/>
            <a:ext cx="82296" cy="82296"/>
          </a:xfrm>
          <a:prstGeom prst="ellipse">
            <a:avLst/>
          </a:prstGeom>
          <a:solidFill>
            <a:srgbClr val="1F7A8C"/>
          </a:solidFill>
          <a:ln/>
        </p:spPr>
      </p:sp>
      <p:sp>
        <p:nvSpPr>
          <p:cNvPr id="12" name="Text 10"/>
          <p:cNvSpPr/>
          <p:nvPr/>
        </p:nvSpPr>
        <p:spPr>
          <a:xfrm>
            <a:off x="822960" y="1901952"/>
            <a:ext cx="2148840" cy="256032"/>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Smart value-seeking</a:t>
            </a:r>
            <a:endParaRPr lang="en-US" sz="1200" dirty="0"/>
          </a:p>
        </p:txBody>
      </p:sp>
      <p:sp>
        <p:nvSpPr>
          <p:cNvPr id="13" name="Text 11"/>
          <p:cNvSpPr/>
          <p:nvPr/>
        </p:nvSpPr>
        <p:spPr>
          <a:xfrm>
            <a:off x="822960" y="2167128"/>
            <a:ext cx="2148840" cy="457200"/>
          </a:xfrm>
          <a:prstGeom prst="rect">
            <a:avLst/>
          </a:prstGeom>
          <a:noFill/>
          <a:ln/>
        </p:spPr>
        <p:txBody>
          <a:bodyPr wrap="square" rtlCol="0" anchor="ctr"/>
          <a:lstStyle/>
          <a:p>
            <a:pPr algn="l" indent="0" marL="0">
              <a:lnSpc>
                <a:spcPct val="115000"/>
              </a:lnSpc>
              <a:buNone/>
            </a:pPr>
            <a:r>
              <a:rPr lang="en-US" sz="1000" dirty="0">
                <a:solidFill>
                  <a:srgbClr val="3D4A6E"/>
                </a:solidFill>
                <a:latin typeface="Calibri" pitchFamily="34" charset="0"/>
                <a:ea typeface="Calibri" pitchFamily="34" charset="-122"/>
                <a:cs typeface="Calibri" pitchFamily="34" charset="-120"/>
              </a:rPr>
              <a:t>Conscious consumer mencari "quality at right price". Downtrading bukan kelemahan — ini peluang bagi yang siap.</a:t>
            </a:r>
            <a:endParaRPr lang="en-US" sz="1000" dirty="0"/>
          </a:p>
        </p:txBody>
      </p:sp>
      <p:sp>
        <p:nvSpPr>
          <p:cNvPr id="14" name="Shape 12"/>
          <p:cNvSpPr/>
          <p:nvPr/>
        </p:nvSpPr>
        <p:spPr>
          <a:xfrm>
            <a:off x="612648" y="2807208"/>
            <a:ext cx="2377440" cy="841248"/>
          </a:xfrm>
          <a:prstGeom prst="roundRect">
            <a:avLst>
              <a:gd name="adj" fmla="val 7609"/>
            </a:avLst>
          </a:prstGeom>
          <a:solidFill>
            <a:srgbClr val="FFFFFF"/>
          </a:solidFill>
          <a:ln/>
        </p:spPr>
      </p:sp>
      <p:sp>
        <p:nvSpPr>
          <p:cNvPr id="15" name="Shape 13"/>
          <p:cNvSpPr/>
          <p:nvPr/>
        </p:nvSpPr>
        <p:spPr>
          <a:xfrm>
            <a:off x="694944" y="2898648"/>
            <a:ext cx="82296" cy="82296"/>
          </a:xfrm>
          <a:prstGeom prst="ellipse">
            <a:avLst/>
          </a:prstGeom>
          <a:solidFill>
            <a:srgbClr val="1F7A8C"/>
          </a:solidFill>
          <a:ln/>
        </p:spPr>
      </p:sp>
      <p:sp>
        <p:nvSpPr>
          <p:cNvPr id="16" name="Text 14"/>
          <p:cNvSpPr/>
          <p:nvPr/>
        </p:nvSpPr>
        <p:spPr>
          <a:xfrm>
            <a:off x="822960" y="2862072"/>
            <a:ext cx="2148840" cy="256032"/>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Experience-first journey</a:t>
            </a:r>
            <a:endParaRPr lang="en-US" sz="1200" dirty="0"/>
          </a:p>
        </p:txBody>
      </p:sp>
      <p:sp>
        <p:nvSpPr>
          <p:cNvPr id="17" name="Text 15"/>
          <p:cNvSpPr/>
          <p:nvPr/>
        </p:nvSpPr>
        <p:spPr>
          <a:xfrm>
            <a:off x="822960" y="3127248"/>
            <a:ext cx="2148840" cy="457200"/>
          </a:xfrm>
          <a:prstGeom prst="rect">
            <a:avLst/>
          </a:prstGeom>
          <a:noFill/>
          <a:ln/>
        </p:spPr>
        <p:txBody>
          <a:bodyPr wrap="square" rtlCol="0" anchor="ctr"/>
          <a:lstStyle/>
          <a:p>
            <a:pPr algn="l" indent="0" marL="0">
              <a:lnSpc>
                <a:spcPct val="115000"/>
              </a:lnSpc>
              <a:buNone/>
            </a:pPr>
            <a:r>
              <a:rPr lang="en-US" sz="1000" dirty="0">
                <a:solidFill>
                  <a:srgbClr val="3D4A6E"/>
                </a:solidFill>
                <a:latin typeface="Calibri" pitchFamily="34" charset="0"/>
                <a:ea typeface="Calibri" pitchFamily="34" charset="-122"/>
                <a:cs typeface="Calibri" pitchFamily="34" charset="-120"/>
              </a:rPr>
              <a:t>59% shoppers mau MORE in-store experience. Mereka ke toko untuk merasakan, bukan sekadar membeli.</a:t>
            </a:r>
            <a:endParaRPr lang="en-US" sz="1000" dirty="0"/>
          </a:p>
        </p:txBody>
      </p:sp>
      <p:sp>
        <p:nvSpPr>
          <p:cNvPr id="18" name="Shape 16"/>
          <p:cNvSpPr/>
          <p:nvPr/>
        </p:nvSpPr>
        <p:spPr>
          <a:xfrm>
            <a:off x="612648" y="3767328"/>
            <a:ext cx="2377440" cy="841248"/>
          </a:xfrm>
          <a:prstGeom prst="roundRect">
            <a:avLst>
              <a:gd name="adj" fmla="val 7609"/>
            </a:avLst>
          </a:prstGeom>
          <a:solidFill>
            <a:srgbClr val="FFFFFF"/>
          </a:solidFill>
          <a:ln/>
        </p:spPr>
      </p:sp>
      <p:sp>
        <p:nvSpPr>
          <p:cNvPr id="19" name="Shape 17"/>
          <p:cNvSpPr/>
          <p:nvPr/>
        </p:nvSpPr>
        <p:spPr>
          <a:xfrm>
            <a:off x="694944" y="3858768"/>
            <a:ext cx="82296" cy="82296"/>
          </a:xfrm>
          <a:prstGeom prst="ellipse">
            <a:avLst/>
          </a:prstGeom>
          <a:solidFill>
            <a:srgbClr val="1F7A8C"/>
          </a:solidFill>
          <a:ln/>
        </p:spPr>
      </p:sp>
      <p:sp>
        <p:nvSpPr>
          <p:cNvPr id="20" name="Text 18"/>
          <p:cNvSpPr/>
          <p:nvPr/>
        </p:nvSpPr>
        <p:spPr>
          <a:xfrm>
            <a:off x="822960" y="3822192"/>
            <a:ext cx="2148840" cy="256032"/>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Aspirant class dominan</a:t>
            </a:r>
            <a:endParaRPr lang="en-US" sz="1200" dirty="0"/>
          </a:p>
        </p:txBody>
      </p:sp>
      <p:sp>
        <p:nvSpPr>
          <p:cNvPr id="21" name="Text 19"/>
          <p:cNvSpPr/>
          <p:nvPr/>
        </p:nvSpPr>
        <p:spPr>
          <a:xfrm>
            <a:off x="822960" y="4087368"/>
            <a:ext cx="2148840" cy="457200"/>
          </a:xfrm>
          <a:prstGeom prst="rect">
            <a:avLst/>
          </a:prstGeom>
          <a:noFill/>
          <a:ln/>
        </p:spPr>
        <p:txBody>
          <a:bodyPr wrap="square" rtlCol="0" anchor="ctr"/>
          <a:lstStyle/>
          <a:p>
            <a:pPr algn="l" indent="0" marL="0">
              <a:lnSpc>
                <a:spcPct val="115000"/>
              </a:lnSpc>
              <a:buNone/>
            </a:pPr>
            <a:r>
              <a:rPr lang="en-US" sz="1000" dirty="0">
                <a:solidFill>
                  <a:srgbClr val="3D4A6E"/>
                </a:solidFill>
                <a:latin typeface="Calibri" pitchFamily="34" charset="0"/>
                <a:ea typeface="Calibri" pitchFamily="34" charset="-122"/>
                <a:cs typeface="Calibri" pitchFamily="34" charset="-120"/>
              </a:rPr>
              <a:t>142 juta orang aspiratif = pasar terbesar yang belum dioptimasi oleh siapapun.</a:t>
            </a:r>
            <a:endParaRPr lang="en-US" sz="1000" dirty="0"/>
          </a:p>
        </p:txBody>
      </p:sp>
      <p:sp>
        <p:nvSpPr>
          <p:cNvPr id="22" name="Shape 20"/>
          <p:cNvSpPr/>
          <p:nvPr/>
        </p:nvSpPr>
        <p:spPr>
          <a:xfrm>
            <a:off x="3291840" y="1078992"/>
            <a:ext cx="2651760" cy="3749040"/>
          </a:xfrm>
          <a:prstGeom prst="roundRect">
            <a:avLst>
              <a:gd name="adj" fmla="val 3448"/>
            </a:avLst>
          </a:prstGeom>
          <a:solidFill>
            <a:srgbClr val="F0F2FA"/>
          </a:solidFill>
          <a:ln/>
        </p:spPr>
      </p:sp>
      <p:sp>
        <p:nvSpPr>
          <p:cNvPr id="23" name="Shape 21"/>
          <p:cNvSpPr/>
          <p:nvPr/>
        </p:nvSpPr>
        <p:spPr>
          <a:xfrm>
            <a:off x="3291840" y="1078992"/>
            <a:ext cx="2651760" cy="658368"/>
          </a:xfrm>
          <a:prstGeom prst="roundRect">
            <a:avLst>
              <a:gd name="adj" fmla="val 13889"/>
            </a:avLst>
          </a:prstGeom>
          <a:solidFill>
            <a:srgbClr val="1E2761"/>
          </a:solidFill>
          <a:ln/>
        </p:spPr>
      </p:sp>
      <p:sp>
        <p:nvSpPr>
          <p:cNvPr id="24" name="Shape 22"/>
          <p:cNvSpPr/>
          <p:nvPr/>
        </p:nvSpPr>
        <p:spPr>
          <a:xfrm>
            <a:off x="3291840" y="1389888"/>
            <a:ext cx="2651760" cy="347472"/>
          </a:xfrm>
          <a:prstGeom prst="rect">
            <a:avLst/>
          </a:prstGeom>
          <a:solidFill>
            <a:srgbClr val="1E2761"/>
          </a:solidFill>
          <a:ln/>
        </p:spPr>
      </p:sp>
      <p:sp>
        <p:nvSpPr>
          <p:cNvPr id="25" name="Text 23"/>
          <p:cNvSpPr/>
          <p:nvPr/>
        </p:nvSpPr>
        <p:spPr>
          <a:xfrm>
            <a:off x="3429000" y="1115568"/>
            <a:ext cx="2377440" cy="365760"/>
          </a:xfrm>
          <a:prstGeom prst="rect">
            <a:avLst/>
          </a:prstGeom>
          <a:noFill/>
          <a:ln/>
        </p:spPr>
        <p:txBody>
          <a:bodyPr wrap="square"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  Market Shift</a:t>
            </a:r>
            <a:endParaRPr lang="en-US" sz="1400" dirty="0"/>
          </a:p>
        </p:txBody>
      </p:sp>
      <p:sp>
        <p:nvSpPr>
          <p:cNvPr id="26" name="Text 24"/>
          <p:cNvSpPr/>
          <p:nvPr/>
        </p:nvSpPr>
        <p:spPr>
          <a:xfrm>
            <a:off x="3429000" y="1481328"/>
            <a:ext cx="2377440" cy="219456"/>
          </a:xfrm>
          <a:prstGeom prst="rect">
            <a:avLst/>
          </a:prstGeom>
          <a:noFill/>
          <a:ln/>
        </p:spPr>
        <p:txBody>
          <a:bodyPr wrap="square"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Lanskap retail bergeser</a:t>
            </a:r>
            <a:endParaRPr lang="en-US" sz="900" dirty="0"/>
          </a:p>
        </p:txBody>
      </p:sp>
      <p:sp>
        <p:nvSpPr>
          <p:cNvPr id="27" name="Shape 25"/>
          <p:cNvSpPr/>
          <p:nvPr/>
        </p:nvSpPr>
        <p:spPr>
          <a:xfrm>
            <a:off x="3429000" y="1847088"/>
            <a:ext cx="2377440" cy="841248"/>
          </a:xfrm>
          <a:prstGeom prst="roundRect">
            <a:avLst>
              <a:gd name="adj" fmla="val 7609"/>
            </a:avLst>
          </a:prstGeom>
          <a:solidFill>
            <a:srgbClr val="FFFFFF"/>
          </a:solidFill>
          <a:ln/>
        </p:spPr>
      </p:sp>
      <p:sp>
        <p:nvSpPr>
          <p:cNvPr id="28" name="Shape 26"/>
          <p:cNvSpPr/>
          <p:nvPr/>
        </p:nvSpPr>
        <p:spPr>
          <a:xfrm>
            <a:off x="3511296" y="1938528"/>
            <a:ext cx="82296" cy="82296"/>
          </a:xfrm>
          <a:prstGeom prst="ellipse">
            <a:avLst/>
          </a:prstGeom>
          <a:solidFill>
            <a:srgbClr val="1E2761"/>
          </a:solidFill>
          <a:ln/>
        </p:spPr>
      </p:sp>
      <p:sp>
        <p:nvSpPr>
          <p:cNvPr id="29" name="Text 27"/>
          <p:cNvSpPr/>
          <p:nvPr/>
        </p:nvSpPr>
        <p:spPr>
          <a:xfrm>
            <a:off x="3639312" y="1901952"/>
            <a:ext cx="2148840" cy="256032"/>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Specialist wins globally</a:t>
            </a:r>
            <a:endParaRPr lang="en-US" sz="1200" dirty="0"/>
          </a:p>
        </p:txBody>
      </p:sp>
      <p:sp>
        <p:nvSpPr>
          <p:cNvPr id="30" name="Text 28"/>
          <p:cNvSpPr/>
          <p:nvPr/>
        </p:nvSpPr>
        <p:spPr>
          <a:xfrm>
            <a:off x="3639312" y="2167128"/>
            <a:ext cx="2148840" cy="457200"/>
          </a:xfrm>
          <a:prstGeom prst="rect">
            <a:avLst/>
          </a:prstGeom>
          <a:noFill/>
          <a:ln/>
        </p:spPr>
        <p:txBody>
          <a:bodyPr wrap="square" rtlCol="0" anchor="ctr"/>
          <a:lstStyle/>
          <a:p>
            <a:pPr algn="l" indent="0" marL="0">
              <a:lnSpc>
                <a:spcPct val="115000"/>
              </a:lnSpc>
              <a:buNone/>
            </a:pPr>
            <a:r>
              <a:rPr lang="en-US" sz="1000" dirty="0">
                <a:solidFill>
                  <a:srgbClr val="3D4A6E"/>
                </a:solidFill>
                <a:latin typeface="Calibri" pitchFamily="34" charset="0"/>
                <a:ea typeface="Calibri" pitchFamily="34" charset="-122"/>
                <a:cs typeface="Calibri" pitchFamily="34" charset="-120"/>
              </a:rPr>
              <a:t>Dari Lowe's sampai Hanssem — semua juara adalah specialist, bukan generalist.</a:t>
            </a:r>
            <a:endParaRPr lang="en-US" sz="1000" dirty="0"/>
          </a:p>
        </p:txBody>
      </p:sp>
      <p:sp>
        <p:nvSpPr>
          <p:cNvPr id="31" name="Shape 29"/>
          <p:cNvSpPr/>
          <p:nvPr/>
        </p:nvSpPr>
        <p:spPr>
          <a:xfrm>
            <a:off x="3429000" y="2807208"/>
            <a:ext cx="2377440" cy="841248"/>
          </a:xfrm>
          <a:prstGeom prst="roundRect">
            <a:avLst>
              <a:gd name="adj" fmla="val 7609"/>
            </a:avLst>
          </a:prstGeom>
          <a:solidFill>
            <a:srgbClr val="FFFFFF"/>
          </a:solidFill>
          <a:ln/>
        </p:spPr>
      </p:sp>
      <p:sp>
        <p:nvSpPr>
          <p:cNvPr id="32" name="Shape 30"/>
          <p:cNvSpPr/>
          <p:nvPr/>
        </p:nvSpPr>
        <p:spPr>
          <a:xfrm>
            <a:off x="3511296" y="2898648"/>
            <a:ext cx="82296" cy="82296"/>
          </a:xfrm>
          <a:prstGeom prst="ellipse">
            <a:avLst/>
          </a:prstGeom>
          <a:solidFill>
            <a:srgbClr val="1E2761"/>
          </a:solidFill>
          <a:ln/>
        </p:spPr>
      </p:sp>
      <p:sp>
        <p:nvSpPr>
          <p:cNvPr id="33" name="Text 31"/>
          <p:cNvSpPr/>
          <p:nvPr/>
        </p:nvSpPr>
        <p:spPr>
          <a:xfrm>
            <a:off x="3639312" y="2862072"/>
            <a:ext cx="2148840" cy="256032"/>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Experience = moat</a:t>
            </a:r>
            <a:endParaRPr lang="en-US" sz="1200" dirty="0"/>
          </a:p>
        </p:txBody>
      </p:sp>
      <p:sp>
        <p:nvSpPr>
          <p:cNvPr id="34" name="Text 32"/>
          <p:cNvSpPr/>
          <p:nvPr/>
        </p:nvSpPr>
        <p:spPr>
          <a:xfrm>
            <a:off x="3639312" y="3127248"/>
            <a:ext cx="2148840" cy="457200"/>
          </a:xfrm>
          <a:prstGeom prst="rect">
            <a:avLst/>
          </a:prstGeom>
          <a:noFill/>
          <a:ln/>
        </p:spPr>
        <p:txBody>
          <a:bodyPr wrap="square" rtlCol="0" anchor="ctr"/>
          <a:lstStyle/>
          <a:p>
            <a:pPr algn="l" indent="0" marL="0">
              <a:lnSpc>
                <a:spcPct val="115000"/>
              </a:lnSpc>
              <a:buNone/>
            </a:pPr>
            <a:r>
              <a:rPr lang="en-US" sz="1000" dirty="0">
                <a:solidFill>
                  <a:srgbClr val="3D4A6E"/>
                </a:solidFill>
                <a:latin typeface="Calibri" pitchFamily="34" charset="0"/>
                <a:ea typeface="Calibri" pitchFamily="34" charset="-122"/>
                <a:cs typeface="Calibri" pitchFamily="34" charset="-120"/>
              </a:rPr>
              <a:t>Pop Mart, Freshippo, FAMIMA PARK — store yang menjual pengalaman tidak tersaingi online.</a:t>
            </a:r>
            <a:endParaRPr lang="en-US" sz="1000" dirty="0"/>
          </a:p>
        </p:txBody>
      </p:sp>
      <p:sp>
        <p:nvSpPr>
          <p:cNvPr id="35" name="Shape 33"/>
          <p:cNvSpPr/>
          <p:nvPr/>
        </p:nvSpPr>
        <p:spPr>
          <a:xfrm>
            <a:off x="3429000" y="3767328"/>
            <a:ext cx="2377440" cy="841248"/>
          </a:xfrm>
          <a:prstGeom prst="roundRect">
            <a:avLst>
              <a:gd name="adj" fmla="val 7609"/>
            </a:avLst>
          </a:prstGeom>
          <a:solidFill>
            <a:srgbClr val="FFFFFF"/>
          </a:solidFill>
          <a:ln/>
        </p:spPr>
      </p:sp>
      <p:sp>
        <p:nvSpPr>
          <p:cNvPr id="36" name="Shape 34"/>
          <p:cNvSpPr/>
          <p:nvPr/>
        </p:nvSpPr>
        <p:spPr>
          <a:xfrm>
            <a:off x="3511296" y="3858768"/>
            <a:ext cx="82296" cy="82296"/>
          </a:xfrm>
          <a:prstGeom prst="ellipse">
            <a:avLst/>
          </a:prstGeom>
          <a:solidFill>
            <a:srgbClr val="1E2761"/>
          </a:solidFill>
          <a:ln/>
        </p:spPr>
      </p:sp>
      <p:sp>
        <p:nvSpPr>
          <p:cNvPr id="37" name="Text 35"/>
          <p:cNvSpPr/>
          <p:nvPr/>
        </p:nvSpPr>
        <p:spPr>
          <a:xfrm>
            <a:off x="3639312" y="3822192"/>
            <a:ext cx="2148840" cy="256032"/>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Indonesia baru bergerak</a:t>
            </a:r>
            <a:endParaRPr lang="en-US" sz="1200" dirty="0"/>
          </a:p>
        </p:txBody>
      </p:sp>
      <p:sp>
        <p:nvSpPr>
          <p:cNvPr id="38" name="Text 36"/>
          <p:cNvSpPr/>
          <p:nvPr/>
        </p:nvSpPr>
        <p:spPr>
          <a:xfrm>
            <a:off x="3639312" y="4087368"/>
            <a:ext cx="2148840" cy="457200"/>
          </a:xfrm>
          <a:prstGeom prst="rect">
            <a:avLst/>
          </a:prstGeom>
          <a:noFill/>
          <a:ln/>
        </p:spPr>
        <p:txBody>
          <a:bodyPr wrap="square" rtlCol="0" anchor="ctr"/>
          <a:lstStyle/>
          <a:p>
            <a:pPr algn="l" indent="0" marL="0">
              <a:lnSpc>
                <a:spcPct val="115000"/>
              </a:lnSpc>
              <a:buNone/>
            </a:pPr>
            <a:r>
              <a:rPr lang="en-US" sz="1000" dirty="0">
                <a:solidFill>
                  <a:srgbClr val="3D4A6E"/>
                </a:solidFill>
                <a:latin typeface="Calibri" pitchFamily="34" charset="0"/>
                <a:ea typeface="Calibri" pitchFamily="34" charset="-122"/>
                <a:cs typeface="Calibri" pitchFamily="34" charset="-120"/>
              </a:rPr>
              <a:t>AZKO &amp; Mitra10 sudah mulai. First-mover advantage masih terbuka lebar.</a:t>
            </a:r>
            <a:endParaRPr lang="en-US" sz="1000" dirty="0"/>
          </a:p>
        </p:txBody>
      </p:sp>
      <p:sp>
        <p:nvSpPr>
          <p:cNvPr id="39" name="Shape 37"/>
          <p:cNvSpPr/>
          <p:nvPr/>
        </p:nvSpPr>
        <p:spPr>
          <a:xfrm>
            <a:off x="6108192" y="1078992"/>
            <a:ext cx="2651760" cy="3749040"/>
          </a:xfrm>
          <a:prstGeom prst="roundRect">
            <a:avLst>
              <a:gd name="adj" fmla="val 3448"/>
            </a:avLst>
          </a:prstGeom>
          <a:solidFill>
            <a:srgbClr val="F0F2FA"/>
          </a:solidFill>
          <a:ln/>
        </p:spPr>
      </p:sp>
      <p:sp>
        <p:nvSpPr>
          <p:cNvPr id="40" name="Shape 38"/>
          <p:cNvSpPr/>
          <p:nvPr/>
        </p:nvSpPr>
        <p:spPr>
          <a:xfrm>
            <a:off x="6108192" y="1078992"/>
            <a:ext cx="2651760" cy="658368"/>
          </a:xfrm>
          <a:prstGeom prst="roundRect">
            <a:avLst>
              <a:gd name="adj" fmla="val 13889"/>
            </a:avLst>
          </a:prstGeom>
          <a:solidFill>
            <a:srgbClr val="C8860A"/>
          </a:solidFill>
          <a:ln/>
        </p:spPr>
      </p:sp>
      <p:sp>
        <p:nvSpPr>
          <p:cNvPr id="41" name="Shape 39"/>
          <p:cNvSpPr/>
          <p:nvPr/>
        </p:nvSpPr>
        <p:spPr>
          <a:xfrm>
            <a:off x="6108192" y="1389888"/>
            <a:ext cx="2651760" cy="347472"/>
          </a:xfrm>
          <a:prstGeom prst="rect">
            <a:avLst/>
          </a:prstGeom>
          <a:solidFill>
            <a:srgbClr val="C8860A"/>
          </a:solidFill>
          <a:ln/>
        </p:spPr>
      </p:sp>
      <p:sp>
        <p:nvSpPr>
          <p:cNvPr id="42" name="Text 40"/>
          <p:cNvSpPr/>
          <p:nvPr/>
        </p:nvSpPr>
        <p:spPr>
          <a:xfrm>
            <a:off x="6245352" y="1115568"/>
            <a:ext cx="2377440" cy="365760"/>
          </a:xfrm>
          <a:prstGeom prst="rect">
            <a:avLst/>
          </a:prstGeom>
          <a:noFill/>
          <a:ln/>
        </p:spPr>
        <p:txBody>
          <a:bodyPr wrap="square"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  Team Capability</a:t>
            </a:r>
            <a:endParaRPr lang="en-US" sz="1400" dirty="0"/>
          </a:p>
        </p:txBody>
      </p:sp>
      <p:sp>
        <p:nvSpPr>
          <p:cNvPr id="43" name="Text 41"/>
          <p:cNvSpPr/>
          <p:nvPr/>
        </p:nvSpPr>
        <p:spPr>
          <a:xfrm>
            <a:off x="6245352" y="1481328"/>
            <a:ext cx="2377440" cy="219456"/>
          </a:xfrm>
          <a:prstGeom prst="rect">
            <a:avLst/>
          </a:prstGeom>
          <a:noFill/>
          <a:ln/>
        </p:spPr>
        <p:txBody>
          <a:bodyPr wrap="square"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Kebutuhan tim berevolusi</a:t>
            </a:r>
            <a:endParaRPr lang="en-US" sz="900" dirty="0"/>
          </a:p>
        </p:txBody>
      </p:sp>
      <p:sp>
        <p:nvSpPr>
          <p:cNvPr id="44" name="Shape 42"/>
          <p:cNvSpPr/>
          <p:nvPr/>
        </p:nvSpPr>
        <p:spPr>
          <a:xfrm>
            <a:off x="6245352" y="1847088"/>
            <a:ext cx="2377440" cy="841248"/>
          </a:xfrm>
          <a:prstGeom prst="roundRect">
            <a:avLst>
              <a:gd name="adj" fmla="val 7609"/>
            </a:avLst>
          </a:prstGeom>
          <a:solidFill>
            <a:srgbClr val="FFFFFF"/>
          </a:solidFill>
          <a:ln/>
        </p:spPr>
      </p:sp>
      <p:sp>
        <p:nvSpPr>
          <p:cNvPr id="45" name="Shape 43"/>
          <p:cNvSpPr/>
          <p:nvPr/>
        </p:nvSpPr>
        <p:spPr>
          <a:xfrm>
            <a:off x="6327648" y="1938528"/>
            <a:ext cx="82296" cy="82296"/>
          </a:xfrm>
          <a:prstGeom prst="ellipse">
            <a:avLst/>
          </a:prstGeom>
          <a:solidFill>
            <a:srgbClr val="C8860A"/>
          </a:solidFill>
          <a:ln/>
        </p:spPr>
      </p:sp>
      <p:sp>
        <p:nvSpPr>
          <p:cNvPr id="46" name="Text 44"/>
          <p:cNvSpPr/>
          <p:nvPr/>
        </p:nvSpPr>
        <p:spPr>
          <a:xfrm>
            <a:off x="6455664" y="1901952"/>
            <a:ext cx="2148840" cy="256032"/>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T-shaped team wins</a:t>
            </a:r>
            <a:endParaRPr lang="en-US" sz="1200" dirty="0"/>
          </a:p>
        </p:txBody>
      </p:sp>
      <p:sp>
        <p:nvSpPr>
          <p:cNvPr id="47" name="Text 45"/>
          <p:cNvSpPr/>
          <p:nvPr/>
        </p:nvSpPr>
        <p:spPr>
          <a:xfrm>
            <a:off x="6455664" y="2167128"/>
            <a:ext cx="2148840" cy="457200"/>
          </a:xfrm>
          <a:prstGeom prst="rect">
            <a:avLst/>
          </a:prstGeom>
          <a:noFill/>
          <a:ln/>
        </p:spPr>
        <p:txBody>
          <a:bodyPr wrap="square" rtlCol="0" anchor="ctr"/>
          <a:lstStyle/>
          <a:p>
            <a:pPr algn="l" indent="0" marL="0">
              <a:lnSpc>
                <a:spcPct val="115000"/>
              </a:lnSpc>
              <a:buNone/>
            </a:pPr>
            <a:r>
              <a:rPr lang="en-US" sz="1000" dirty="0">
                <a:solidFill>
                  <a:srgbClr val="3D4A6E"/>
                </a:solidFill>
                <a:latin typeface="Calibri" pitchFamily="34" charset="0"/>
                <a:ea typeface="Calibri" pitchFamily="34" charset="-122"/>
                <a:cs typeface="Calibri" pitchFamily="34" charset="-120"/>
              </a:rPr>
              <a:t>Specialist depth + AI-augmented breadth = competitive advantage di era disrupsi.</a:t>
            </a:r>
            <a:endParaRPr lang="en-US" sz="1000" dirty="0"/>
          </a:p>
        </p:txBody>
      </p:sp>
      <p:sp>
        <p:nvSpPr>
          <p:cNvPr id="48" name="Shape 46"/>
          <p:cNvSpPr/>
          <p:nvPr/>
        </p:nvSpPr>
        <p:spPr>
          <a:xfrm>
            <a:off x="6245352" y="2807208"/>
            <a:ext cx="2377440" cy="841248"/>
          </a:xfrm>
          <a:prstGeom prst="roundRect">
            <a:avLst>
              <a:gd name="adj" fmla="val 7609"/>
            </a:avLst>
          </a:prstGeom>
          <a:solidFill>
            <a:srgbClr val="FFFFFF"/>
          </a:solidFill>
          <a:ln/>
        </p:spPr>
      </p:sp>
      <p:sp>
        <p:nvSpPr>
          <p:cNvPr id="49" name="Shape 47"/>
          <p:cNvSpPr/>
          <p:nvPr/>
        </p:nvSpPr>
        <p:spPr>
          <a:xfrm>
            <a:off x="6327648" y="2898648"/>
            <a:ext cx="82296" cy="82296"/>
          </a:xfrm>
          <a:prstGeom prst="ellipse">
            <a:avLst/>
          </a:prstGeom>
          <a:solidFill>
            <a:srgbClr val="C8860A"/>
          </a:solidFill>
          <a:ln/>
        </p:spPr>
      </p:sp>
      <p:sp>
        <p:nvSpPr>
          <p:cNvPr id="50" name="Text 48"/>
          <p:cNvSpPr/>
          <p:nvPr/>
        </p:nvSpPr>
        <p:spPr>
          <a:xfrm>
            <a:off x="6455664" y="2862072"/>
            <a:ext cx="2148840" cy="256032"/>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Store Concept = Revenue</a:t>
            </a:r>
            <a:endParaRPr lang="en-US" sz="1200" dirty="0"/>
          </a:p>
        </p:txBody>
      </p:sp>
      <p:sp>
        <p:nvSpPr>
          <p:cNvPr id="51" name="Text 49"/>
          <p:cNvSpPr/>
          <p:nvPr/>
        </p:nvSpPr>
        <p:spPr>
          <a:xfrm>
            <a:off x="6455664" y="3127248"/>
            <a:ext cx="2148840" cy="457200"/>
          </a:xfrm>
          <a:prstGeom prst="rect">
            <a:avLst/>
          </a:prstGeom>
          <a:noFill/>
          <a:ln/>
        </p:spPr>
        <p:txBody>
          <a:bodyPr wrap="square" rtlCol="0" anchor="ctr"/>
          <a:lstStyle/>
          <a:p>
            <a:pPr algn="l" indent="0" marL="0">
              <a:lnSpc>
                <a:spcPct val="115000"/>
              </a:lnSpc>
              <a:buNone/>
            </a:pPr>
            <a:r>
              <a:rPr lang="en-US" sz="1000" dirty="0">
                <a:solidFill>
                  <a:srgbClr val="3D4A6E"/>
                </a:solidFill>
                <a:latin typeface="Calibri" pitchFamily="34" charset="0"/>
                <a:ea typeface="Calibri" pitchFamily="34" charset="-122"/>
                <a:cs typeface="Calibri" pitchFamily="34" charset="-120"/>
              </a:rPr>
              <a:t>Shift dari cost center: 6 model bisnis siap dieksekusi untuk hasilkan P&amp;L baru.</a:t>
            </a:r>
            <a:endParaRPr lang="en-US" sz="1000" dirty="0"/>
          </a:p>
        </p:txBody>
      </p:sp>
      <p:sp>
        <p:nvSpPr>
          <p:cNvPr id="52" name="Shape 50"/>
          <p:cNvSpPr/>
          <p:nvPr/>
        </p:nvSpPr>
        <p:spPr>
          <a:xfrm>
            <a:off x="6245352" y="3767328"/>
            <a:ext cx="2377440" cy="841248"/>
          </a:xfrm>
          <a:prstGeom prst="roundRect">
            <a:avLst>
              <a:gd name="adj" fmla="val 7609"/>
            </a:avLst>
          </a:prstGeom>
          <a:solidFill>
            <a:srgbClr val="FFFFFF"/>
          </a:solidFill>
          <a:ln/>
        </p:spPr>
      </p:sp>
      <p:sp>
        <p:nvSpPr>
          <p:cNvPr id="53" name="Shape 51"/>
          <p:cNvSpPr/>
          <p:nvPr/>
        </p:nvSpPr>
        <p:spPr>
          <a:xfrm>
            <a:off x="6327648" y="3858768"/>
            <a:ext cx="82296" cy="82296"/>
          </a:xfrm>
          <a:prstGeom prst="ellipse">
            <a:avLst/>
          </a:prstGeom>
          <a:solidFill>
            <a:srgbClr val="C8860A"/>
          </a:solidFill>
          <a:ln/>
        </p:spPr>
      </p:sp>
      <p:sp>
        <p:nvSpPr>
          <p:cNvPr id="54" name="Text 52"/>
          <p:cNvSpPr/>
          <p:nvPr/>
        </p:nvSpPr>
        <p:spPr>
          <a:xfrm>
            <a:off x="6455664" y="3822192"/>
            <a:ext cx="2148840" cy="256032"/>
          </a:xfrm>
          <a:prstGeom prst="rect">
            <a:avLst/>
          </a:prstGeom>
          <a:noFill/>
          <a:ln/>
        </p:spPr>
        <p:txBody>
          <a:bodyPr wrap="square" rtlCol="0" anchor="ctr"/>
          <a:lstStyle/>
          <a:p>
            <a:pPr algn="l" indent="0" marL="0">
              <a:buNone/>
            </a:pPr>
            <a:r>
              <a:rPr lang="en-US" sz="1200" b="1" dirty="0">
                <a:solidFill>
                  <a:srgbClr val="1A2355"/>
                </a:solidFill>
                <a:latin typeface="Calibri" pitchFamily="34" charset="0"/>
                <a:ea typeface="Calibri" pitchFamily="34" charset="-122"/>
                <a:cs typeface="Calibri" pitchFamily="34" charset="-120"/>
              </a:rPr>
              <a:t>Upskill atau tertinggal</a:t>
            </a:r>
            <a:endParaRPr lang="en-US" sz="1200" dirty="0"/>
          </a:p>
        </p:txBody>
      </p:sp>
      <p:sp>
        <p:nvSpPr>
          <p:cNvPr id="55" name="Text 53"/>
          <p:cNvSpPr/>
          <p:nvPr/>
        </p:nvSpPr>
        <p:spPr>
          <a:xfrm>
            <a:off x="6455664" y="4087368"/>
            <a:ext cx="2148840" cy="457200"/>
          </a:xfrm>
          <a:prstGeom prst="rect">
            <a:avLst/>
          </a:prstGeom>
          <a:noFill/>
          <a:ln/>
        </p:spPr>
        <p:txBody>
          <a:bodyPr wrap="square" rtlCol="0" anchor="ctr"/>
          <a:lstStyle/>
          <a:p>
            <a:pPr algn="l" indent="0" marL="0">
              <a:lnSpc>
                <a:spcPct val="115000"/>
              </a:lnSpc>
              <a:buNone/>
            </a:pPr>
            <a:r>
              <a:rPr lang="en-US" sz="1000" dirty="0">
                <a:solidFill>
                  <a:srgbClr val="3D4A6E"/>
                </a:solidFill>
                <a:latin typeface="Calibri" pitchFamily="34" charset="0"/>
                <a:ea typeface="Calibri" pitchFamily="34" charset="-122"/>
                <a:cs typeface="Calibri" pitchFamily="34" charset="-120"/>
              </a:rPr>
              <a:t>85% industri sudah reskill workforce — window for action makin sempit.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2FA"/>
        </a:solidFill>
      </p:bgPr>
    </p:bg>
    <p:spTree>
      <p:nvGrpSpPr>
        <p:cNvPr id="1" name=""/>
        <p:cNvGrpSpPr/>
        <p:nvPr/>
      </p:nvGrpSpPr>
      <p:grpSpPr>
        <a:xfrm>
          <a:off x="0" y="0"/>
          <a:ext cx="0" cy="0"/>
          <a:chOff x="0" y="0"/>
          <a:chExt cx="0" cy="0"/>
        </a:xfrm>
      </p:grpSpPr>
      <p:sp>
        <p:nvSpPr>
          <p:cNvPr id="2" name="Text 0"/>
          <p:cNvSpPr/>
          <p:nvPr/>
        </p:nvSpPr>
        <p:spPr>
          <a:xfrm>
            <a:off x="502920" y="256032"/>
            <a:ext cx="7315200" cy="502920"/>
          </a:xfrm>
          <a:prstGeom prst="rect">
            <a:avLst/>
          </a:prstGeom>
          <a:noFill/>
          <a:ln/>
        </p:spPr>
        <p:txBody>
          <a:bodyPr wrap="square" rtlCol="0" anchor="ctr"/>
          <a:lstStyle/>
          <a:p>
            <a:pPr algn="l" indent="0" marL="0">
              <a:buNone/>
            </a:pPr>
            <a:r>
              <a:rPr lang="en-US" sz="3000" b="1" dirty="0">
                <a:solidFill>
                  <a:srgbClr val="1A2355"/>
                </a:solidFill>
                <a:latin typeface="Calibri" pitchFamily="34" charset="0"/>
                <a:ea typeface="Calibri" pitchFamily="34" charset="-122"/>
                <a:cs typeface="Calibri" pitchFamily="34" charset="-120"/>
              </a:rPr>
              <a:t>5 Rekomendasi Strategis</a:t>
            </a:r>
            <a:endParaRPr lang="en-US" sz="3000" dirty="0"/>
          </a:p>
        </p:txBody>
      </p:sp>
      <p:sp>
        <p:nvSpPr>
          <p:cNvPr id="3" name="Text 1"/>
          <p:cNvSpPr/>
          <p:nvPr/>
        </p:nvSpPr>
        <p:spPr>
          <a:xfrm>
            <a:off x="502920" y="758952"/>
            <a:ext cx="8229600" cy="256032"/>
          </a:xfrm>
          <a:prstGeom prst="rect">
            <a:avLst/>
          </a:prstGeom>
          <a:noFill/>
          <a:ln/>
        </p:spPr>
        <p:txBody>
          <a:bodyPr wrap="square" rtlCol="0" anchor="ctr"/>
          <a:lstStyle/>
          <a:p>
            <a:pPr algn="l" indent="0" marL="0">
              <a:buNone/>
            </a:pPr>
            <a:r>
              <a:rPr lang="en-US" sz="1300" dirty="0">
                <a:solidFill>
                  <a:srgbClr val="3D4A6E"/>
                </a:solidFill>
                <a:latin typeface="Calibri" pitchFamily="34" charset="0"/>
                <a:ea typeface="Calibri" pitchFamily="34" charset="-122"/>
                <a:cs typeface="Calibri" pitchFamily="34" charset="-120"/>
              </a:rPr>
              <a:t>Langkah konkret untuk Store Concept Team menghadapi perubahan tiga kekuatan makro + downtrading era</a:t>
            </a:r>
            <a:endParaRPr lang="en-US" sz="1300" dirty="0"/>
          </a:p>
        </p:txBody>
      </p:sp>
      <p:sp>
        <p:nvSpPr>
          <p:cNvPr id="4" name="Shape 2"/>
          <p:cNvSpPr/>
          <p:nvPr/>
        </p:nvSpPr>
        <p:spPr>
          <a:xfrm>
            <a:off x="502920" y="1115568"/>
            <a:ext cx="8119872" cy="713232"/>
          </a:xfrm>
          <a:prstGeom prst="roundRect">
            <a:avLst>
              <a:gd name="adj" fmla="val 11538"/>
            </a:avLst>
          </a:prstGeom>
          <a:solidFill>
            <a:srgbClr val="FFFFFF"/>
          </a:solidFill>
          <a:ln/>
          <a:effectLst>
            <a:outerShdw sx="100000" sy="100000" kx="0" ky="0" algn="bl" rotWithShape="0" blurRad="76200" dist="25400" dir="2700000">
              <a:srgbClr val="CCCCCC">
                <a:alpha val="14000"/>
              </a:srgbClr>
            </a:outerShdw>
          </a:effectLst>
        </p:spPr>
      </p:sp>
      <p:sp>
        <p:nvSpPr>
          <p:cNvPr id="5" name="Shape 3"/>
          <p:cNvSpPr/>
          <p:nvPr/>
        </p:nvSpPr>
        <p:spPr>
          <a:xfrm>
            <a:off x="603504" y="1207008"/>
            <a:ext cx="530352" cy="530352"/>
          </a:xfrm>
          <a:prstGeom prst="ellipse">
            <a:avLst/>
          </a:prstGeom>
          <a:solidFill>
            <a:srgbClr val="1E2761"/>
          </a:solidFill>
          <a:ln/>
        </p:spPr>
      </p:sp>
      <p:sp>
        <p:nvSpPr>
          <p:cNvPr id="6" name="Text 4"/>
          <p:cNvSpPr/>
          <p:nvPr/>
        </p:nvSpPr>
        <p:spPr>
          <a:xfrm>
            <a:off x="603504" y="1207008"/>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261872" y="1188720"/>
            <a:ext cx="7223760" cy="292608"/>
          </a:xfrm>
          <a:prstGeom prst="rect">
            <a:avLst/>
          </a:prstGeom>
          <a:noFill/>
          <a:ln/>
        </p:spPr>
        <p:txBody>
          <a:bodyPr wrap="square" rtlCol="0" anchor="ctr"/>
          <a:lstStyle/>
          <a:p>
            <a:pPr algn="l" indent="0" marL="0">
              <a:buNone/>
            </a:pPr>
            <a:r>
              <a:rPr lang="en-US" sz="1300" b="1" dirty="0">
                <a:solidFill>
                  <a:srgbClr val="1A2355"/>
                </a:solidFill>
                <a:latin typeface="Calibri" pitchFamily="34" charset="0"/>
                <a:ea typeface="Calibri" pitchFamily="34" charset="-122"/>
                <a:cs typeface="Calibri" pitchFamily="34" charset="-120"/>
              </a:rPr>
              <a:t>Repositioning → Aspirant Class &amp; Conscious Consumer</a:t>
            </a:r>
            <a:endParaRPr lang="en-US" sz="1300" dirty="0"/>
          </a:p>
        </p:txBody>
      </p:sp>
      <p:sp>
        <p:nvSpPr>
          <p:cNvPr id="8" name="Text 6"/>
          <p:cNvSpPr/>
          <p:nvPr/>
        </p:nvSpPr>
        <p:spPr>
          <a:xfrm>
            <a:off x="1261872" y="1508760"/>
            <a:ext cx="7223760" cy="274320"/>
          </a:xfrm>
          <a:prstGeom prst="rect">
            <a:avLst/>
          </a:prstGeom>
          <a:noFill/>
          <a:ln/>
        </p:spPr>
        <p:txBody>
          <a:bodyPr wrap="square" rtlCol="0" anchor="ctr"/>
          <a:lstStyle/>
          <a:p>
            <a:pPr algn="l" indent="0" marL="0">
              <a:buNone/>
            </a:pPr>
            <a:r>
              <a:rPr lang="en-US" sz="1000" dirty="0">
                <a:solidFill>
                  <a:srgbClr val="3D4A6E"/>
                </a:solidFill>
                <a:latin typeface="Calibri" pitchFamily="34" charset="0"/>
                <a:ea typeface="Calibri" pitchFamily="34" charset="-122"/>
                <a:cs typeface="Calibri" pitchFamily="34" charset="-120"/>
              </a:rPr>
              <a:t>Geser fokus dari "shrinking middle class" ke Aspirant Class (142 juta, 50.4% populasi). Desain store concept yang menjawab smart-value expectations: premium feel, right price. Seperti Kopi Kenangan bagi kopi.</a:t>
            </a:r>
            <a:endParaRPr lang="en-US" sz="1000" dirty="0"/>
          </a:p>
        </p:txBody>
      </p:sp>
      <p:sp>
        <p:nvSpPr>
          <p:cNvPr id="9" name="Shape 7"/>
          <p:cNvSpPr/>
          <p:nvPr/>
        </p:nvSpPr>
        <p:spPr>
          <a:xfrm>
            <a:off x="8503920" y="1207008"/>
            <a:ext cx="73152" cy="530352"/>
          </a:xfrm>
          <a:prstGeom prst="roundRect">
            <a:avLst>
              <a:gd name="adj" fmla="val 50000"/>
            </a:avLst>
          </a:prstGeom>
          <a:solidFill>
            <a:srgbClr val="1E2761"/>
          </a:solidFill>
          <a:ln/>
        </p:spPr>
      </p:sp>
      <p:sp>
        <p:nvSpPr>
          <p:cNvPr id="10" name="Shape 8"/>
          <p:cNvSpPr/>
          <p:nvPr/>
        </p:nvSpPr>
        <p:spPr>
          <a:xfrm>
            <a:off x="502920" y="1883664"/>
            <a:ext cx="8119872" cy="713232"/>
          </a:xfrm>
          <a:prstGeom prst="roundRect">
            <a:avLst>
              <a:gd name="adj" fmla="val 11538"/>
            </a:avLst>
          </a:prstGeom>
          <a:solidFill>
            <a:srgbClr val="FFFFFF"/>
          </a:solidFill>
          <a:ln/>
          <a:effectLst>
            <a:outerShdw sx="100000" sy="100000" kx="0" ky="0" algn="bl" rotWithShape="0" blurRad="76200" dist="25400" dir="2700000">
              <a:srgbClr val="CCCCCC">
                <a:alpha val="14000"/>
              </a:srgbClr>
            </a:outerShdw>
          </a:effectLst>
        </p:spPr>
      </p:sp>
      <p:sp>
        <p:nvSpPr>
          <p:cNvPr id="11" name="Shape 9"/>
          <p:cNvSpPr/>
          <p:nvPr/>
        </p:nvSpPr>
        <p:spPr>
          <a:xfrm>
            <a:off x="603504" y="1975104"/>
            <a:ext cx="530352" cy="530352"/>
          </a:xfrm>
          <a:prstGeom prst="ellipse">
            <a:avLst/>
          </a:prstGeom>
          <a:solidFill>
            <a:srgbClr val="1F7A8C"/>
          </a:solidFill>
          <a:ln/>
        </p:spPr>
      </p:sp>
      <p:sp>
        <p:nvSpPr>
          <p:cNvPr id="12" name="Text 10"/>
          <p:cNvSpPr/>
          <p:nvPr/>
        </p:nvSpPr>
        <p:spPr>
          <a:xfrm>
            <a:off x="603504" y="1975104"/>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3" name="Text 11"/>
          <p:cNvSpPr/>
          <p:nvPr/>
        </p:nvSpPr>
        <p:spPr>
          <a:xfrm>
            <a:off x="1261872" y="1956816"/>
            <a:ext cx="7223760" cy="292608"/>
          </a:xfrm>
          <a:prstGeom prst="rect">
            <a:avLst/>
          </a:prstGeom>
          <a:noFill/>
          <a:ln/>
        </p:spPr>
        <p:txBody>
          <a:bodyPr wrap="square" rtlCol="0" anchor="ctr"/>
          <a:lstStyle/>
          <a:p>
            <a:pPr algn="l" indent="0" marL="0">
              <a:buNone/>
            </a:pPr>
            <a:r>
              <a:rPr lang="en-US" sz="1300" b="1" dirty="0">
                <a:solidFill>
                  <a:srgbClr val="1A2355"/>
                </a:solidFill>
                <a:latin typeface="Calibri" pitchFamily="34" charset="0"/>
                <a:ea typeface="Calibri" pitchFamily="34" charset="-122"/>
                <a:cs typeface="Calibri" pitchFamily="34" charset="-120"/>
              </a:rPr>
              <a:t>Store Specialist: Kuasai 1-2 Kategori Secara Mendalam</a:t>
            </a:r>
            <a:endParaRPr lang="en-US" sz="1300" dirty="0"/>
          </a:p>
        </p:txBody>
      </p:sp>
      <p:sp>
        <p:nvSpPr>
          <p:cNvPr id="14" name="Text 12"/>
          <p:cNvSpPr/>
          <p:nvPr/>
        </p:nvSpPr>
        <p:spPr>
          <a:xfrm>
            <a:off x="1261872" y="2276856"/>
            <a:ext cx="7223760" cy="274320"/>
          </a:xfrm>
          <a:prstGeom prst="rect">
            <a:avLst/>
          </a:prstGeom>
          <a:noFill/>
          <a:ln/>
        </p:spPr>
        <p:txBody>
          <a:bodyPr wrap="square" rtlCol="0" anchor="ctr"/>
          <a:lstStyle/>
          <a:p>
            <a:pPr algn="l" indent="0" marL="0">
              <a:buNone/>
            </a:pPr>
            <a:r>
              <a:rPr lang="en-US" sz="1000" dirty="0">
                <a:solidFill>
                  <a:srgbClr val="3D4A6E"/>
                </a:solidFill>
                <a:latin typeface="Calibri" pitchFamily="34" charset="0"/>
                <a:ea typeface="Calibri" pitchFamily="34" charset="-122"/>
                <a:cs typeface="Calibri" pitchFamily="34" charset="-120"/>
              </a:rPr>
              <a:t>Dari general assortment ke specialist concept. Build expertise mendalam seperti Home Depot Design Center atau Hanssem Korea. Jadilah destination store yang tidak bisa digantikan e-commerce generalis.</a:t>
            </a:r>
            <a:endParaRPr lang="en-US" sz="1000" dirty="0"/>
          </a:p>
        </p:txBody>
      </p:sp>
      <p:sp>
        <p:nvSpPr>
          <p:cNvPr id="15" name="Shape 13"/>
          <p:cNvSpPr/>
          <p:nvPr/>
        </p:nvSpPr>
        <p:spPr>
          <a:xfrm>
            <a:off x="8503920" y="1975104"/>
            <a:ext cx="73152" cy="530352"/>
          </a:xfrm>
          <a:prstGeom prst="roundRect">
            <a:avLst>
              <a:gd name="adj" fmla="val 50000"/>
            </a:avLst>
          </a:prstGeom>
          <a:solidFill>
            <a:srgbClr val="1F7A8C"/>
          </a:solidFill>
          <a:ln/>
        </p:spPr>
      </p:sp>
      <p:sp>
        <p:nvSpPr>
          <p:cNvPr id="16" name="Shape 14"/>
          <p:cNvSpPr/>
          <p:nvPr/>
        </p:nvSpPr>
        <p:spPr>
          <a:xfrm>
            <a:off x="502920" y="2651760"/>
            <a:ext cx="8119872" cy="713232"/>
          </a:xfrm>
          <a:prstGeom prst="roundRect">
            <a:avLst>
              <a:gd name="adj" fmla="val 11538"/>
            </a:avLst>
          </a:prstGeom>
          <a:solidFill>
            <a:srgbClr val="FFFFFF"/>
          </a:solidFill>
          <a:ln/>
          <a:effectLst>
            <a:outerShdw sx="100000" sy="100000" kx="0" ky="0" algn="bl" rotWithShape="0" blurRad="76200" dist="25400" dir="2700000">
              <a:srgbClr val="CCCCCC">
                <a:alpha val="14000"/>
              </a:srgbClr>
            </a:outerShdw>
          </a:effectLst>
        </p:spPr>
      </p:sp>
      <p:sp>
        <p:nvSpPr>
          <p:cNvPr id="17" name="Shape 15"/>
          <p:cNvSpPr/>
          <p:nvPr/>
        </p:nvSpPr>
        <p:spPr>
          <a:xfrm>
            <a:off x="603504" y="2743200"/>
            <a:ext cx="530352" cy="530352"/>
          </a:xfrm>
          <a:prstGeom prst="ellipse">
            <a:avLst/>
          </a:prstGeom>
          <a:solidFill>
            <a:srgbClr val="C8860A"/>
          </a:solidFill>
          <a:ln/>
        </p:spPr>
      </p:sp>
      <p:sp>
        <p:nvSpPr>
          <p:cNvPr id="18" name="Text 16"/>
          <p:cNvSpPr/>
          <p:nvPr/>
        </p:nvSpPr>
        <p:spPr>
          <a:xfrm>
            <a:off x="603504" y="2743200"/>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9" name="Text 17"/>
          <p:cNvSpPr/>
          <p:nvPr/>
        </p:nvSpPr>
        <p:spPr>
          <a:xfrm>
            <a:off x="1261872" y="2724912"/>
            <a:ext cx="7223760" cy="292608"/>
          </a:xfrm>
          <a:prstGeom prst="rect">
            <a:avLst/>
          </a:prstGeom>
          <a:noFill/>
          <a:ln/>
        </p:spPr>
        <p:txBody>
          <a:bodyPr wrap="square" rtlCol="0" anchor="ctr"/>
          <a:lstStyle/>
          <a:p>
            <a:pPr algn="l" indent="0" marL="0">
              <a:buNone/>
            </a:pPr>
            <a:r>
              <a:rPr lang="en-US" sz="1300" b="1" dirty="0">
                <a:solidFill>
                  <a:srgbClr val="1A2355"/>
                </a:solidFill>
                <a:latin typeface="Calibri" pitchFamily="34" charset="0"/>
                <a:ea typeface="Calibri" pitchFamily="34" charset="-122"/>
                <a:cs typeface="Calibri" pitchFamily="34" charset="-120"/>
              </a:rPr>
              <a:t>Ciptakan Experiential: Jual Pengalaman, Bukan Sekadar Produk</a:t>
            </a:r>
            <a:endParaRPr lang="en-US" sz="1300" dirty="0"/>
          </a:p>
        </p:txBody>
      </p:sp>
      <p:sp>
        <p:nvSpPr>
          <p:cNvPr id="20" name="Text 18"/>
          <p:cNvSpPr/>
          <p:nvPr/>
        </p:nvSpPr>
        <p:spPr>
          <a:xfrm>
            <a:off x="1261872" y="3044952"/>
            <a:ext cx="7223760" cy="274320"/>
          </a:xfrm>
          <a:prstGeom prst="rect">
            <a:avLst/>
          </a:prstGeom>
          <a:noFill/>
          <a:ln/>
        </p:spPr>
        <p:txBody>
          <a:bodyPr wrap="square" rtlCol="0" anchor="ctr"/>
          <a:lstStyle/>
          <a:p>
            <a:pPr algn="l" indent="0" marL="0">
              <a:buNone/>
            </a:pPr>
            <a:r>
              <a:rPr lang="en-US" sz="1000" dirty="0">
                <a:solidFill>
                  <a:srgbClr val="3D4A6E"/>
                </a:solidFill>
                <a:latin typeface="Calibri" pitchFamily="34" charset="0"/>
                <a:ea typeface="Calibri" pitchFamily="34" charset="-122"/>
                <a:cs typeface="Calibri" pitchFamily="34" charset="-120"/>
              </a:rPr>
              <a:t>59% shoppers ingin lebih banyak in-store experience. Desain store sebagai "inspiration room" (benchmark: AZKO 6,780m²). Workshop, live demo, komunitas = reason to visit yang tidak bisa diduplicate online.</a:t>
            </a:r>
            <a:endParaRPr lang="en-US" sz="1000" dirty="0"/>
          </a:p>
        </p:txBody>
      </p:sp>
      <p:sp>
        <p:nvSpPr>
          <p:cNvPr id="21" name="Shape 19"/>
          <p:cNvSpPr/>
          <p:nvPr/>
        </p:nvSpPr>
        <p:spPr>
          <a:xfrm>
            <a:off x="8503920" y="2743200"/>
            <a:ext cx="73152" cy="530352"/>
          </a:xfrm>
          <a:prstGeom prst="roundRect">
            <a:avLst>
              <a:gd name="adj" fmla="val 50000"/>
            </a:avLst>
          </a:prstGeom>
          <a:solidFill>
            <a:srgbClr val="C8860A"/>
          </a:solidFill>
          <a:ln/>
        </p:spPr>
      </p:sp>
      <p:sp>
        <p:nvSpPr>
          <p:cNvPr id="22" name="Shape 20"/>
          <p:cNvSpPr/>
          <p:nvPr/>
        </p:nvSpPr>
        <p:spPr>
          <a:xfrm>
            <a:off x="502920" y="3419856"/>
            <a:ext cx="8119872" cy="713232"/>
          </a:xfrm>
          <a:prstGeom prst="roundRect">
            <a:avLst>
              <a:gd name="adj" fmla="val 11538"/>
            </a:avLst>
          </a:prstGeom>
          <a:solidFill>
            <a:srgbClr val="FFFFFF"/>
          </a:solidFill>
          <a:ln/>
          <a:effectLst>
            <a:outerShdw sx="100000" sy="100000" kx="0" ky="0" algn="bl" rotWithShape="0" blurRad="76200" dist="25400" dir="2700000">
              <a:srgbClr val="CCCCCC">
                <a:alpha val="14000"/>
              </a:srgbClr>
            </a:outerShdw>
          </a:effectLst>
        </p:spPr>
      </p:sp>
      <p:sp>
        <p:nvSpPr>
          <p:cNvPr id="23" name="Shape 21"/>
          <p:cNvSpPr/>
          <p:nvPr/>
        </p:nvSpPr>
        <p:spPr>
          <a:xfrm>
            <a:off x="603504" y="3511296"/>
            <a:ext cx="530352" cy="530352"/>
          </a:xfrm>
          <a:prstGeom prst="ellipse">
            <a:avLst/>
          </a:prstGeom>
          <a:solidFill>
            <a:srgbClr val="6A1B9A"/>
          </a:solidFill>
          <a:ln/>
        </p:spPr>
      </p:sp>
      <p:sp>
        <p:nvSpPr>
          <p:cNvPr id="24" name="Text 22"/>
          <p:cNvSpPr/>
          <p:nvPr/>
        </p:nvSpPr>
        <p:spPr>
          <a:xfrm>
            <a:off x="603504" y="3511296"/>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5" name="Text 23"/>
          <p:cNvSpPr/>
          <p:nvPr/>
        </p:nvSpPr>
        <p:spPr>
          <a:xfrm>
            <a:off x="1261872" y="3493008"/>
            <a:ext cx="7223760" cy="292608"/>
          </a:xfrm>
          <a:prstGeom prst="rect">
            <a:avLst/>
          </a:prstGeom>
          <a:noFill/>
          <a:ln/>
        </p:spPr>
        <p:txBody>
          <a:bodyPr wrap="square" rtlCol="0" anchor="ctr"/>
          <a:lstStyle/>
          <a:p>
            <a:pPr algn="l" indent="0" marL="0">
              <a:buNone/>
            </a:pPr>
            <a:r>
              <a:rPr lang="en-US" sz="1300" b="1" dirty="0">
                <a:solidFill>
                  <a:srgbClr val="1A2355"/>
                </a:solidFill>
                <a:latin typeface="Calibri" pitchFamily="34" charset="0"/>
                <a:ea typeface="Calibri" pitchFamily="34" charset="-122"/>
                <a:cs typeface="Calibri" pitchFamily="34" charset="-120"/>
              </a:rPr>
              <a:t>Bangun T-Shaped Retail Team + Shift ke Value Creator</a:t>
            </a:r>
            <a:endParaRPr lang="en-US" sz="1300" dirty="0"/>
          </a:p>
        </p:txBody>
      </p:sp>
      <p:sp>
        <p:nvSpPr>
          <p:cNvPr id="26" name="Text 24"/>
          <p:cNvSpPr/>
          <p:nvPr/>
        </p:nvSpPr>
        <p:spPr>
          <a:xfrm>
            <a:off x="1261872" y="3813048"/>
            <a:ext cx="7223760" cy="274320"/>
          </a:xfrm>
          <a:prstGeom prst="rect">
            <a:avLst/>
          </a:prstGeom>
          <a:noFill/>
          <a:ln/>
        </p:spPr>
        <p:txBody>
          <a:bodyPr wrap="square" rtlCol="0" anchor="ctr"/>
          <a:lstStyle/>
          <a:p>
            <a:pPr algn="l" indent="0" marL="0">
              <a:buNone/>
            </a:pPr>
            <a:r>
              <a:rPr lang="en-US" sz="1000" dirty="0">
                <a:solidFill>
                  <a:srgbClr val="3D4A6E"/>
                </a:solidFill>
                <a:latin typeface="Calibri" pitchFamily="34" charset="0"/>
                <a:ea typeface="Calibri" pitchFamily="34" charset="-122"/>
                <a:cs typeface="Calibri" pitchFamily="34" charset="-120"/>
              </a:rPr>
              <a:t>Upskilling: deep category knowledge (specialist) + digital/AI fluency (generalist). Sekaligus shift paradigma: Store Concept hasilkan revenue via Venue, Content Studio, Space-as-Service — bukan sekadar biaya.</a:t>
            </a:r>
            <a:endParaRPr lang="en-US" sz="1000" dirty="0"/>
          </a:p>
        </p:txBody>
      </p:sp>
      <p:sp>
        <p:nvSpPr>
          <p:cNvPr id="27" name="Shape 25"/>
          <p:cNvSpPr/>
          <p:nvPr/>
        </p:nvSpPr>
        <p:spPr>
          <a:xfrm>
            <a:off x="8503920" y="3511296"/>
            <a:ext cx="73152" cy="530352"/>
          </a:xfrm>
          <a:prstGeom prst="roundRect">
            <a:avLst>
              <a:gd name="adj" fmla="val 50000"/>
            </a:avLst>
          </a:prstGeom>
          <a:solidFill>
            <a:srgbClr val="6A1B9A"/>
          </a:solidFill>
          <a:ln/>
        </p:spPr>
      </p:sp>
      <p:sp>
        <p:nvSpPr>
          <p:cNvPr id="28" name="Shape 26"/>
          <p:cNvSpPr/>
          <p:nvPr/>
        </p:nvSpPr>
        <p:spPr>
          <a:xfrm>
            <a:off x="502920" y="4187952"/>
            <a:ext cx="8119872" cy="713232"/>
          </a:xfrm>
          <a:prstGeom prst="roundRect">
            <a:avLst>
              <a:gd name="adj" fmla="val 11538"/>
            </a:avLst>
          </a:prstGeom>
          <a:solidFill>
            <a:srgbClr val="FFFFFF"/>
          </a:solidFill>
          <a:ln/>
          <a:effectLst>
            <a:outerShdw sx="100000" sy="100000" kx="0" ky="0" algn="bl" rotWithShape="0" blurRad="76200" dist="25400" dir="2700000">
              <a:srgbClr val="CCCCCC">
                <a:alpha val="14000"/>
              </a:srgbClr>
            </a:outerShdw>
          </a:effectLst>
        </p:spPr>
      </p:sp>
      <p:sp>
        <p:nvSpPr>
          <p:cNvPr id="29" name="Shape 27"/>
          <p:cNvSpPr/>
          <p:nvPr/>
        </p:nvSpPr>
        <p:spPr>
          <a:xfrm>
            <a:off x="603504" y="4279392"/>
            <a:ext cx="530352" cy="530352"/>
          </a:xfrm>
          <a:prstGeom prst="ellipse">
            <a:avLst/>
          </a:prstGeom>
          <a:solidFill>
            <a:srgbClr val="00695C"/>
          </a:solidFill>
          <a:ln/>
        </p:spPr>
      </p:sp>
      <p:sp>
        <p:nvSpPr>
          <p:cNvPr id="30" name="Text 28"/>
          <p:cNvSpPr/>
          <p:nvPr/>
        </p:nvSpPr>
        <p:spPr>
          <a:xfrm>
            <a:off x="603504" y="4279392"/>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31" name="Text 29"/>
          <p:cNvSpPr/>
          <p:nvPr/>
        </p:nvSpPr>
        <p:spPr>
          <a:xfrm>
            <a:off x="1261872" y="4261104"/>
            <a:ext cx="7223760" cy="292608"/>
          </a:xfrm>
          <a:prstGeom prst="rect">
            <a:avLst/>
          </a:prstGeom>
          <a:noFill/>
          <a:ln/>
        </p:spPr>
        <p:txBody>
          <a:bodyPr wrap="square" rtlCol="0" anchor="ctr"/>
          <a:lstStyle/>
          <a:p>
            <a:pPr algn="l" indent="0" marL="0">
              <a:buNone/>
            </a:pPr>
            <a:r>
              <a:rPr lang="en-US" sz="1300" b="1" dirty="0">
                <a:solidFill>
                  <a:srgbClr val="1A2355"/>
                </a:solidFill>
                <a:latin typeface="Calibri" pitchFamily="34" charset="0"/>
                <a:ea typeface="Calibri" pitchFamily="34" charset="-122"/>
                <a:cs typeface="Calibri" pitchFamily="34" charset="-120"/>
              </a:rPr>
              <a:t>Integrasi Phygital + Pilot 2-3 New Business Models</a:t>
            </a:r>
            <a:endParaRPr lang="en-US" sz="1300" dirty="0"/>
          </a:p>
        </p:txBody>
      </p:sp>
      <p:sp>
        <p:nvSpPr>
          <p:cNvPr id="32" name="Text 30"/>
          <p:cNvSpPr/>
          <p:nvPr/>
        </p:nvSpPr>
        <p:spPr>
          <a:xfrm>
            <a:off x="1261872" y="4581144"/>
            <a:ext cx="7223760" cy="274320"/>
          </a:xfrm>
          <a:prstGeom prst="rect">
            <a:avLst/>
          </a:prstGeom>
          <a:noFill/>
          <a:ln/>
        </p:spPr>
        <p:txBody>
          <a:bodyPr wrap="square" rtlCol="0" anchor="ctr"/>
          <a:lstStyle/>
          <a:p>
            <a:pPr algn="l" indent="0" marL="0">
              <a:buNone/>
            </a:pPr>
            <a:r>
              <a:rPr lang="en-US" sz="1000" dirty="0">
                <a:solidFill>
                  <a:srgbClr val="3D4A6E"/>
                </a:solidFill>
                <a:latin typeface="Calibri" pitchFamily="34" charset="0"/>
                <a:ea typeface="Calibri" pitchFamily="34" charset="-122"/>
                <a:cs typeface="Calibri" pitchFamily="34" charset="-120"/>
              </a:rPr>
              <a:t>Store concept phygital (click-to-collect, QRIS, in-store digital tools) jadi standar. Pilot 2-3 business model baru (Venue/Events + Content Studio) dalam 6 bulan ke depan untuk validasi revenue potential.</a:t>
            </a:r>
            <a:endParaRPr lang="en-US" sz="1000" dirty="0"/>
          </a:p>
        </p:txBody>
      </p:sp>
      <p:sp>
        <p:nvSpPr>
          <p:cNvPr id="33" name="Shape 31"/>
          <p:cNvSpPr/>
          <p:nvPr/>
        </p:nvSpPr>
        <p:spPr>
          <a:xfrm>
            <a:off x="8503920" y="4279392"/>
            <a:ext cx="73152" cy="530352"/>
          </a:xfrm>
          <a:prstGeom prst="roundRect">
            <a:avLst>
              <a:gd name="adj" fmla="val 50000"/>
            </a:avLst>
          </a:prstGeom>
          <a:solidFill>
            <a:srgbClr val="00695C"/>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02920" y="228600"/>
            <a:ext cx="7315200" cy="502920"/>
          </a:xfrm>
          <a:prstGeom prst="rect">
            <a:avLst/>
          </a:prstGeom>
          <a:noFill/>
          <a:ln/>
        </p:spPr>
        <p:txBody>
          <a:bodyPr wrap="square"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Roadmap Implementasi</a:t>
            </a:r>
            <a:endParaRPr lang="en-US" sz="3000" dirty="0"/>
          </a:p>
        </p:txBody>
      </p:sp>
      <p:sp>
        <p:nvSpPr>
          <p:cNvPr id="3" name="Text 1"/>
          <p:cNvSpPr/>
          <p:nvPr/>
        </p:nvSpPr>
        <p:spPr>
          <a:xfrm>
            <a:off x="502920" y="731520"/>
            <a:ext cx="8229600" cy="274320"/>
          </a:xfrm>
          <a:prstGeom prst="rect">
            <a:avLst/>
          </a:prstGeom>
          <a:noFill/>
          <a:ln/>
        </p:spPr>
        <p:txBody>
          <a:bodyPr wrap="square" rtlCol="0" anchor="ctr"/>
          <a:lstStyle/>
          <a:p>
            <a:pPr algn="l" indent="0" marL="0">
              <a:buNone/>
            </a:pPr>
            <a:r>
              <a:rPr lang="en-US" sz="1300" dirty="0">
                <a:solidFill>
                  <a:srgbClr val="8891B4"/>
                </a:solidFill>
                <a:latin typeface="Calibri" pitchFamily="34" charset="0"/>
                <a:ea typeface="Calibri" pitchFamily="34" charset="-122"/>
                <a:cs typeface="Calibri" pitchFamily="34" charset="-120"/>
              </a:rPr>
              <a:t>3 fase terstruktur: dari riset &amp; validasi sampai scaling — berdasarkan global best practice</a:t>
            </a:r>
            <a:endParaRPr lang="en-US" sz="1300" dirty="0"/>
          </a:p>
        </p:txBody>
      </p:sp>
      <p:sp>
        <p:nvSpPr>
          <p:cNvPr id="4" name="Shape 2"/>
          <p:cNvSpPr/>
          <p:nvPr/>
        </p:nvSpPr>
        <p:spPr>
          <a:xfrm>
            <a:off x="658368" y="2167128"/>
            <a:ext cx="7845552" cy="54864"/>
          </a:xfrm>
          <a:prstGeom prst="rect">
            <a:avLst/>
          </a:prstGeom>
          <a:solidFill>
            <a:srgbClr val="2A3580"/>
          </a:solidFill>
          <a:ln/>
        </p:spPr>
      </p:sp>
      <p:sp>
        <p:nvSpPr>
          <p:cNvPr id="5" name="Text 3"/>
          <p:cNvSpPr/>
          <p:nvPr/>
        </p:nvSpPr>
        <p:spPr>
          <a:xfrm>
            <a:off x="594360" y="960120"/>
            <a:ext cx="2514600" cy="685800"/>
          </a:xfrm>
          <a:prstGeom prst="rect">
            <a:avLst/>
          </a:prstGeom>
          <a:noFill/>
          <a:ln/>
        </p:spPr>
        <p:txBody>
          <a:bodyPr wrap="square" rtlCol="0" anchor="ctr"/>
          <a:lstStyle/>
          <a:p>
            <a:pPr algn="ctr" indent="0" marL="0">
              <a:lnSpc>
                <a:spcPct val="110000"/>
              </a:lnSpc>
              <a:buNone/>
            </a:pPr>
            <a:r>
              <a:rPr lang="en-US" sz="1800" b="1" dirty="0">
                <a:solidFill>
                  <a:srgbClr val="FFFFFF"/>
                </a:solidFill>
                <a:latin typeface="Calibri" pitchFamily="34" charset="0"/>
                <a:ea typeface="Calibri" pitchFamily="34" charset="-122"/>
                <a:cs typeface="Calibri" pitchFamily="34" charset="-120"/>
              </a:rPr>
              <a:t>Riset &amp;</a:t>
            </a:r>
            <a:endParaRPr lang="en-US" sz="1800" dirty="0"/>
          </a:p>
          <a:p>
            <a:pPr algn="ctr" indent="0" marL="0">
              <a:lnSpc>
                <a:spcPct val="110000"/>
              </a:lnSpc>
              <a:buNone/>
            </a:pPr>
            <a:r>
              <a:rPr lang="en-US" sz="1800" b="1" dirty="0">
                <a:solidFill>
                  <a:srgbClr val="FFFFFF"/>
                </a:solidFill>
                <a:latin typeface="Calibri" pitchFamily="34" charset="0"/>
                <a:ea typeface="Calibri" pitchFamily="34" charset="-122"/>
                <a:cs typeface="Calibri" pitchFamily="34" charset="-120"/>
              </a:rPr>
              <a:t>Validasi</a:t>
            </a:r>
            <a:endParaRPr lang="en-US" sz="1800" dirty="0"/>
          </a:p>
        </p:txBody>
      </p:sp>
      <p:sp>
        <p:nvSpPr>
          <p:cNvPr id="6" name="Text 4"/>
          <p:cNvSpPr/>
          <p:nvPr/>
        </p:nvSpPr>
        <p:spPr>
          <a:xfrm>
            <a:off x="594360" y="1664208"/>
            <a:ext cx="2514600" cy="274320"/>
          </a:xfrm>
          <a:prstGeom prst="rect">
            <a:avLst/>
          </a:prstGeom>
          <a:noFill/>
          <a:ln/>
        </p:spPr>
        <p:txBody>
          <a:bodyPr wrap="square" rtlCol="0" anchor="ctr"/>
          <a:lstStyle/>
          <a:p>
            <a:pPr algn="ctr" indent="0" marL="0">
              <a:buNone/>
            </a:pPr>
            <a:r>
              <a:rPr lang="en-US" sz="1100" b="1" dirty="0">
                <a:solidFill>
                  <a:srgbClr val="1F7A8C"/>
                </a:solidFill>
                <a:latin typeface="Calibri" pitchFamily="34" charset="0"/>
                <a:ea typeface="Calibri" pitchFamily="34" charset="-122"/>
                <a:cs typeface="Calibri" pitchFamily="34" charset="-120"/>
              </a:rPr>
              <a:t>0 – 6 Bulan</a:t>
            </a:r>
            <a:endParaRPr lang="en-US" sz="1100" dirty="0"/>
          </a:p>
        </p:txBody>
      </p:sp>
      <p:sp>
        <p:nvSpPr>
          <p:cNvPr id="7" name="Shape 5"/>
          <p:cNvSpPr/>
          <p:nvPr/>
        </p:nvSpPr>
        <p:spPr>
          <a:xfrm>
            <a:off x="1595628" y="1956816"/>
            <a:ext cx="502920" cy="502920"/>
          </a:xfrm>
          <a:prstGeom prst="ellipse">
            <a:avLst/>
          </a:prstGeom>
          <a:solidFill>
            <a:srgbClr val="1F7A8C"/>
          </a:solidFill>
          <a:ln w="12700">
            <a:solidFill>
              <a:srgbClr val="1E2761"/>
            </a:solidFill>
            <a:prstDash val="solid"/>
          </a:ln>
        </p:spPr>
      </p:sp>
      <p:sp>
        <p:nvSpPr>
          <p:cNvPr id="8" name="Text 6"/>
          <p:cNvSpPr/>
          <p:nvPr/>
        </p:nvSpPr>
        <p:spPr>
          <a:xfrm>
            <a:off x="1595628" y="1956816"/>
            <a:ext cx="502920" cy="502920"/>
          </a:xfrm>
          <a:prstGeom prst="rect">
            <a:avLst/>
          </a:prstGeom>
          <a:noFill/>
          <a:ln/>
        </p:spPr>
        <p:txBody>
          <a:bodyPr wrap="square" lIns="0" tIns="0" rIns="0" bIns="0" rtlCol="0" anchor="ctr"/>
          <a:lstStyle/>
          <a:p>
            <a:pPr algn="ctr" indent="0" marL="0">
              <a:buNone/>
            </a:pPr>
            <a:r>
              <a:rPr lang="en-US" sz="1700" b="1" dirty="0">
                <a:solidFill>
                  <a:srgbClr val="141E52"/>
                </a:solidFill>
                <a:latin typeface="Calibri" pitchFamily="34" charset="0"/>
                <a:ea typeface="Calibri" pitchFamily="34" charset="-122"/>
                <a:cs typeface="Calibri" pitchFamily="34" charset="-120"/>
              </a:rPr>
              <a:t>1</a:t>
            </a:r>
            <a:endParaRPr lang="en-US" sz="1700" dirty="0"/>
          </a:p>
        </p:txBody>
      </p:sp>
      <p:sp>
        <p:nvSpPr>
          <p:cNvPr id="9" name="Shape 7"/>
          <p:cNvSpPr/>
          <p:nvPr/>
        </p:nvSpPr>
        <p:spPr>
          <a:xfrm>
            <a:off x="594360" y="2606040"/>
            <a:ext cx="2514600" cy="2286000"/>
          </a:xfrm>
          <a:prstGeom prst="roundRect">
            <a:avLst>
              <a:gd name="adj" fmla="val 4000"/>
            </a:avLst>
          </a:prstGeom>
          <a:solidFill>
            <a:srgbClr val="2A3580"/>
          </a:solidFill>
          <a:ln w="12700">
            <a:solidFill>
              <a:srgbClr val="1F7A8C"/>
            </a:solidFill>
            <a:prstDash val="solid"/>
          </a:ln>
        </p:spPr>
      </p:sp>
      <p:sp>
        <p:nvSpPr>
          <p:cNvPr id="10" name="Shape 8"/>
          <p:cNvSpPr/>
          <p:nvPr/>
        </p:nvSpPr>
        <p:spPr>
          <a:xfrm>
            <a:off x="758952" y="2889504"/>
            <a:ext cx="82296" cy="82296"/>
          </a:xfrm>
          <a:prstGeom prst="ellipse">
            <a:avLst/>
          </a:prstGeom>
          <a:solidFill>
            <a:srgbClr val="1F7A8C"/>
          </a:solidFill>
          <a:ln/>
        </p:spPr>
      </p:sp>
      <p:sp>
        <p:nvSpPr>
          <p:cNvPr id="11" name="Text 9"/>
          <p:cNvSpPr/>
          <p:nvPr/>
        </p:nvSpPr>
        <p:spPr>
          <a:xfrm>
            <a:off x="886968" y="2761488"/>
            <a:ext cx="2103120" cy="438912"/>
          </a:xfrm>
          <a:prstGeom prst="rect">
            <a:avLst/>
          </a:prstGeom>
          <a:noFill/>
          <a:ln/>
        </p:spPr>
        <p:txBody>
          <a:bodyPr wrap="square" rtlCol="0" anchor="ctr"/>
          <a:lstStyle/>
          <a:p>
            <a:pPr algn="l" indent="0" marL="0">
              <a:lnSpc>
                <a:spcPct val="110000"/>
              </a:lnSpc>
              <a:buNone/>
            </a:pPr>
            <a:r>
              <a:rPr lang="en-US" sz="1100" dirty="0">
                <a:solidFill>
                  <a:srgbClr val="8891B4"/>
                </a:solidFill>
                <a:latin typeface="Calibri" pitchFamily="34" charset="0"/>
                <a:ea typeface="Calibri" pitchFamily="34" charset="-122"/>
                <a:cs typeface="Calibri" pitchFamily="34" charset="-120"/>
              </a:rPr>
              <a:t>Pemetaan Aspirant Class + audit kapabilitas tim</a:t>
            </a:r>
            <a:endParaRPr lang="en-US" sz="1100" dirty="0"/>
          </a:p>
        </p:txBody>
      </p:sp>
      <p:sp>
        <p:nvSpPr>
          <p:cNvPr id="12" name="Shape 10"/>
          <p:cNvSpPr/>
          <p:nvPr/>
        </p:nvSpPr>
        <p:spPr>
          <a:xfrm>
            <a:off x="758952" y="3392424"/>
            <a:ext cx="82296" cy="82296"/>
          </a:xfrm>
          <a:prstGeom prst="ellipse">
            <a:avLst/>
          </a:prstGeom>
          <a:solidFill>
            <a:srgbClr val="1F7A8C"/>
          </a:solidFill>
          <a:ln/>
        </p:spPr>
      </p:sp>
      <p:sp>
        <p:nvSpPr>
          <p:cNvPr id="13" name="Text 11"/>
          <p:cNvSpPr/>
          <p:nvPr/>
        </p:nvSpPr>
        <p:spPr>
          <a:xfrm>
            <a:off x="886968" y="3264408"/>
            <a:ext cx="2103120" cy="438912"/>
          </a:xfrm>
          <a:prstGeom prst="rect">
            <a:avLst/>
          </a:prstGeom>
          <a:noFill/>
          <a:ln/>
        </p:spPr>
        <p:txBody>
          <a:bodyPr wrap="square" rtlCol="0" anchor="ctr"/>
          <a:lstStyle/>
          <a:p>
            <a:pPr algn="l" indent="0" marL="0">
              <a:lnSpc>
                <a:spcPct val="110000"/>
              </a:lnSpc>
              <a:buNone/>
            </a:pPr>
            <a:r>
              <a:rPr lang="en-US" sz="1100" dirty="0">
                <a:solidFill>
                  <a:srgbClr val="8891B4"/>
                </a:solidFill>
                <a:latin typeface="Calibri" pitchFamily="34" charset="0"/>
                <a:ea typeface="Calibri" pitchFamily="34" charset="-122"/>
                <a:cs typeface="Calibri" pitchFamily="34" charset="-120"/>
              </a:rPr>
              <a:t>Tetapkan "specialist category pillar" utama 1-2</a:t>
            </a:r>
            <a:endParaRPr lang="en-US" sz="1100" dirty="0"/>
          </a:p>
        </p:txBody>
      </p:sp>
      <p:sp>
        <p:nvSpPr>
          <p:cNvPr id="14" name="Shape 12"/>
          <p:cNvSpPr/>
          <p:nvPr/>
        </p:nvSpPr>
        <p:spPr>
          <a:xfrm>
            <a:off x="758952" y="3895344"/>
            <a:ext cx="82296" cy="82296"/>
          </a:xfrm>
          <a:prstGeom prst="ellipse">
            <a:avLst/>
          </a:prstGeom>
          <a:solidFill>
            <a:srgbClr val="1F7A8C"/>
          </a:solidFill>
          <a:ln/>
        </p:spPr>
      </p:sp>
      <p:sp>
        <p:nvSpPr>
          <p:cNvPr id="15" name="Text 13"/>
          <p:cNvSpPr/>
          <p:nvPr/>
        </p:nvSpPr>
        <p:spPr>
          <a:xfrm>
            <a:off x="886968" y="3767328"/>
            <a:ext cx="2103120" cy="438912"/>
          </a:xfrm>
          <a:prstGeom prst="rect">
            <a:avLst/>
          </a:prstGeom>
          <a:noFill/>
          <a:ln/>
        </p:spPr>
        <p:txBody>
          <a:bodyPr wrap="square" rtlCol="0" anchor="ctr"/>
          <a:lstStyle/>
          <a:p>
            <a:pPr algn="l" indent="0" marL="0">
              <a:lnSpc>
                <a:spcPct val="110000"/>
              </a:lnSpc>
              <a:buNone/>
            </a:pPr>
            <a:r>
              <a:rPr lang="en-US" sz="1100" dirty="0">
                <a:solidFill>
                  <a:srgbClr val="8891B4"/>
                </a:solidFill>
                <a:latin typeface="Calibri" pitchFamily="34" charset="0"/>
                <a:ea typeface="Calibri" pitchFamily="34" charset="-122"/>
                <a:cs typeface="Calibri" pitchFamily="34" charset="-120"/>
              </a:rPr>
              <a:t>Benchmark AZKO, Mitra10, dan global stores</a:t>
            </a:r>
            <a:endParaRPr lang="en-US" sz="1100" dirty="0"/>
          </a:p>
        </p:txBody>
      </p:sp>
      <p:sp>
        <p:nvSpPr>
          <p:cNvPr id="16" name="Shape 14"/>
          <p:cNvSpPr/>
          <p:nvPr/>
        </p:nvSpPr>
        <p:spPr>
          <a:xfrm>
            <a:off x="758952" y="4398264"/>
            <a:ext cx="82296" cy="82296"/>
          </a:xfrm>
          <a:prstGeom prst="ellipse">
            <a:avLst/>
          </a:prstGeom>
          <a:solidFill>
            <a:srgbClr val="1F7A8C"/>
          </a:solidFill>
          <a:ln/>
        </p:spPr>
      </p:sp>
      <p:sp>
        <p:nvSpPr>
          <p:cNvPr id="17" name="Text 15"/>
          <p:cNvSpPr/>
          <p:nvPr/>
        </p:nvSpPr>
        <p:spPr>
          <a:xfrm>
            <a:off x="886968" y="4270248"/>
            <a:ext cx="2103120" cy="438912"/>
          </a:xfrm>
          <a:prstGeom prst="rect">
            <a:avLst/>
          </a:prstGeom>
          <a:noFill/>
          <a:ln/>
        </p:spPr>
        <p:txBody>
          <a:bodyPr wrap="square" rtlCol="0" anchor="ctr"/>
          <a:lstStyle/>
          <a:p>
            <a:pPr algn="l" indent="0" marL="0">
              <a:lnSpc>
                <a:spcPct val="110000"/>
              </a:lnSpc>
              <a:buNone/>
            </a:pPr>
            <a:r>
              <a:rPr lang="en-US" sz="1100" dirty="0">
                <a:solidFill>
                  <a:srgbClr val="8891B4"/>
                </a:solidFill>
                <a:latin typeface="Calibri" pitchFamily="34" charset="0"/>
                <a:ea typeface="Calibri" pitchFamily="34" charset="-122"/>
                <a:cs typeface="Calibri" pitchFamily="34" charset="-120"/>
              </a:rPr>
              <a:t>Pilot Venue/Events &amp; Content Studio model</a:t>
            </a:r>
            <a:endParaRPr lang="en-US" sz="1100" dirty="0"/>
          </a:p>
        </p:txBody>
      </p:sp>
      <p:sp>
        <p:nvSpPr>
          <p:cNvPr id="18" name="Text 16"/>
          <p:cNvSpPr/>
          <p:nvPr/>
        </p:nvSpPr>
        <p:spPr>
          <a:xfrm>
            <a:off x="3493008" y="960120"/>
            <a:ext cx="2514600" cy="685800"/>
          </a:xfrm>
          <a:prstGeom prst="rect">
            <a:avLst/>
          </a:prstGeom>
          <a:noFill/>
          <a:ln/>
        </p:spPr>
        <p:txBody>
          <a:bodyPr wrap="square" rtlCol="0" anchor="ctr"/>
          <a:lstStyle/>
          <a:p>
            <a:pPr algn="ctr" indent="0" marL="0">
              <a:lnSpc>
                <a:spcPct val="110000"/>
              </a:lnSpc>
              <a:buNone/>
            </a:pPr>
            <a:r>
              <a:rPr lang="en-US" sz="1800" b="1" dirty="0">
                <a:solidFill>
                  <a:srgbClr val="FFFFFF"/>
                </a:solidFill>
                <a:latin typeface="Calibri" pitchFamily="34" charset="0"/>
                <a:ea typeface="Calibri" pitchFamily="34" charset="-122"/>
                <a:cs typeface="Calibri" pitchFamily="34" charset="-120"/>
              </a:rPr>
              <a:t>Pilot &amp;</a:t>
            </a:r>
            <a:endParaRPr lang="en-US" sz="1800" dirty="0"/>
          </a:p>
          <a:p>
            <a:pPr algn="ctr" indent="0" marL="0">
              <a:lnSpc>
                <a:spcPct val="110000"/>
              </a:lnSpc>
              <a:buNone/>
            </a:pPr>
            <a:r>
              <a:rPr lang="en-US" sz="1800" b="1" dirty="0">
                <a:solidFill>
                  <a:srgbClr val="FFFFFF"/>
                </a:solidFill>
                <a:latin typeface="Calibri" pitchFamily="34" charset="0"/>
                <a:ea typeface="Calibri" pitchFamily="34" charset="-122"/>
                <a:cs typeface="Calibri" pitchFamily="34" charset="-120"/>
              </a:rPr>
              <a:t>Optimasi</a:t>
            </a:r>
            <a:endParaRPr lang="en-US" sz="1800" dirty="0"/>
          </a:p>
        </p:txBody>
      </p:sp>
      <p:sp>
        <p:nvSpPr>
          <p:cNvPr id="19" name="Text 17"/>
          <p:cNvSpPr/>
          <p:nvPr/>
        </p:nvSpPr>
        <p:spPr>
          <a:xfrm>
            <a:off x="3493008" y="1664208"/>
            <a:ext cx="2514600" cy="274320"/>
          </a:xfrm>
          <a:prstGeom prst="rect">
            <a:avLst/>
          </a:prstGeom>
          <a:noFill/>
          <a:ln/>
        </p:spPr>
        <p:txBody>
          <a:bodyPr wrap="square" rtlCol="0" anchor="ctr"/>
          <a:lstStyle/>
          <a:p>
            <a:pPr algn="ctr" indent="0" marL="0">
              <a:buNone/>
            </a:pPr>
            <a:r>
              <a:rPr lang="en-US" sz="1100" b="1" dirty="0">
                <a:solidFill>
                  <a:srgbClr val="E8A020"/>
                </a:solidFill>
                <a:latin typeface="Calibri" pitchFamily="34" charset="0"/>
                <a:ea typeface="Calibri" pitchFamily="34" charset="-122"/>
                <a:cs typeface="Calibri" pitchFamily="34" charset="-120"/>
              </a:rPr>
              <a:t>6 – 18 Bulan</a:t>
            </a:r>
            <a:endParaRPr lang="en-US" sz="1100" dirty="0"/>
          </a:p>
        </p:txBody>
      </p:sp>
      <p:sp>
        <p:nvSpPr>
          <p:cNvPr id="20" name="Shape 18"/>
          <p:cNvSpPr/>
          <p:nvPr/>
        </p:nvSpPr>
        <p:spPr>
          <a:xfrm>
            <a:off x="4494276" y="1956816"/>
            <a:ext cx="502920" cy="502920"/>
          </a:xfrm>
          <a:prstGeom prst="ellipse">
            <a:avLst/>
          </a:prstGeom>
          <a:solidFill>
            <a:srgbClr val="E8A020"/>
          </a:solidFill>
          <a:ln w="12700">
            <a:solidFill>
              <a:srgbClr val="1E2761"/>
            </a:solidFill>
            <a:prstDash val="solid"/>
          </a:ln>
        </p:spPr>
      </p:sp>
      <p:sp>
        <p:nvSpPr>
          <p:cNvPr id="21" name="Text 19"/>
          <p:cNvSpPr/>
          <p:nvPr/>
        </p:nvSpPr>
        <p:spPr>
          <a:xfrm>
            <a:off x="4494276" y="1956816"/>
            <a:ext cx="502920" cy="502920"/>
          </a:xfrm>
          <a:prstGeom prst="rect">
            <a:avLst/>
          </a:prstGeom>
          <a:noFill/>
          <a:ln/>
        </p:spPr>
        <p:txBody>
          <a:bodyPr wrap="square" lIns="0" tIns="0" rIns="0" bIns="0" rtlCol="0" anchor="ctr"/>
          <a:lstStyle/>
          <a:p>
            <a:pPr algn="ctr" indent="0" marL="0">
              <a:buNone/>
            </a:pPr>
            <a:r>
              <a:rPr lang="en-US" sz="1700" b="1" dirty="0">
                <a:solidFill>
                  <a:srgbClr val="141E52"/>
                </a:solidFill>
                <a:latin typeface="Calibri" pitchFamily="34" charset="0"/>
                <a:ea typeface="Calibri" pitchFamily="34" charset="-122"/>
                <a:cs typeface="Calibri" pitchFamily="34" charset="-120"/>
              </a:rPr>
              <a:t>2</a:t>
            </a:r>
            <a:endParaRPr lang="en-US" sz="1700" dirty="0"/>
          </a:p>
        </p:txBody>
      </p:sp>
      <p:sp>
        <p:nvSpPr>
          <p:cNvPr id="22" name="Shape 20"/>
          <p:cNvSpPr/>
          <p:nvPr/>
        </p:nvSpPr>
        <p:spPr>
          <a:xfrm>
            <a:off x="3493008" y="2606040"/>
            <a:ext cx="2514600" cy="2286000"/>
          </a:xfrm>
          <a:prstGeom prst="roundRect">
            <a:avLst>
              <a:gd name="adj" fmla="val 4000"/>
            </a:avLst>
          </a:prstGeom>
          <a:solidFill>
            <a:srgbClr val="2A3580"/>
          </a:solidFill>
          <a:ln w="12700">
            <a:solidFill>
              <a:srgbClr val="E8A020"/>
            </a:solidFill>
            <a:prstDash val="solid"/>
          </a:ln>
        </p:spPr>
      </p:sp>
      <p:sp>
        <p:nvSpPr>
          <p:cNvPr id="23" name="Shape 21"/>
          <p:cNvSpPr/>
          <p:nvPr/>
        </p:nvSpPr>
        <p:spPr>
          <a:xfrm>
            <a:off x="3657600" y="2889504"/>
            <a:ext cx="82296" cy="82296"/>
          </a:xfrm>
          <a:prstGeom prst="ellipse">
            <a:avLst/>
          </a:prstGeom>
          <a:solidFill>
            <a:srgbClr val="E8A020"/>
          </a:solidFill>
          <a:ln/>
        </p:spPr>
      </p:sp>
      <p:sp>
        <p:nvSpPr>
          <p:cNvPr id="24" name="Text 22"/>
          <p:cNvSpPr/>
          <p:nvPr/>
        </p:nvSpPr>
        <p:spPr>
          <a:xfrm>
            <a:off x="3785616" y="2761488"/>
            <a:ext cx="2103120" cy="438912"/>
          </a:xfrm>
          <a:prstGeom prst="rect">
            <a:avLst/>
          </a:prstGeom>
          <a:noFill/>
          <a:ln/>
        </p:spPr>
        <p:txBody>
          <a:bodyPr wrap="square" rtlCol="0" anchor="ctr"/>
          <a:lstStyle/>
          <a:p>
            <a:pPr algn="l" indent="0" marL="0">
              <a:lnSpc>
                <a:spcPct val="110000"/>
              </a:lnSpc>
              <a:buNone/>
            </a:pPr>
            <a:r>
              <a:rPr lang="en-US" sz="1100" dirty="0">
                <a:solidFill>
                  <a:srgbClr val="8891B4"/>
                </a:solidFill>
                <a:latin typeface="Calibri" pitchFamily="34" charset="0"/>
                <a:ea typeface="Calibri" pitchFamily="34" charset="-122"/>
                <a:cs typeface="Calibri" pitchFamily="34" charset="-120"/>
              </a:rPr>
              <a:t>Launch 2-3 pilot specialist experiential store</a:t>
            </a:r>
            <a:endParaRPr lang="en-US" sz="1100" dirty="0"/>
          </a:p>
        </p:txBody>
      </p:sp>
      <p:sp>
        <p:nvSpPr>
          <p:cNvPr id="25" name="Shape 23"/>
          <p:cNvSpPr/>
          <p:nvPr/>
        </p:nvSpPr>
        <p:spPr>
          <a:xfrm>
            <a:off x="3657600" y="3392424"/>
            <a:ext cx="82296" cy="82296"/>
          </a:xfrm>
          <a:prstGeom prst="ellipse">
            <a:avLst/>
          </a:prstGeom>
          <a:solidFill>
            <a:srgbClr val="E8A020"/>
          </a:solidFill>
          <a:ln/>
        </p:spPr>
      </p:sp>
      <p:sp>
        <p:nvSpPr>
          <p:cNvPr id="26" name="Text 24"/>
          <p:cNvSpPr/>
          <p:nvPr/>
        </p:nvSpPr>
        <p:spPr>
          <a:xfrm>
            <a:off x="3785616" y="3264408"/>
            <a:ext cx="2103120" cy="438912"/>
          </a:xfrm>
          <a:prstGeom prst="rect">
            <a:avLst/>
          </a:prstGeom>
          <a:noFill/>
          <a:ln/>
        </p:spPr>
        <p:txBody>
          <a:bodyPr wrap="square" rtlCol="0" anchor="ctr"/>
          <a:lstStyle/>
          <a:p>
            <a:pPr algn="l" indent="0" marL="0">
              <a:lnSpc>
                <a:spcPct val="110000"/>
              </a:lnSpc>
              <a:buNone/>
            </a:pPr>
            <a:r>
              <a:rPr lang="en-US" sz="1100" dirty="0">
                <a:solidFill>
                  <a:srgbClr val="8891B4"/>
                </a:solidFill>
                <a:latin typeface="Calibri" pitchFamily="34" charset="0"/>
                <a:ea typeface="Calibri" pitchFamily="34" charset="-122"/>
                <a:cs typeface="Calibri" pitchFamily="34" charset="-120"/>
              </a:rPr>
              <a:t>T-shaped training program batch pertama</a:t>
            </a:r>
            <a:endParaRPr lang="en-US" sz="1100" dirty="0"/>
          </a:p>
        </p:txBody>
      </p:sp>
      <p:sp>
        <p:nvSpPr>
          <p:cNvPr id="27" name="Shape 25"/>
          <p:cNvSpPr/>
          <p:nvPr/>
        </p:nvSpPr>
        <p:spPr>
          <a:xfrm>
            <a:off x="3657600" y="3895344"/>
            <a:ext cx="82296" cy="82296"/>
          </a:xfrm>
          <a:prstGeom prst="ellipse">
            <a:avLst/>
          </a:prstGeom>
          <a:solidFill>
            <a:srgbClr val="E8A020"/>
          </a:solidFill>
          <a:ln/>
        </p:spPr>
      </p:sp>
      <p:sp>
        <p:nvSpPr>
          <p:cNvPr id="28" name="Text 26"/>
          <p:cNvSpPr/>
          <p:nvPr/>
        </p:nvSpPr>
        <p:spPr>
          <a:xfrm>
            <a:off x="3785616" y="3767328"/>
            <a:ext cx="2103120" cy="438912"/>
          </a:xfrm>
          <a:prstGeom prst="rect">
            <a:avLst/>
          </a:prstGeom>
          <a:noFill/>
          <a:ln/>
        </p:spPr>
        <p:txBody>
          <a:bodyPr wrap="square" rtlCol="0" anchor="ctr"/>
          <a:lstStyle/>
          <a:p>
            <a:pPr algn="l" indent="0" marL="0">
              <a:lnSpc>
                <a:spcPct val="110000"/>
              </a:lnSpc>
              <a:buNone/>
            </a:pPr>
            <a:r>
              <a:rPr lang="en-US" sz="1100" dirty="0">
                <a:solidFill>
                  <a:srgbClr val="8891B4"/>
                </a:solidFill>
                <a:latin typeface="Calibri" pitchFamily="34" charset="0"/>
                <a:ea typeface="Calibri" pitchFamily="34" charset="-122"/>
                <a:cs typeface="Calibri" pitchFamily="34" charset="-120"/>
              </a:rPr>
              <a:t>Test phygital MVP: click-to-collect + QRIS</a:t>
            </a:r>
            <a:endParaRPr lang="en-US" sz="1100" dirty="0"/>
          </a:p>
        </p:txBody>
      </p:sp>
      <p:sp>
        <p:nvSpPr>
          <p:cNvPr id="29" name="Shape 27"/>
          <p:cNvSpPr/>
          <p:nvPr/>
        </p:nvSpPr>
        <p:spPr>
          <a:xfrm>
            <a:off x="3657600" y="4398264"/>
            <a:ext cx="82296" cy="82296"/>
          </a:xfrm>
          <a:prstGeom prst="ellipse">
            <a:avLst/>
          </a:prstGeom>
          <a:solidFill>
            <a:srgbClr val="E8A020"/>
          </a:solidFill>
          <a:ln/>
        </p:spPr>
      </p:sp>
      <p:sp>
        <p:nvSpPr>
          <p:cNvPr id="30" name="Text 28"/>
          <p:cNvSpPr/>
          <p:nvPr/>
        </p:nvSpPr>
        <p:spPr>
          <a:xfrm>
            <a:off x="3785616" y="4270248"/>
            <a:ext cx="2103120" cy="438912"/>
          </a:xfrm>
          <a:prstGeom prst="rect">
            <a:avLst/>
          </a:prstGeom>
          <a:noFill/>
          <a:ln/>
        </p:spPr>
        <p:txBody>
          <a:bodyPr wrap="square" rtlCol="0" anchor="ctr"/>
          <a:lstStyle/>
          <a:p>
            <a:pPr algn="l" indent="0" marL="0">
              <a:lnSpc>
                <a:spcPct val="110000"/>
              </a:lnSpc>
              <a:buNone/>
            </a:pPr>
            <a:r>
              <a:rPr lang="en-US" sz="1100" dirty="0">
                <a:solidFill>
                  <a:srgbClr val="8891B4"/>
                </a:solidFill>
                <a:latin typeface="Calibri" pitchFamily="34" charset="0"/>
                <a:ea typeface="Calibri" pitchFamily="34" charset="-122"/>
                <a:cs typeface="Calibri" pitchFamily="34" charset="-120"/>
              </a:rPr>
              <a:t>Ukur revenue dari business model baru, iterate</a:t>
            </a:r>
            <a:endParaRPr lang="en-US" sz="1100" dirty="0"/>
          </a:p>
        </p:txBody>
      </p:sp>
      <p:sp>
        <p:nvSpPr>
          <p:cNvPr id="31" name="Text 29"/>
          <p:cNvSpPr/>
          <p:nvPr/>
        </p:nvSpPr>
        <p:spPr>
          <a:xfrm>
            <a:off x="6391656" y="960120"/>
            <a:ext cx="2514600" cy="685800"/>
          </a:xfrm>
          <a:prstGeom prst="rect">
            <a:avLst/>
          </a:prstGeom>
          <a:noFill/>
          <a:ln/>
        </p:spPr>
        <p:txBody>
          <a:bodyPr wrap="square" rtlCol="0" anchor="ctr"/>
          <a:lstStyle/>
          <a:p>
            <a:pPr algn="ctr" indent="0" marL="0">
              <a:lnSpc>
                <a:spcPct val="110000"/>
              </a:lnSpc>
              <a:buNone/>
            </a:pPr>
            <a:r>
              <a:rPr lang="en-US" sz="1800" b="1" dirty="0">
                <a:solidFill>
                  <a:srgbClr val="FFFFFF"/>
                </a:solidFill>
                <a:latin typeface="Calibri" pitchFamily="34" charset="0"/>
                <a:ea typeface="Calibri" pitchFamily="34" charset="-122"/>
                <a:cs typeface="Calibri" pitchFamily="34" charset="-120"/>
              </a:rPr>
              <a:t>Scale &amp;</a:t>
            </a:r>
            <a:endParaRPr lang="en-US" sz="1800" dirty="0"/>
          </a:p>
          <a:p>
            <a:pPr algn="ctr" indent="0" marL="0">
              <a:lnSpc>
                <a:spcPct val="110000"/>
              </a:lnSpc>
              <a:buNone/>
            </a:pPr>
            <a:r>
              <a:rPr lang="en-US" sz="1800" b="1" dirty="0">
                <a:solidFill>
                  <a:srgbClr val="FFFFFF"/>
                </a:solidFill>
                <a:latin typeface="Calibri" pitchFamily="34" charset="0"/>
                <a:ea typeface="Calibri" pitchFamily="34" charset="-122"/>
                <a:cs typeface="Calibri" pitchFamily="34" charset="-120"/>
              </a:rPr>
              <a:t>Expand</a:t>
            </a:r>
            <a:endParaRPr lang="en-US" sz="1800" dirty="0"/>
          </a:p>
        </p:txBody>
      </p:sp>
      <p:sp>
        <p:nvSpPr>
          <p:cNvPr id="32" name="Text 30"/>
          <p:cNvSpPr/>
          <p:nvPr/>
        </p:nvSpPr>
        <p:spPr>
          <a:xfrm>
            <a:off x="6391656" y="1664208"/>
            <a:ext cx="2514600" cy="274320"/>
          </a:xfrm>
          <a:prstGeom prst="rect">
            <a:avLst/>
          </a:prstGeom>
          <a:noFill/>
          <a:ln/>
        </p:spPr>
        <p:txBody>
          <a:bodyPr wrap="square" rtlCol="0" anchor="ctr"/>
          <a:lstStyle/>
          <a:p>
            <a:pPr algn="ctr" indent="0" marL="0">
              <a:buNone/>
            </a:pPr>
            <a:r>
              <a:rPr lang="en-US" sz="1100" b="1" dirty="0">
                <a:solidFill>
                  <a:srgbClr val="2E7D32"/>
                </a:solidFill>
                <a:latin typeface="Calibri" pitchFamily="34" charset="0"/>
                <a:ea typeface="Calibri" pitchFamily="34" charset="-122"/>
                <a:cs typeface="Calibri" pitchFamily="34" charset="-120"/>
              </a:rPr>
              <a:t>18 – 36 Bulan</a:t>
            </a:r>
            <a:endParaRPr lang="en-US" sz="1100" dirty="0"/>
          </a:p>
        </p:txBody>
      </p:sp>
      <p:sp>
        <p:nvSpPr>
          <p:cNvPr id="33" name="Shape 31"/>
          <p:cNvSpPr/>
          <p:nvPr/>
        </p:nvSpPr>
        <p:spPr>
          <a:xfrm>
            <a:off x="7392924" y="1956816"/>
            <a:ext cx="502920" cy="502920"/>
          </a:xfrm>
          <a:prstGeom prst="ellipse">
            <a:avLst/>
          </a:prstGeom>
          <a:solidFill>
            <a:srgbClr val="2E7D32"/>
          </a:solidFill>
          <a:ln w="12700">
            <a:solidFill>
              <a:srgbClr val="1E2761"/>
            </a:solidFill>
            <a:prstDash val="solid"/>
          </a:ln>
        </p:spPr>
      </p:sp>
      <p:sp>
        <p:nvSpPr>
          <p:cNvPr id="34" name="Text 32"/>
          <p:cNvSpPr/>
          <p:nvPr/>
        </p:nvSpPr>
        <p:spPr>
          <a:xfrm>
            <a:off x="7392924" y="1956816"/>
            <a:ext cx="502920" cy="502920"/>
          </a:xfrm>
          <a:prstGeom prst="rect">
            <a:avLst/>
          </a:prstGeom>
          <a:noFill/>
          <a:ln/>
        </p:spPr>
        <p:txBody>
          <a:bodyPr wrap="square" lIns="0" tIns="0" rIns="0" bIns="0" rtlCol="0" anchor="ctr"/>
          <a:lstStyle/>
          <a:p>
            <a:pPr algn="ctr" indent="0" marL="0">
              <a:buNone/>
            </a:pPr>
            <a:r>
              <a:rPr lang="en-US" sz="1700" b="1" dirty="0">
                <a:solidFill>
                  <a:srgbClr val="141E52"/>
                </a:solidFill>
                <a:latin typeface="Calibri" pitchFamily="34" charset="0"/>
                <a:ea typeface="Calibri" pitchFamily="34" charset="-122"/>
                <a:cs typeface="Calibri" pitchFamily="34" charset="-120"/>
              </a:rPr>
              <a:t>3</a:t>
            </a:r>
            <a:endParaRPr lang="en-US" sz="1700" dirty="0"/>
          </a:p>
        </p:txBody>
      </p:sp>
      <p:sp>
        <p:nvSpPr>
          <p:cNvPr id="35" name="Shape 33"/>
          <p:cNvSpPr/>
          <p:nvPr/>
        </p:nvSpPr>
        <p:spPr>
          <a:xfrm>
            <a:off x="6391656" y="2606040"/>
            <a:ext cx="2514600" cy="2286000"/>
          </a:xfrm>
          <a:prstGeom prst="roundRect">
            <a:avLst>
              <a:gd name="adj" fmla="val 4000"/>
            </a:avLst>
          </a:prstGeom>
          <a:solidFill>
            <a:srgbClr val="2A3580"/>
          </a:solidFill>
          <a:ln w="12700">
            <a:solidFill>
              <a:srgbClr val="2E7D32"/>
            </a:solidFill>
            <a:prstDash val="solid"/>
          </a:ln>
        </p:spPr>
      </p:sp>
      <p:sp>
        <p:nvSpPr>
          <p:cNvPr id="36" name="Shape 34"/>
          <p:cNvSpPr/>
          <p:nvPr/>
        </p:nvSpPr>
        <p:spPr>
          <a:xfrm>
            <a:off x="6556248" y="2889504"/>
            <a:ext cx="82296" cy="82296"/>
          </a:xfrm>
          <a:prstGeom prst="ellipse">
            <a:avLst/>
          </a:prstGeom>
          <a:solidFill>
            <a:srgbClr val="2E7D32"/>
          </a:solidFill>
          <a:ln/>
        </p:spPr>
      </p:sp>
      <p:sp>
        <p:nvSpPr>
          <p:cNvPr id="37" name="Text 35"/>
          <p:cNvSpPr/>
          <p:nvPr/>
        </p:nvSpPr>
        <p:spPr>
          <a:xfrm>
            <a:off x="6684264" y="2761488"/>
            <a:ext cx="2103120" cy="438912"/>
          </a:xfrm>
          <a:prstGeom prst="rect">
            <a:avLst/>
          </a:prstGeom>
          <a:noFill/>
          <a:ln/>
        </p:spPr>
        <p:txBody>
          <a:bodyPr wrap="square" rtlCol="0" anchor="ctr"/>
          <a:lstStyle/>
          <a:p>
            <a:pPr algn="l" indent="0" marL="0">
              <a:lnSpc>
                <a:spcPct val="110000"/>
              </a:lnSpc>
              <a:buNone/>
            </a:pPr>
            <a:r>
              <a:rPr lang="en-US" sz="1100" dirty="0">
                <a:solidFill>
                  <a:srgbClr val="8891B4"/>
                </a:solidFill>
                <a:latin typeface="Calibri" pitchFamily="34" charset="0"/>
                <a:ea typeface="Calibri" pitchFamily="34" charset="-122"/>
                <a:cs typeface="Calibri" pitchFamily="34" charset="-120"/>
              </a:rPr>
              <a:t>Scale ke seluruh jaringan, replikasi ke Tier 2 cities</a:t>
            </a:r>
            <a:endParaRPr lang="en-US" sz="1100" dirty="0"/>
          </a:p>
        </p:txBody>
      </p:sp>
      <p:sp>
        <p:nvSpPr>
          <p:cNvPr id="38" name="Shape 36"/>
          <p:cNvSpPr/>
          <p:nvPr/>
        </p:nvSpPr>
        <p:spPr>
          <a:xfrm>
            <a:off x="6556248" y="3392424"/>
            <a:ext cx="82296" cy="82296"/>
          </a:xfrm>
          <a:prstGeom prst="ellipse">
            <a:avLst/>
          </a:prstGeom>
          <a:solidFill>
            <a:srgbClr val="2E7D32"/>
          </a:solidFill>
          <a:ln/>
        </p:spPr>
      </p:sp>
      <p:sp>
        <p:nvSpPr>
          <p:cNvPr id="39" name="Text 37"/>
          <p:cNvSpPr/>
          <p:nvPr/>
        </p:nvSpPr>
        <p:spPr>
          <a:xfrm>
            <a:off x="6684264" y="3264408"/>
            <a:ext cx="2103120" cy="438912"/>
          </a:xfrm>
          <a:prstGeom prst="rect">
            <a:avLst/>
          </a:prstGeom>
          <a:noFill/>
          <a:ln/>
        </p:spPr>
        <p:txBody>
          <a:bodyPr wrap="square" rtlCol="0" anchor="ctr"/>
          <a:lstStyle/>
          <a:p>
            <a:pPr algn="l" indent="0" marL="0">
              <a:lnSpc>
                <a:spcPct val="110000"/>
              </a:lnSpc>
              <a:buNone/>
            </a:pPr>
            <a:r>
              <a:rPr lang="en-US" sz="1100" dirty="0">
                <a:solidFill>
                  <a:srgbClr val="8891B4"/>
                </a:solidFill>
                <a:latin typeface="Calibri" pitchFamily="34" charset="0"/>
                <a:ea typeface="Calibri" pitchFamily="34" charset="-122"/>
                <a:cs typeface="Calibri" pitchFamily="34" charset="-120"/>
              </a:rPr>
              <a:t>Specialist category per cluster kota</a:t>
            </a:r>
            <a:endParaRPr lang="en-US" sz="1100" dirty="0"/>
          </a:p>
        </p:txBody>
      </p:sp>
      <p:sp>
        <p:nvSpPr>
          <p:cNvPr id="40" name="Shape 38"/>
          <p:cNvSpPr/>
          <p:nvPr/>
        </p:nvSpPr>
        <p:spPr>
          <a:xfrm>
            <a:off x="6556248" y="3895344"/>
            <a:ext cx="82296" cy="82296"/>
          </a:xfrm>
          <a:prstGeom prst="ellipse">
            <a:avLst/>
          </a:prstGeom>
          <a:solidFill>
            <a:srgbClr val="2E7D32"/>
          </a:solidFill>
          <a:ln/>
        </p:spPr>
      </p:sp>
      <p:sp>
        <p:nvSpPr>
          <p:cNvPr id="41" name="Text 39"/>
          <p:cNvSpPr/>
          <p:nvPr/>
        </p:nvSpPr>
        <p:spPr>
          <a:xfrm>
            <a:off x="6684264" y="3767328"/>
            <a:ext cx="2103120" cy="438912"/>
          </a:xfrm>
          <a:prstGeom prst="rect">
            <a:avLst/>
          </a:prstGeom>
          <a:noFill/>
          <a:ln/>
        </p:spPr>
        <p:txBody>
          <a:bodyPr wrap="square" rtlCol="0" anchor="ctr"/>
          <a:lstStyle/>
          <a:p>
            <a:pPr algn="l" indent="0" marL="0">
              <a:lnSpc>
                <a:spcPct val="110000"/>
              </a:lnSpc>
              <a:buNone/>
            </a:pPr>
            <a:r>
              <a:rPr lang="en-US" sz="1100" dirty="0">
                <a:solidFill>
                  <a:srgbClr val="8891B4"/>
                </a:solidFill>
                <a:latin typeface="Calibri" pitchFamily="34" charset="0"/>
                <a:ea typeface="Calibri" pitchFamily="34" charset="-122"/>
                <a:cs typeface="Calibri" pitchFamily="34" charset="-120"/>
              </a:rPr>
              <a:t>Formal Store Concept P&amp;L — jadi Value Creator unit</a:t>
            </a:r>
            <a:endParaRPr lang="en-US" sz="1100" dirty="0"/>
          </a:p>
        </p:txBody>
      </p:sp>
      <p:sp>
        <p:nvSpPr>
          <p:cNvPr id="42" name="Shape 40"/>
          <p:cNvSpPr/>
          <p:nvPr/>
        </p:nvSpPr>
        <p:spPr>
          <a:xfrm>
            <a:off x="6556248" y="4398264"/>
            <a:ext cx="82296" cy="82296"/>
          </a:xfrm>
          <a:prstGeom prst="ellipse">
            <a:avLst/>
          </a:prstGeom>
          <a:solidFill>
            <a:srgbClr val="2E7D32"/>
          </a:solidFill>
          <a:ln/>
        </p:spPr>
      </p:sp>
      <p:sp>
        <p:nvSpPr>
          <p:cNvPr id="43" name="Text 41"/>
          <p:cNvSpPr/>
          <p:nvPr/>
        </p:nvSpPr>
        <p:spPr>
          <a:xfrm>
            <a:off x="6684264" y="4270248"/>
            <a:ext cx="2103120" cy="438912"/>
          </a:xfrm>
          <a:prstGeom prst="rect">
            <a:avLst/>
          </a:prstGeom>
          <a:noFill/>
          <a:ln/>
        </p:spPr>
        <p:txBody>
          <a:bodyPr wrap="square" rtlCol="0" anchor="ctr"/>
          <a:lstStyle/>
          <a:p>
            <a:pPr algn="l" indent="0" marL="0">
              <a:lnSpc>
                <a:spcPct val="110000"/>
              </a:lnSpc>
              <a:buNone/>
            </a:pPr>
            <a:r>
              <a:rPr lang="en-US" sz="1100" dirty="0">
                <a:solidFill>
                  <a:srgbClr val="8891B4"/>
                </a:solidFill>
                <a:latin typeface="Calibri" pitchFamily="34" charset="0"/>
                <a:ea typeface="Calibri" pitchFamily="34" charset="-122"/>
                <a:cs typeface="Calibri" pitchFamily="34" charset="-120"/>
              </a:rPr>
              <a:t>Team certification &amp; capability standard nasional</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E52"/>
        </a:solidFill>
      </p:bgPr>
    </p:bg>
    <p:spTree>
      <p:nvGrpSpPr>
        <p:cNvPr id="1" name=""/>
        <p:cNvGrpSpPr/>
        <p:nvPr/>
      </p:nvGrpSpPr>
      <p:grpSpPr>
        <a:xfrm>
          <a:off x="0" y="0"/>
          <a:ext cx="0" cy="0"/>
          <a:chOff x="0" y="0"/>
          <a:chExt cx="0" cy="0"/>
        </a:xfrm>
      </p:grpSpPr>
      <p:sp>
        <p:nvSpPr>
          <p:cNvPr id="2" name="Shape 0"/>
          <p:cNvSpPr/>
          <p:nvPr/>
        </p:nvSpPr>
        <p:spPr>
          <a:xfrm>
            <a:off x="5943600" y="-2194560"/>
            <a:ext cx="6400800" cy="6400800"/>
          </a:xfrm>
          <a:prstGeom prst="ellipse">
            <a:avLst/>
          </a:prstGeom>
          <a:solidFill>
            <a:srgbClr val="2A3580">
              <a:alpha val="45000"/>
            </a:srgbClr>
          </a:solidFill>
          <a:ln/>
        </p:spPr>
      </p:sp>
      <p:sp>
        <p:nvSpPr>
          <p:cNvPr id="3" name="Shape 1"/>
          <p:cNvSpPr/>
          <p:nvPr/>
        </p:nvSpPr>
        <p:spPr>
          <a:xfrm>
            <a:off x="7772400" y="2560320"/>
            <a:ext cx="2011680" cy="2011680"/>
          </a:xfrm>
          <a:prstGeom prst="ellipse">
            <a:avLst/>
          </a:prstGeom>
          <a:solidFill>
            <a:srgbClr val="E8A020">
              <a:alpha val="25000"/>
            </a:srgbClr>
          </a:solidFill>
          <a:ln/>
        </p:spPr>
      </p:sp>
      <p:sp>
        <p:nvSpPr>
          <p:cNvPr id="4" name="Text 2"/>
          <p:cNvSpPr/>
          <p:nvPr/>
        </p:nvSpPr>
        <p:spPr>
          <a:xfrm>
            <a:off x="594360" y="384048"/>
            <a:ext cx="6858000" cy="292608"/>
          </a:xfrm>
          <a:prstGeom prst="rect">
            <a:avLst/>
          </a:prstGeom>
          <a:noFill/>
          <a:ln/>
        </p:spPr>
        <p:txBody>
          <a:bodyPr wrap="square" rtlCol="0" anchor="ctr"/>
          <a:lstStyle/>
          <a:p>
            <a:pPr algn="l" indent="0" marL="0">
              <a:buNone/>
            </a:pPr>
            <a:r>
              <a:rPr lang="en-US" sz="1100" dirty="0">
                <a:solidFill>
                  <a:srgbClr val="E8A020"/>
                </a:solidFill>
                <a:latin typeface="Calibri" pitchFamily="34" charset="0"/>
                <a:ea typeface="Calibri" pitchFamily="34" charset="-122"/>
                <a:cs typeface="Calibri" pitchFamily="34" charset="-120"/>
              </a:rPr>
              <a:t>KEY TAKEAWAYS  &amp;  NEXT STEPS</a:t>
            </a:r>
            <a:endParaRPr lang="en-US" sz="1100" dirty="0"/>
          </a:p>
        </p:txBody>
      </p:sp>
      <p:sp>
        <p:nvSpPr>
          <p:cNvPr id="5" name="Text 3"/>
          <p:cNvSpPr/>
          <p:nvPr/>
        </p:nvSpPr>
        <p:spPr>
          <a:xfrm>
            <a:off x="594360" y="731520"/>
            <a:ext cx="8046720" cy="1280160"/>
          </a:xfrm>
          <a:prstGeom prst="rect">
            <a:avLst/>
          </a:prstGeom>
          <a:noFill/>
          <a:ln/>
        </p:spPr>
        <p:txBody>
          <a:bodyPr wrap="square" rtlCol="0" anchor="ctr"/>
          <a:lstStyle/>
          <a:p>
            <a:pPr algn="l" indent="0" marL="0">
              <a:lnSpc>
                <a:spcPct val="112000"/>
              </a:lnSpc>
              <a:buNone/>
            </a:pPr>
            <a:r>
              <a:rPr lang="en-US" sz="3000" b="1" dirty="0">
                <a:solidFill>
                  <a:srgbClr val="FFFFFF"/>
                </a:solidFill>
                <a:latin typeface="Calibri" pitchFamily="34" charset="0"/>
                <a:ea typeface="Calibri" pitchFamily="34" charset="-122"/>
                <a:cs typeface="Calibri" pitchFamily="34" charset="-120"/>
              </a:rPr>
              <a:t>Store Concept yang Berani Berubah</a:t>
            </a:r>
            <a:endParaRPr lang="en-US" sz="3000" dirty="0"/>
          </a:p>
          <a:p>
            <a:pPr algn="l" indent="0" marL="0">
              <a:lnSpc>
                <a:spcPct val="112000"/>
              </a:lnSpc>
              <a:buNone/>
            </a:pPr>
            <a:r>
              <a:rPr lang="en-US" sz="3000" b="1" dirty="0">
                <a:solidFill>
                  <a:srgbClr val="FFFFFF"/>
                </a:solidFill>
                <a:latin typeface="Calibri" pitchFamily="34" charset="0"/>
                <a:ea typeface="Calibri" pitchFamily="34" charset="-122"/>
                <a:cs typeface="Calibri" pitchFamily="34" charset="-120"/>
              </a:rPr>
              <a:t>adalah Pemenang Retail Berikutnya</a:t>
            </a:r>
            <a:endParaRPr lang="en-US" sz="3000" dirty="0"/>
          </a:p>
        </p:txBody>
      </p:sp>
      <p:sp>
        <p:nvSpPr>
          <p:cNvPr id="6" name="Shape 4"/>
          <p:cNvSpPr/>
          <p:nvPr/>
        </p:nvSpPr>
        <p:spPr>
          <a:xfrm>
            <a:off x="594360" y="2176272"/>
            <a:ext cx="2542032" cy="2560320"/>
          </a:xfrm>
          <a:prstGeom prst="roundRect">
            <a:avLst>
              <a:gd name="adj" fmla="val 4317"/>
            </a:avLst>
          </a:prstGeom>
          <a:solidFill>
            <a:srgbClr val="2A3580"/>
          </a:solidFill>
          <a:ln w="12700">
            <a:solidFill>
              <a:srgbClr val="1F7A8C"/>
            </a:solidFill>
            <a:prstDash val="solid"/>
          </a:ln>
        </p:spPr>
      </p:sp>
      <p:sp>
        <p:nvSpPr>
          <p:cNvPr id="7" name="Shape 5"/>
          <p:cNvSpPr/>
          <p:nvPr/>
        </p:nvSpPr>
        <p:spPr>
          <a:xfrm>
            <a:off x="1545336" y="2304288"/>
            <a:ext cx="640080" cy="640080"/>
          </a:xfrm>
          <a:prstGeom prst="ellipse">
            <a:avLst/>
          </a:prstGeom>
          <a:solidFill>
            <a:srgbClr val="1F7A8C">
              <a:alpha val="80000"/>
            </a:srgbClr>
          </a:solidFill>
          <a:ln/>
        </p:spPr>
      </p:sp>
      <p:sp>
        <p:nvSpPr>
          <p:cNvPr id="8" name="Text 6"/>
          <p:cNvSpPr/>
          <p:nvPr/>
        </p:nvSpPr>
        <p:spPr>
          <a:xfrm>
            <a:off x="1545336" y="2304288"/>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9" name="Text 7"/>
          <p:cNvSpPr/>
          <p:nvPr/>
        </p:nvSpPr>
        <p:spPr>
          <a:xfrm>
            <a:off x="731520" y="3017520"/>
            <a:ext cx="2267712" cy="384048"/>
          </a:xfrm>
          <a:prstGeom prst="rect">
            <a:avLst/>
          </a:prstGeom>
          <a:noFill/>
          <a:ln/>
        </p:spPr>
        <p:txBody>
          <a:bodyPr wrap="square" rtlCol="0" anchor="ctr"/>
          <a:lstStyle/>
          <a:p>
            <a:pPr algn="ctr" indent="0" marL="0">
              <a:buNone/>
            </a:pPr>
            <a:r>
              <a:rPr lang="en-US" sz="1400" b="1" dirty="0">
                <a:solidFill>
                  <a:srgbClr val="1F7A8C"/>
                </a:solidFill>
                <a:latin typeface="Calibri" pitchFamily="34" charset="0"/>
                <a:ea typeface="Calibri" pitchFamily="34" charset="-122"/>
                <a:cs typeface="Calibri" pitchFamily="34" charset="-120"/>
              </a:rPr>
              <a:t>Kenali Segmen Baru</a:t>
            </a:r>
            <a:endParaRPr lang="en-US" sz="1400" dirty="0"/>
          </a:p>
        </p:txBody>
      </p:sp>
      <p:sp>
        <p:nvSpPr>
          <p:cNvPr id="10" name="Text 8"/>
          <p:cNvSpPr/>
          <p:nvPr/>
        </p:nvSpPr>
        <p:spPr>
          <a:xfrm>
            <a:off x="758952" y="3438144"/>
            <a:ext cx="2212848" cy="1207008"/>
          </a:xfrm>
          <a:prstGeom prst="rect">
            <a:avLst/>
          </a:prstGeom>
          <a:noFill/>
          <a:ln/>
        </p:spPr>
        <p:txBody>
          <a:bodyPr wrap="square" rtlCol="0" anchor="ctr"/>
          <a:lstStyle/>
          <a:p>
            <a:pPr algn="ctr" indent="0" marL="0">
              <a:lnSpc>
                <a:spcPct val="120000"/>
              </a:lnSpc>
              <a:buNone/>
            </a:pPr>
            <a:r>
              <a:rPr lang="en-US" sz="1100" dirty="0">
                <a:solidFill>
                  <a:srgbClr val="8891B4"/>
                </a:solidFill>
                <a:latin typeface="Calibri" pitchFamily="34" charset="0"/>
                <a:ea typeface="Calibri" pitchFamily="34" charset="-122"/>
                <a:cs typeface="Calibri" pitchFamily="34" charset="-120"/>
              </a:rPr>
              <a:t>Aspirant class (142 juta) + conscious consumer adalah opportunity terbesar yang belum fully tapped. Downtrading bukan ancaman — ini peluang bagi yang siap.</a:t>
            </a:r>
            <a:endParaRPr lang="en-US" sz="1100" dirty="0"/>
          </a:p>
        </p:txBody>
      </p:sp>
      <p:sp>
        <p:nvSpPr>
          <p:cNvPr id="11" name="Shape 9"/>
          <p:cNvSpPr/>
          <p:nvPr/>
        </p:nvSpPr>
        <p:spPr>
          <a:xfrm>
            <a:off x="3300984" y="2176272"/>
            <a:ext cx="2542032" cy="2560320"/>
          </a:xfrm>
          <a:prstGeom prst="roundRect">
            <a:avLst>
              <a:gd name="adj" fmla="val 4317"/>
            </a:avLst>
          </a:prstGeom>
          <a:solidFill>
            <a:srgbClr val="2A3580"/>
          </a:solidFill>
          <a:ln w="12700">
            <a:solidFill>
              <a:srgbClr val="E8A020"/>
            </a:solidFill>
            <a:prstDash val="solid"/>
          </a:ln>
        </p:spPr>
      </p:sp>
      <p:sp>
        <p:nvSpPr>
          <p:cNvPr id="12" name="Shape 10"/>
          <p:cNvSpPr/>
          <p:nvPr/>
        </p:nvSpPr>
        <p:spPr>
          <a:xfrm>
            <a:off x="4251960" y="2304288"/>
            <a:ext cx="640080" cy="640080"/>
          </a:xfrm>
          <a:prstGeom prst="ellipse">
            <a:avLst/>
          </a:prstGeom>
          <a:solidFill>
            <a:srgbClr val="E8A020">
              <a:alpha val="80000"/>
            </a:srgbClr>
          </a:solidFill>
          <a:ln/>
        </p:spPr>
      </p:sp>
      <p:sp>
        <p:nvSpPr>
          <p:cNvPr id="13" name="Text 11"/>
          <p:cNvSpPr/>
          <p:nvPr/>
        </p:nvSpPr>
        <p:spPr>
          <a:xfrm>
            <a:off x="4251960" y="2304288"/>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4" name="Text 12"/>
          <p:cNvSpPr/>
          <p:nvPr/>
        </p:nvSpPr>
        <p:spPr>
          <a:xfrm>
            <a:off x="3438144" y="3017520"/>
            <a:ext cx="2267712" cy="384048"/>
          </a:xfrm>
          <a:prstGeom prst="rect">
            <a:avLst/>
          </a:prstGeom>
          <a:noFill/>
          <a:ln/>
        </p:spPr>
        <p:txBody>
          <a:bodyPr wrap="square" rtlCol="0" anchor="ctr"/>
          <a:lstStyle/>
          <a:p>
            <a:pPr algn="ctr" indent="0" marL="0">
              <a:buNone/>
            </a:pPr>
            <a:r>
              <a:rPr lang="en-US" sz="1400" b="1" dirty="0">
                <a:solidFill>
                  <a:srgbClr val="E8A020"/>
                </a:solidFill>
                <a:latin typeface="Calibri" pitchFamily="34" charset="0"/>
                <a:ea typeface="Calibri" pitchFamily="34" charset="-122"/>
                <a:cs typeface="Calibri" pitchFamily="34" charset="-120"/>
              </a:rPr>
              <a:t>Specialist + Experience</a:t>
            </a:r>
            <a:endParaRPr lang="en-US" sz="1400" dirty="0"/>
          </a:p>
        </p:txBody>
      </p:sp>
      <p:sp>
        <p:nvSpPr>
          <p:cNvPr id="15" name="Text 13"/>
          <p:cNvSpPr/>
          <p:nvPr/>
        </p:nvSpPr>
        <p:spPr>
          <a:xfrm>
            <a:off x="3465576" y="3438144"/>
            <a:ext cx="2212848" cy="1207008"/>
          </a:xfrm>
          <a:prstGeom prst="rect">
            <a:avLst/>
          </a:prstGeom>
          <a:noFill/>
          <a:ln/>
        </p:spPr>
        <p:txBody>
          <a:bodyPr wrap="square" rtlCol="0" anchor="ctr"/>
          <a:lstStyle/>
          <a:p>
            <a:pPr algn="ctr" indent="0" marL="0">
              <a:lnSpc>
                <a:spcPct val="120000"/>
              </a:lnSpc>
              <a:buNone/>
            </a:pPr>
            <a:r>
              <a:rPr lang="en-US" sz="1100" dirty="0">
                <a:solidFill>
                  <a:srgbClr val="8891B4"/>
                </a:solidFill>
                <a:latin typeface="Calibri" pitchFamily="34" charset="0"/>
                <a:ea typeface="Calibri" pitchFamily="34" charset="-122"/>
                <a:cs typeface="Calibri" pitchFamily="34" charset="-120"/>
              </a:rPr>
              <a:t>Dari AZKO sampai Freshippo, semua pemimpin retail jual pengalaman + keahlian. Deep expertise + inspirational space = moat yang tidak bisa ditiru online.</a:t>
            </a:r>
            <a:endParaRPr lang="en-US" sz="1100" dirty="0"/>
          </a:p>
        </p:txBody>
      </p:sp>
      <p:sp>
        <p:nvSpPr>
          <p:cNvPr id="16" name="Shape 14"/>
          <p:cNvSpPr/>
          <p:nvPr/>
        </p:nvSpPr>
        <p:spPr>
          <a:xfrm>
            <a:off x="6007608" y="2176272"/>
            <a:ext cx="2542032" cy="2560320"/>
          </a:xfrm>
          <a:prstGeom prst="roundRect">
            <a:avLst>
              <a:gd name="adj" fmla="val 4317"/>
            </a:avLst>
          </a:prstGeom>
          <a:solidFill>
            <a:srgbClr val="2A3580"/>
          </a:solidFill>
          <a:ln w="12700">
            <a:solidFill>
              <a:srgbClr val="2E7D32"/>
            </a:solidFill>
            <a:prstDash val="solid"/>
          </a:ln>
        </p:spPr>
      </p:sp>
      <p:sp>
        <p:nvSpPr>
          <p:cNvPr id="17" name="Shape 15"/>
          <p:cNvSpPr/>
          <p:nvPr/>
        </p:nvSpPr>
        <p:spPr>
          <a:xfrm>
            <a:off x="6958584" y="2304288"/>
            <a:ext cx="640080" cy="640080"/>
          </a:xfrm>
          <a:prstGeom prst="ellipse">
            <a:avLst/>
          </a:prstGeom>
          <a:solidFill>
            <a:srgbClr val="2E7D32">
              <a:alpha val="80000"/>
            </a:srgbClr>
          </a:solidFill>
          <a:ln/>
        </p:spPr>
      </p:sp>
      <p:sp>
        <p:nvSpPr>
          <p:cNvPr id="18" name="Text 16"/>
          <p:cNvSpPr/>
          <p:nvPr/>
        </p:nvSpPr>
        <p:spPr>
          <a:xfrm>
            <a:off x="6958584" y="2304288"/>
            <a:ext cx="64008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6144768" y="3017520"/>
            <a:ext cx="2267712" cy="384048"/>
          </a:xfrm>
          <a:prstGeom prst="rect">
            <a:avLst/>
          </a:prstGeom>
          <a:noFill/>
          <a:ln/>
        </p:spPr>
        <p:txBody>
          <a:bodyPr wrap="square" rtlCol="0" anchor="ctr"/>
          <a:lstStyle/>
          <a:p>
            <a:pPr algn="ctr" indent="0" marL="0">
              <a:buNone/>
            </a:pPr>
            <a:r>
              <a:rPr lang="en-US" sz="1400" b="1" dirty="0">
                <a:solidFill>
                  <a:srgbClr val="2E7D32"/>
                </a:solidFill>
                <a:latin typeface="Calibri" pitchFamily="34" charset="0"/>
                <a:ea typeface="Calibri" pitchFamily="34" charset="-122"/>
                <a:cs typeface="Calibri" pitchFamily="34" charset="-120"/>
              </a:rPr>
              <a:t>Bergerak Sekarang</a:t>
            </a:r>
            <a:endParaRPr lang="en-US" sz="1400" dirty="0"/>
          </a:p>
        </p:txBody>
      </p:sp>
      <p:sp>
        <p:nvSpPr>
          <p:cNvPr id="20" name="Text 18"/>
          <p:cNvSpPr/>
          <p:nvPr/>
        </p:nvSpPr>
        <p:spPr>
          <a:xfrm>
            <a:off x="6172200" y="3438144"/>
            <a:ext cx="2212848" cy="1207008"/>
          </a:xfrm>
          <a:prstGeom prst="rect">
            <a:avLst/>
          </a:prstGeom>
          <a:noFill/>
          <a:ln/>
        </p:spPr>
        <p:txBody>
          <a:bodyPr wrap="square" rtlCol="0" anchor="ctr"/>
          <a:lstStyle/>
          <a:p>
            <a:pPr algn="ctr" indent="0" marL="0">
              <a:lnSpc>
                <a:spcPct val="120000"/>
              </a:lnSpc>
              <a:buNone/>
            </a:pPr>
            <a:r>
              <a:rPr lang="en-US" sz="1100" dirty="0">
                <a:solidFill>
                  <a:srgbClr val="8891B4"/>
                </a:solidFill>
                <a:latin typeface="Calibri" pitchFamily="34" charset="0"/>
                <a:ea typeface="Calibri" pitchFamily="34" charset="-122"/>
                <a:cs typeface="Calibri" pitchFamily="34" charset="-120"/>
              </a:rPr>
              <a:t>AZKO sudah rebrand Januari 2025. 3 kekuatan makro sudah bergerak cepat. First-mover advantage masih ada — tapi tidak selamanya. Waktu untuk bertindak adalah sekarang.</a:t>
            </a:r>
            <a:endParaRPr lang="en-US" sz="1100" dirty="0"/>
          </a:p>
        </p:txBody>
      </p:sp>
      <p:sp>
        <p:nvSpPr>
          <p:cNvPr id="21" name="Text 19"/>
          <p:cNvSpPr/>
          <p:nvPr/>
        </p:nvSpPr>
        <p:spPr>
          <a:xfrm>
            <a:off x="594360" y="4828032"/>
            <a:ext cx="7955280" cy="228600"/>
          </a:xfrm>
          <a:prstGeom prst="rect">
            <a:avLst/>
          </a:prstGeom>
          <a:noFill/>
          <a:ln/>
        </p:spPr>
        <p:txBody>
          <a:bodyPr wrap="square" rtlCol="0" anchor="ctr"/>
          <a:lstStyle/>
          <a:p>
            <a:pPr algn="ctr" indent="0" marL="0">
              <a:buNone/>
            </a:pPr>
            <a:r>
              <a:rPr lang="en-US" sz="900" dirty="0">
                <a:solidFill>
                  <a:srgbClr val="4A5180"/>
                </a:solidFill>
                <a:latin typeface="Calibri" pitchFamily="34" charset="0"/>
                <a:ea typeface="Calibri" pitchFamily="34" charset="-122"/>
                <a:cs typeface="Calibri" pitchFamily="34" charset="-120"/>
              </a:rPr>
              <a:t>Store Concept Team  ·  Strategic Recommendations  ·  2025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2026-08-07T09:16:16Z</dcterms:created>
  <dcterms:modified xsi:type="dcterms:W3CDTF">2026-08-07T09:16:16Z</dcterms:modified>
</cp:coreProperties>
</file>